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8892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25880"/>
            <a:ext cx="10698480" cy="365760"/>
          </a:xfrm>
          <a:prstGeom prst="rect">
            <a:avLst/>
          </a:prstGeom>
          <a:noFill/>
        </p:spPr>
        <p:txBody>
          <a:bodyPr wrap="square" anchor="t">
            <a:spAutoFit/>
          </a:bodyPr>
          <a:lstStyle/>
          <a:p>
            <a:pPr algn="l">
              <a:spcAft>
                <a:spcPts val="400"/>
              </a:spcAft>
            </a:pPr>
            <a:r>
              <a:rPr sz="1300" b="1">
                <a:solidFill>
                  <a:srgbClr val="FFB300"/>
                </a:solidFill>
                <a:latin typeface="Calibri"/>
              </a:rPr>
              <a:t>ARCHITECTURE BRIEF · ETAB / ATG / ISRA SUBMISSION</a:t>
            </a:r>
          </a:p>
        </p:txBody>
      </p:sp>
      <p:sp>
        <p:nvSpPr>
          <p:cNvPr id="5" name="TextBox 4"/>
          <p:cNvSpPr txBox="1"/>
          <p:nvPr/>
        </p:nvSpPr>
        <p:spPr>
          <a:xfrm>
            <a:off x="731520" y="1783080"/>
            <a:ext cx="10698480" cy="1005840"/>
          </a:xfrm>
          <a:prstGeom prst="rect">
            <a:avLst/>
          </a:prstGeom>
          <a:noFill/>
        </p:spPr>
        <p:txBody>
          <a:bodyPr wrap="square" anchor="t">
            <a:spAutoFit/>
          </a:bodyPr>
          <a:lstStyle/>
          <a:p>
            <a:pPr algn="l">
              <a:spcAft>
                <a:spcPts val="400"/>
              </a:spcAft>
            </a:pPr>
            <a:r>
              <a:rPr sz="3200" b="1">
                <a:solidFill>
                  <a:srgbClr val="FFFFFF"/>
                </a:solidFill>
                <a:latin typeface="Calibri"/>
              </a:rPr>
              <a:t>MCP Server Patterns</a:t>
            </a:r>
          </a:p>
        </p:txBody>
      </p:sp>
      <p:sp>
        <p:nvSpPr>
          <p:cNvPr id="6" name="TextBox 5"/>
          <p:cNvSpPr txBox="1"/>
          <p:nvPr/>
        </p:nvSpPr>
        <p:spPr>
          <a:xfrm>
            <a:off x="731520" y="2926080"/>
            <a:ext cx="10698480" cy="548640"/>
          </a:xfrm>
          <a:prstGeom prst="rect">
            <a:avLst/>
          </a:prstGeom>
          <a:noFill/>
        </p:spPr>
        <p:txBody>
          <a:bodyPr wrap="square" anchor="t">
            <a:spAutoFit/>
          </a:bodyPr>
          <a:lstStyle/>
          <a:p>
            <a:pPr algn="l">
              <a:spcAft>
                <a:spcPts val="400"/>
              </a:spcAft>
            </a:pPr>
            <a:r>
              <a:rPr sz="1700" b="0">
                <a:solidFill>
                  <a:srgbClr val="C9D3E0"/>
                </a:solidFill>
                <a:latin typeface="Calibri"/>
              </a:rPr>
              <a:t>How a tool server is built, deployed, registered and consumed on the Agentic Control Plane</a:t>
            </a:r>
          </a:p>
        </p:txBody>
      </p:sp>
      <p:sp>
        <p:nvSpPr>
          <p:cNvPr id="7" name="TextBox 6"/>
          <p:cNvSpPr txBox="1"/>
          <p:nvPr/>
        </p:nvSpPr>
        <p:spPr>
          <a:xfrm>
            <a:off x="731520" y="3794760"/>
            <a:ext cx="10698480" cy="1920240"/>
          </a:xfrm>
          <a:prstGeom prst="rect">
            <a:avLst/>
          </a:prstGeom>
          <a:noFill/>
        </p:spPr>
        <p:txBody>
          <a:bodyPr wrap="square" anchor="t">
            <a:spAutoFit/>
          </a:bodyPr>
          <a:lstStyle/>
          <a:p>
            <a:pPr algn="l">
              <a:spcAft>
                <a:spcPts val="400"/>
              </a:spcAft>
            </a:pPr>
            <a:r>
              <a:rPr sz="1450" b="1">
                <a:solidFill>
                  <a:srgbClr val="FFFFFF"/>
                </a:solidFill>
                <a:latin typeface="Calibri"/>
              </a:rPr>
              <a:t>Approve one pattern, one conformance profile and one control set — assessed once per server, not once per integration</a:t>
            </a:r>
          </a:p>
          <a:p>
            <a:pPr algn="l">
              <a:spcAft>
                <a:spcPts val="400"/>
              </a:spcAft>
            </a:pPr>
            <a:r>
              <a:rPr sz="1250" b="0">
                <a:solidFill>
                  <a:srgbClr val="C9D3E0"/>
                </a:solidFill>
                <a:latin typeface="Calibri"/>
              </a:rPr>
              <a:t>No new product, licence or platform component · built on Luminate, Keycloak, OpenShift / EKS and the approved Jenkins JTE pipeline</a:t>
            </a:r>
          </a:p>
          <a:p>
            <a:pPr algn="l">
              <a:spcAft>
                <a:spcPts val="400"/>
              </a:spcAft>
            </a:pPr>
            <a:r>
              <a:rPr sz="1250" b="0">
                <a:solidFill>
                  <a:srgbClr val="C9D3E0"/>
                </a:solidFill>
                <a:latin typeface="Calibri"/>
              </a:rPr>
              <a:t>Conformance profile MSR-1 to MSR-30 · 10 design decisions · 12-item threat model · 25 ISRA controls · 8 residual risks</a:t>
            </a:r>
          </a:p>
          <a:p>
            <a:pPr algn="l">
              <a:spcAft>
                <a:spcPts val="400"/>
              </a:spcAft>
            </a:pPr>
            <a:r>
              <a:rPr sz="1150" b="0">
                <a:solidFill>
                  <a:srgbClr val="FFB300"/>
                </a:solidFill>
                <a:latin typeface="Calibri"/>
              </a:rPr>
              <a:t>Verified 1 Sept 2026 against Luminate origin/main 10d6ee89, the live ACP dev estate and CSDP/pipeline-libraries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The Ask</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2</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500" b="1">
                <a:solidFill>
                  <a:srgbClr val="2B2B3C"/>
                </a:solidFill>
                <a:latin typeface="Calibri"/>
              </a:rPr>
              <a:t>Approve the pattern by which MCP tool servers are onboarded to the Agentic Control Plane, and the control set they are assessed against.</a:t>
            </a:r>
          </a:p>
        </p:txBody>
      </p:sp>
      <p:sp>
        <p:nvSpPr>
          <p:cNvPr id="10" name="Rectangle 9"/>
          <p:cNvSpPr/>
          <p:nvPr/>
        </p:nvSpPr>
        <p:spPr>
          <a:xfrm>
            <a:off x="502920" y="1965960"/>
            <a:ext cx="3566160" cy="3611880"/>
          </a:xfrm>
          <a:prstGeom prst="rect">
            <a:avLst/>
          </a:prstGeom>
          <a:solidFill>
            <a:srgbClr val="D5E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965960"/>
            <a:ext cx="3566160" cy="76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75688"/>
            <a:ext cx="3291840" cy="365760"/>
          </a:xfrm>
          <a:prstGeom prst="rect">
            <a:avLst/>
          </a:prstGeom>
          <a:noFill/>
        </p:spPr>
        <p:txBody>
          <a:bodyPr wrap="square" anchor="t">
            <a:spAutoFit/>
          </a:bodyPr>
          <a:lstStyle/>
          <a:p>
            <a:pPr algn="l">
              <a:spcAft>
                <a:spcPts val="400"/>
              </a:spcAft>
            </a:pPr>
            <a:r>
              <a:rPr sz="1250" b="1">
                <a:solidFill>
                  <a:srgbClr val="2B2B3C"/>
                </a:solidFill>
                <a:latin typeface="Calibri"/>
              </a:rPr>
              <a:t>What we ARE asking</a:t>
            </a:r>
          </a:p>
        </p:txBody>
      </p:sp>
      <p:sp>
        <p:nvSpPr>
          <p:cNvPr id="13" name="TextBox 12"/>
          <p:cNvSpPr txBox="1"/>
          <p:nvPr/>
        </p:nvSpPr>
        <p:spPr>
          <a:xfrm>
            <a:off x="640080" y="2496312"/>
            <a:ext cx="3291840" cy="2990088"/>
          </a:xfrm>
          <a:prstGeom prst="rect">
            <a:avLst/>
          </a:prstGeom>
          <a:noFill/>
        </p:spPr>
        <p:txBody>
          <a:bodyPr wrap="square">
            <a:spAutoFit/>
          </a:bodyPr>
          <a:lstStyle/>
          <a:p>
            <a:pPr>
              <a:spcAft>
                <a:spcPts val="300"/>
              </a:spcAft>
            </a:pPr>
            <a:r>
              <a:rPr sz="1050">
                <a:solidFill>
                  <a:srgbClr val="2B2B3C"/>
                </a:solidFill>
                <a:latin typeface="Calibri"/>
              </a:rPr>
              <a:t>• Approve the pattern: an MCP server is reached only through a Luminate gateway</a:t>
            </a:r>
          </a:p>
          <a:p>
            <a:pPr>
              <a:spcAft>
                <a:spcPts val="300"/>
              </a:spcAft>
            </a:pPr>
            <a:r>
              <a:rPr sz="1050">
                <a:solidFill>
                  <a:srgbClr val="2B2B3C"/>
                </a:solidFill>
                <a:latin typeface="Calibri"/>
              </a:rPr>
              <a:t>• Approve MSR-1 to MSR-30 as the bar any served MCP server must meet</a:t>
            </a:r>
          </a:p>
          <a:p>
            <a:pPr>
              <a:spcAft>
                <a:spcPts val="300"/>
              </a:spcAft>
            </a:pPr>
            <a:r>
              <a:rPr sz="1050">
                <a:solidFill>
                  <a:srgbClr val="2B2B3C"/>
                </a:solidFill>
                <a:latin typeface="Calibri"/>
              </a:rPr>
              <a:t>• Accept DD-2 / DD-3 — authorization is per server, and the endpoint boundary is the compensating architecture</a:t>
            </a:r>
          </a:p>
          <a:p>
            <a:pPr>
              <a:spcAft>
                <a:spcPts val="300"/>
              </a:spcAft>
            </a:pPr>
            <a:r>
              <a:rPr sz="1050">
                <a:solidFill>
                  <a:srgbClr val="2B2B3C"/>
                </a:solidFill>
                <a:latin typeface="Calibri"/>
              </a:rPr>
              <a:t>• Accept the 8 residual risks, notably R-1 and R-3</a:t>
            </a:r>
          </a:p>
          <a:p>
            <a:pPr>
              <a:spcAft>
                <a:spcPts val="300"/>
              </a:spcAft>
            </a:pPr>
            <a:r>
              <a:rPr sz="1050">
                <a:solidFill>
                  <a:srgbClr val="2B2B3C"/>
                </a:solidFill>
                <a:latin typeface="Calibri"/>
              </a:rPr>
              <a:t>• Endorse enabling the Snyk / Checkmarx / SonarQube gates on MCP server repositories</a:t>
            </a:r>
          </a:p>
        </p:txBody>
      </p:sp>
      <p:sp>
        <p:nvSpPr>
          <p:cNvPr id="14" name="Rectangle 13"/>
          <p:cNvSpPr/>
          <p:nvPr/>
        </p:nvSpPr>
        <p:spPr>
          <a:xfrm>
            <a:off x="4251960" y="1965960"/>
            <a:ext cx="3566160" cy="3611880"/>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51960" y="1965960"/>
            <a:ext cx="3566160" cy="76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2075688"/>
            <a:ext cx="3291840" cy="365760"/>
          </a:xfrm>
          <a:prstGeom prst="rect">
            <a:avLst/>
          </a:prstGeom>
          <a:noFill/>
        </p:spPr>
        <p:txBody>
          <a:bodyPr wrap="square" anchor="t">
            <a:spAutoFit/>
          </a:bodyPr>
          <a:lstStyle/>
          <a:p>
            <a:pPr algn="l">
              <a:spcAft>
                <a:spcPts val="400"/>
              </a:spcAft>
            </a:pPr>
            <a:r>
              <a:rPr sz="1250" b="1">
                <a:solidFill>
                  <a:srgbClr val="2B2B3C"/>
                </a:solidFill>
                <a:latin typeface="Calibri"/>
              </a:rPr>
              <a:t>What we are NOT asking</a:t>
            </a:r>
          </a:p>
        </p:txBody>
      </p:sp>
      <p:sp>
        <p:nvSpPr>
          <p:cNvPr id="17" name="TextBox 16"/>
          <p:cNvSpPr txBox="1"/>
          <p:nvPr/>
        </p:nvSpPr>
        <p:spPr>
          <a:xfrm>
            <a:off x="4389120" y="2496312"/>
            <a:ext cx="3291840" cy="2990088"/>
          </a:xfrm>
          <a:prstGeom prst="rect">
            <a:avLst/>
          </a:prstGeom>
          <a:noFill/>
        </p:spPr>
        <p:txBody>
          <a:bodyPr wrap="square">
            <a:spAutoFit/>
          </a:bodyPr>
          <a:lstStyle/>
          <a:p>
            <a:pPr>
              <a:spcAft>
                <a:spcPts val="300"/>
              </a:spcAft>
            </a:pPr>
            <a:r>
              <a:rPr sz="1050">
                <a:solidFill>
                  <a:srgbClr val="2B2B3C"/>
                </a:solidFill>
                <a:latin typeface="Calibri"/>
              </a:rPr>
              <a:t>• No new product, licence or vendor</a:t>
            </a:r>
          </a:p>
          <a:p>
            <a:pPr>
              <a:spcAft>
                <a:spcPts val="300"/>
              </a:spcAft>
            </a:pPr>
            <a:r>
              <a:rPr sz="1050">
                <a:solidFill>
                  <a:srgbClr val="2B2B3C"/>
                </a:solidFill>
                <a:latin typeface="Calibri"/>
              </a:rPr>
              <a:t>• No new platform component — everything is already deployed dev to prod</a:t>
            </a:r>
          </a:p>
          <a:p>
            <a:pPr>
              <a:spcAft>
                <a:spcPts val="300"/>
              </a:spcAft>
            </a:pPr>
            <a:r>
              <a:rPr sz="1050">
                <a:solidFill>
                  <a:srgbClr val="2B2B3C"/>
                </a:solidFill>
                <a:latin typeface="Calibri"/>
              </a:rPr>
              <a:t>• No internet-facing exposure; all MCP traffic stays behind the gateway</a:t>
            </a:r>
          </a:p>
          <a:p>
            <a:pPr>
              <a:spcAft>
                <a:spcPts val="300"/>
              </a:spcAft>
            </a:pPr>
            <a:r>
              <a:rPr sz="1050">
                <a:solidFill>
                  <a:srgbClr val="2B2B3C"/>
                </a:solidFill>
                <a:latin typeface="Calibri"/>
              </a:rPr>
              <a:t>• Not approving vendor-hosted MCP servers — deliberately deferred (DD-5)</a:t>
            </a:r>
          </a:p>
          <a:p>
            <a:pPr>
              <a:spcAft>
                <a:spcPts val="300"/>
              </a:spcAft>
            </a:pPr>
            <a:r>
              <a:rPr sz="1050">
                <a:solidFill>
                  <a:srgbClr val="2B2B3C"/>
                </a:solidFill>
                <a:latin typeface="Calibri"/>
              </a:rPr>
              <a:t>• Not asking the consortium to change Luminate as a condition of approval</a:t>
            </a:r>
          </a:p>
        </p:txBody>
      </p:sp>
      <p:sp>
        <p:nvSpPr>
          <p:cNvPr id="18" name="Rectangle 17"/>
          <p:cNvSpPr/>
          <p:nvPr/>
        </p:nvSpPr>
        <p:spPr>
          <a:xfrm>
            <a:off x="8001000" y="1965960"/>
            <a:ext cx="3657600" cy="3611880"/>
          </a:xfrm>
          <a:prstGeom prst="rect">
            <a:avLst/>
          </a:prstGeom>
          <a:solidFill>
            <a:srgbClr val="DA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01000" y="1965960"/>
            <a:ext cx="3657600" cy="762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60" y="2075688"/>
            <a:ext cx="3383280" cy="365760"/>
          </a:xfrm>
          <a:prstGeom prst="rect">
            <a:avLst/>
          </a:prstGeom>
          <a:noFill/>
        </p:spPr>
        <p:txBody>
          <a:bodyPr wrap="square" anchor="t">
            <a:spAutoFit/>
          </a:bodyPr>
          <a:lstStyle/>
          <a:p>
            <a:pPr algn="l">
              <a:spcAft>
                <a:spcPts val="400"/>
              </a:spcAft>
            </a:pPr>
            <a:r>
              <a:rPr sz="1250" b="1">
                <a:solidFill>
                  <a:srgbClr val="2B2B3C"/>
                </a:solidFill>
                <a:latin typeface="Calibri"/>
              </a:rPr>
              <a:t>Why now</a:t>
            </a:r>
          </a:p>
        </p:txBody>
      </p:sp>
      <p:sp>
        <p:nvSpPr>
          <p:cNvPr id="21" name="TextBox 20"/>
          <p:cNvSpPr txBox="1"/>
          <p:nvPr/>
        </p:nvSpPr>
        <p:spPr>
          <a:xfrm>
            <a:off x="8138160" y="2496312"/>
            <a:ext cx="3383280" cy="2990088"/>
          </a:xfrm>
          <a:prstGeom prst="rect">
            <a:avLst/>
          </a:prstGeom>
          <a:noFill/>
        </p:spPr>
        <p:txBody>
          <a:bodyPr wrap="square">
            <a:spAutoFit/>
          </a:bodyPr>
          <a:lstStyle/>
          <a:p>
            <a:pPr>
              <a:spcAft>
                <a:spcPts val="300"/>
              </a:spcAft>
            </a:pPr>
            <a:r>
              <a:rPr sz="1050">
                <a:solidFill>
                  <a:srgbClr val="2B2B3C"/>
                </a:solidFill>
                <a:latin typeface="Calibri"/>
              </a:rPr>
              <a:t>• MCP servers are already live and arriving faster than any stated requirement</a:t>
            </a:r>
          </a:p>
          <a:p>
            <a:pPr>
              <a:spcAft>
                <a:spcPts val="300"/>
              </a:spcAft>
            </a:pPr>
            <a:r>
              <a:rPr sz="1050">
                <a:solidFill>
                  <a:srgbClr val="2B2B3C"/>
                </a:solidFill>
                <a:latin typeface="Calibri"/>
              </a:rPr>
              <a:t>• Seven business use cases are onboarding and each re-derives the same decisions</a:t>
            </a:r>
          </a:p>
          <a:p>
            <a:pPr>
              <a:spcAft>
                <a:spcPts val="300"/>
              </a:spcAft>
            </a:pPr>
            <a:r>
              <a:rPr sz="1050">
                <a:solidFill>
                  <a:srgbClr val="2B2B3C"/>
                </a:solidFill>
                <a:latin typeface="Calibri"/>
              </a:rPr>
              <a:t>• Every new tool server is currently a bespoke architecture review and a bespoke ISRA</a:t>
            </a:r>
          </a:p>
          <a:p>
            <a:pPr>
              <a:spcAft>
                <a:spcPts val="300"/>
              </a:spcAft>
            </a:pPr>
            <a:r>
              <a:rPr sz="1050">
                <a:solidFill>
                  <a:srgbClr val="2B2B3C"/>
                </a:solidFill>
                <a:latin typeface="Calibri"/>
              </a:rPr>
              <a:t>• The current estate posture is measurably weaker than intended — see next slide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Background — What Is Driving This</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3</a:t>
            </a:r>
          </a:p>
        </p:txBody>
      </p:sp>
      <p:sp>
        <p:nvSpPr>
          <p:cNvPr id="9" name="Rectangle 8"/>
          <p:cNvSpPr/>
          <p:nvPr/>
        </p:nvSpPr>
        <p:spPr>
          <a:xfrm>
            <a:off x="502920" y="1417320"/>
            <a:ext cx="3566160" cy="4206240"/>
          </a:xfrm>
          <a:prstGeom prst="rect">
            <a:avLst/>
          </a:prstGeom>
          <a:solidFill>
            <a:srgbClr val="DA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1417320"/>
            <a:ext cx="3566160" cy="762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527048"/>
            <a:ext cx="3291840" cy="365760"/>
          </a:xfrm>
          <a:prstGeom prst="rect">
            <a:avLst/>
          </a:prstGeom>
          <a:noFill/>
        </p:spPr>
        <p:txBody>
          <a:bodyPr wrap="square" anchor="t">
            <a:spAutoFit/>
          </a:bodyPr>
          <a:lstStyle/>
          <a:p>
            <a:pPr algn="l">
              <a:spcAft>
                <a:spcPts val="400"/>
              </a:spcAft>
            </a:pPr>
            <a:r>
              <a:rPr sz="1250" b="1">
                <a:solidFill>
                  <a:srgbClr val="2B2B3C"/>
                </a:solidFill>
                <a:latin typeface="Calibri"/>
              </a:rPr>
              <a:t>Agents need tools; MCP is how they get them</a:t>
            </a:r>
          </a:p>
        </p:txBody>
      </p:sp>
      <p:sp>
        <p:nvSpPr>
          <p:cNvPr id="12" name="TextBox 11"/>
          <p:cNvSpPr txBox="1"/>
          <p:nvPr/>
        </p:nvSpPr>
        <p:spPr>
          <a:xfrm>
            <a:off x="640080" y="1947672"/>
            <a:ext cx="3291840" cy="3584448"/>
          </a:xfrm>
          <a:prstGeom prst="rect">
            <a:avLst/>
          </a:prstGeom>
          <a:noFill/>
        </p:spPr>
        <p:txBody>
          <a:bodyPr wrap="square">
            <a:spAutoFit/>
          </a:bodyPr>
          <a:lstStyle/>
          <a:p>
            <a:pPr>
              <a:spcAft>
                <a:spcPts val="300"/>
              </a:spcAft>
            </a:pPr>
            <a:r>
              <a:rPr sz="1050">
                <a:solidFill>
                  <a:srgbClr val="2B2B3C"/>
                </a:solidFill>
                <a:latin typeface="Calibri"/>
              </a:rPr>
              <a:t>• Model Context Protocol is the emerging open standard for exposing tools, data and prompts to AI agents</a:t>
            </a:r>
          </a:p>
          <a:p>
            <a:pPr>
              <a:spcAft>
                <a:spcPts val="300"/>
              </a:spcAft>
            </a:pPr>
            <a:r>
              <a:rPr sz="1050">
                <a:solidFill>
                  <a:srgbClr val="2B2B3C"/>
                </a:solidFill>
                <a:latin typeface="Calibri"/>
              </a:rPr>
              <a:t>• It is what a governed agent calls to look up a claim, read a policy or retrieve a document</a:t>
            </a:r>
          </a:p>
          <a:p>
            <a:pPr>
              <a:spcAft>
                <a:spcPts val="300"/>
              </a:spcAft>
            </a:pPr>
            <a:r>
              <a:rPr sz="1050">
                <a:solidFill>
                  <a:srgbClr val="2B2B3C"/>
                </a:solidFill>
                <a:latin typeface="Calibri"/>
              </a:rPr>
              <a:t>• Already live at Sun Life: FastMCP on OpenShift, in-cluster services on EKS</a:t>
            </a:r>
          </a:p>
          <a:p>
            <a:pPr>
              <a:spcAft>
                <a:spcPts val="300"/>
              </a:spcAft>
            </a:pPr>
            <a:r>
              <a:rPr sz="1050">
                <a:solidFill>
                  <a:srgbClr val="2B2B3C"/>
                </a:solidFill>
                <a:latin typeface="Calibri"/>
              </a:rPr>
              <a:t>• Bedrock AgentCore runtimes and vendor-hosted endpoints are close behind</a:t>
            </a:r>
          </a:p>
        </p:txBody>
      </p:sp>
      <p:sp>
        <p:nvSpPr>
          <p:cNvPr id="13" name="Rectangle 12"/>
          <p:cNvSpPr/>
          <p:nvPr/>
        </p:nvSpPr>
        <p:spPr>
          <a:xfrm>
            <a:off x="4251960" y="1417320"/>
            <a:ext cx="3566160" cy="420624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417320"/>
            <a:ext cx="3566160" cy="762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527048"/>
            <a:ext cx="3291840" cy="365760"/>
          </a:xfrm>
          <a:prstGeom prst="rect">
            <a:avLst/>
          </a:prstGeom>
          <a:noFill/>
        </p:spPr>
        <p:txBody>
          <a:bodyPr wrap="square" anchor="t">
            <a:spAutoFit/>
          </a:bodyPr>
          <a:lstStyle/>
          <a:p>
            <a:pPr algn="l">
              <a:spcAft>
                <a:spcPts val="400"/>
              </a:spcAft>
            </a:pPr>
            <a:r>
              <a:rPr sz="1250" b="1">
                <a:solidFill>
                  <a:srgbClr val="2B2B3C"/>
                </a:solidFill>
                <a:latin typeface="Calibri"/>
              </a:rPr>
              <a:t>Arriving faster than any statement of what one must be</a:t>
            </a:r>
          </a:p>
        </p:txBody>
      </p:sp>
      <p:sp>
        <p:nvSpPr>
          <p:cNvPr id="16" name="TextBox 15"/>
          <p:cNvSpPr txBox="1"/>
          <p:nvPr/>
        </p:nvSpPr>
        <p:spPr>
          <a:xfrm>
            <a:off x="4389120" y="1947672"/>
            <a:ext cx="3291840" cy="3584448"/>
          </a:xfrm>
          <a:prstGeom prst="rect">
            <a:avLst/>
          </a:prstGeom>
          <a:noFill/>
        </p:spPr>
        <p:txBody>
          <a:bodyPr wrap="square">
            <a:spAutoFit/>
          </a:bodyPr>
          <a:lstStyle/>
          <a:p>
            <a:pPr>
              <a:spcAft>
                <a:spcPts val="300"/>
              </a:spcAft>
            </a:pPr>
            <a:r>
              <a:rPr sz="1050">
                <a:solidFill>
                  <a:srgbClr val="2B2B3C"/>
                </a:solidFill>
                <a:latin typeface="Calibri"/>
              </a:rPr>
              <a:t>• No requirement set a team can be pointed at before it builds</a:t>
            </a:r>
          </a:p>
          <a:p>
            <a:pPr>
              <a:spcAft>
                <a:spcPts val="300"/>
              </a:spcAft>
            </a:pPr>
            <a:r>
              <a:rPr sz="1050">
                <a:solidFill>
                  <a:srgbClr val="2B2B3C"/>
                </a:solidFill>
                <a:latin typeface="Calibri"/>
              </a:rPr>
              <a:t>• Consequences are measured, not theoretical — see the estate assessment</a:t>
            </a:r>
          </a:p>
          <a:p>
            <a:pPr>
              <a:spcAft>
                <a:spcPts val="300"/>
              </a:spcAft>
            </a:pPr>
            <a:r>
              <a:rPr sz="1050">
                <a:solidFill>
                  <a:srgbClr val="2B2B3C"/>
                </a:solidFill>
                <a:latin typeface="Calibri"/>
              </a:rPr>
              <a:t>• Substrate, TLS, identity and build path all differ per server and are written down nowhere</a:t>
            </a:r>
          </a:p>
          <a:p>
            <a:pPr>
              <a:spcAft>
                <a:spcPts val="300"/>
              </a:spcAft>
            </a:pPr>
            <a:r>
              <a:rPr sz="1050">
                <a:solidFill>
                  <a:srgbClr val="2B2B3C"/>
                </a:solidFill>
                <a:latin typeface="Calibri"/>
              </a:rPr>
              <a:t>• Nothing tells a team that a local stdio server can never be onboarded remotely</a:t>
            </a:r>
          </a:p>
        </p:txBody>
      </p:sp>
      <p:sp>
        <p:nvSpPr>
          <p:cNvPr id="17" name="Rectangle 16"/>
          <p:cNvSpPr/>
          <p:nvPr/>
        </p:nvSpPr>
        <p:spPr>
          <a:xfrm>
            <a:off x="8001000" y="1417320"/>
            <a:ext cx="3657600" cy="4206240"/>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01000" y="1417320"/>
            <a:ext cx="3657600" cy="76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38160" y="1527048"/>
            <a:ext cx="3383280" cy="365760"/>
          </a:xfrm>
          <a:prstGeom prst="rect">
            <a:avLst/>
          </a:prstGeom>
          <a:noFill/>
        </p:spPr>
        <p:txBody>
          <a:bodyPr wrap="square" anchor="t">
            <a:spAutoFit/>
          </a:bodyPr>
          <a:lstStyle/>
          <a:p>
            <a:pPr algn="l">
              <a:spcAft>
                <a:spcPts val="400"/>
              </a:spcAft>
            </a:pPr>
            <a:r>
              <a:rPr sz="1250" b="1">
                <a:solidFill>
                  <a:srgbClr val="2B2B3C"/>
                </a:solidFill>
                <a:latin typeface="Calibri"/>
              </a:rPr>
              <a:t>A tool server is the workload that most needs a control set</a:t>
            </a:r>
          </a:p>
        </p:txBody>
      </p:sp>
      <p:sp>
        <p:nvSpPr>
          <p:cNvPr id="20" name="TextBox 19"/>
          <p:cNvSpPr txBox="1"/>
          <p:nvPr/>
        </p:nvSpPr>
        <p:spPr>
          <a:xfrm>
            <a:off x="8138160" y="1947672"/>
            <a:ext cx="3383280" cy="3584448"/>
          </a:xfrm>
          <a:prstGeom prst="rect">
            <a:avLst/>
          </a:prstGeom>
          <a:noFill/>
        </p:spPr>
        <p:txBody>
          <a:bodyPr wrap="square">
            <a:spAutoFit/>
          </a:bodyPr>
          <a:lstStyle/>
          <a:p>
            <a:pPr>
              <a:spcAft>
                <a:spcPts val="300"/>
              </a:spcAft>
            </a:pPr>
            <a:r>
              <a:rPr sz="1050">
                <a:solidFill>
                  <a:srgbClr val="2B2B3C"/>
                </a:solidFill>
                <a:latin typeface="Calibri"/>
              </a:rPr>
              <a:t>• Invoked by a NON-DETERMINISTIC caller, with arguments the model composed</a:t>
            </a:r>
          </a:p>
          <a:p>
            <a:pPr>
              <a:spcAft>
                <a:spcPts val="300"/>
              </a:spcAft>
            </a:pPr>
            <a:r>
              <a:rPr sz="1050">
                <a:solidFill>
                  <a:srgbClr val="2B2B3C"/>
                </a:solidFill>
                <a:latin typeface="Calibri"/>
              </a:rPr>
              <a:t>• Executes against a system of record</a:t>
            </a:r>
          </a:p>
          <a:p>
            <a:pPr>
              <a:spcAft>
                <a:spcPts val="300"/>
              </a:spcAft>
            </a:pPr>
            <a:r>
              <a:rPr sz="1050">
                <a:solidFill>
                  <a:srgbClr val="2B2B3C"/>
                </a:solidFill>
                <a:latin typeface="Calibri"/>
              </a:rPr>
              <a:t>• Its output re-enters the model's reasoning on the next turn</a:t>
            </a:r>
          </a:p>
          <a:p>
            <a:pPr>
              <a:spcAft>
                <a:spcPts val="300"/>
              </a:spcAft>
            </a:pPr>
            <a:r>
              <a:rPr sz="1050">
                <a:solidFill>
                  <a:srgbClr val="2B2B3C"/>
                </a:solidFill>
                <a:latin typeface="Calibri"/>
              </a:rPr>
              <a:t>• OSFI E-23 inventory and change control; B-13 Principle 15 least privilege, Principle 17 incident response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Current State — What the Estate Actually Looks Like</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4</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50" b="1">
                <a:solidFill>
                  <a:srgbClr val="2B2B3C"/>
                </a:solidFill>
                <a:latin typeface="Calibri"/>
              </a:rPr>
              <a:t>Verified 1 September 2026 against the live ACP dev environment. This is the baseline the pattern is being introduced to correct.</a:t>
            </a:r>
          </a:p>
        </p:txBody>
      </p:sp>
      <p:graphicFrame>
        <p:nvGraphicFramePr>
          <p:cNvPr id="10" name="Table 9"/>
          <p:cNvGraphicFramePr>
            <a:graphicFrameLocks noGrp="1"/>
          </p:cNvGraphicFramePr>
          <p:nvPr/>
        </p:nvGraphicFramePr>
        <p:xfrm>
          <a:off x="502920" y="1874519"/>
          <a:ext cx="11155680" cy="1554480"/>
        </p:xfrm>
        <a:graphic>
          <a:graphicData uri="http://schemas.openxmlformats.org/drawingml/2006/table">
            <a:tbl>
              <a:tblPr firstRow="1" bandRow="1">
                <a:tableStyleId>{5C22544A-7EE6-4342-B048-85BDC9FD1C3A}</a:tableStyleId>
              </a:tblPr>
              <a:tblGrid>
                <a:gridCol w="2103120"/>
                <a:gridCol w="1051560"/>
                <a:gridCol w="1783080"/>
                <a:gridCol w="4937760"/>
                <a:gridCol w="1280160"/>
              </a:tblGrid>
              <a:tr h="310896">
                <a:tc>
                  <a:txBody>
                    <a:bodyPr/>
                    <a:lstStyle/>
                    <a:p>
                      <a:r>
                        <a:rPr sz="1100" b="1">
                          <a:solidFill>
                            <a:srgbClr val="FFFFFF"/>
                          </a:solidFill>
                          <a:latin typeface="Calibri"/>
                        </a:rPr>
                        <a:t>MCP server</a:t>
                      </a:r>
                    </a:p>
                  </a:txBody>
                  <a:tcPr marL="54864" marR="54864">
                    <a:solidFill>
                      <a:srgbClr val="1A1A2E"/>
                    </a:solidFill>
                  </a:tcPr>
                </a:tc>
                <a:tc>
                  <a:txBody>
                    <a:bodyPr/>
                    <a:lstStyle/>
                    <a:p>
                      <a:r>
                        <a:rPr sz="1100" b="1">
                          <a:solidFill>
                            <a:srgbClr val="FFFFFF"/>
                          </a:solidFill>
                          <a:latin typeface="Calibri"/>
                        </a:rPr>
                        <a:t>Transport</a:t>
                      </a:r>
                    </a:p>
                  </a:txBody>
                  <a:tcPr marL="54864" marR="54864">
                    <a:solidFill>
                      <a:srgbClr val="1A1A2E"/>
                    </a:solidFill>
                  </a:tcPr>
                </a:tc>
                <a:tc>
                  <a:txBody>
                    <a:bodyPr/>
                    <a:lstStyle/>
                    <a:p>
                      <a:r>
                        <a:rPr sz="1100" b="1">
                          <a:solidFill>
                            <a:srgbClr val="FFFFFF"/>
                          </a:solidFill>
                          <a:latin typeface="Calibri"/>
                        </a:rPr>
                        <a:t>Identity mode</a:t>
                      </a:r>
                    </a:p>
                  </a:txBody>
                  <a:tcPr marL="54864" marR="54864">
                    <a:solidFill>
                      <a:srgbClr val="1A1A2E"/>
                    </a:solidFill>
                  </a:tcPr>
                </a:tc>
                <a:tc>
                  <a:txBody>
                    <a:bodyPr/>
                    <a:lstStyle/>
                    <a:p>
                      <a:r>
                        <a:rPr sz="1100" b="1">
                          <a:solidFill>
                            <a:srgbClr val="FFFFFF"/>
                          </a:solidFill>
                          <a:latin typeface="Calibri"/>
                        </a:rPr>
                        <a:t>Backend endpoint</a:t>
                      </a:r>
                    </a:p>
                  </a:txBody>
                  <a:tcPr marL="54864" marR="54864">
                    <a:solidFill>
                      <a:srgbClr val="1A1A2E"/>
                    </a:solidFill>
                  </a:tcPr>
                </a:tc>
                <a:tc>
                  <a:txBody>
                    <a:bodyPr/>
                    <a:lstStyle/>
                    <a:p>
                      <a:r>
                        <a:rPr sz="1100" b="1">
                          <a:solidFill>
                            <a:srgbClr val="FFFFFF"/>
                          </a:solidFill>
                          <a:latin typeface="Calibri"/>
                        </a:rPr>
                        <a:t>Tool records</a:t>
                      </a:r>
                    </a:p>
                  </a:txBody>
                  <a:tcPr marL="54864" marR="54864">
                    <a:solidFill>
                      <a:srgbClr val="1A1A2E"/>
                    </a:solidFill>
                  </a:tcPr>
                </a:tc>
              </a:tr>
              <a:tr h="310896">
                <a:tc>
                  <a:txBody>
                    <a:bodyPr/>
                    <a:lstStyle/>
                    <a:p>
                      <a:r>
                        <a:rPr sz="1000">
                          <a:solidFill>
                            <a:srgbClr val="2B2B3C"/>
                          </a:solidFill>
                          <a:latin typeface="Calibri"/>
                        </a:rPr>
                        <a:t>claims-tools</a:t>
                      </a:r>
                    </a:p>
                  </a:txBody>
                  <a:tcPr marL="54864" marR="54864" marT="18288" marB="18288">
                    <a:solidFill>
                      <a:srgbClr val="FFFFFF"/>
                    </a:solidFill>
                  </a:tcPr>
                </a:tc>
                <a:tc>
                  <a:txBody>
                    <a:bodyPr/>
                    <a:lstStyle/>
                    <a:p>
                      <a:r>
                        <a:rPr sz="1000">
                          <a:solidFill>
                            <a:srgbClr val="2B2B3C"/>
                          </a:solidFill>
                          <a:latin typeface="Calibri"/>
                        </a:rPr>
                        <a:t>http</a:t>
                      </a:r>
                    </a:p>
                  </a:txBody>
                  <a:tcPr marL="54864" marR="54864" marT="18288" marB="18288">
                    <a:solidFill>
                      <a:srgbClr val="FFFFFF"/>
                    </a:solidFill>
                  </a:tcPr>
                </a:tc>
                <a:tc>
                  <a:txBody>
                    <a:bodyPr/>
                    <a:lstStyle/>
                    <a:p>
                      <a:r>
                        <a:rPr sz="1000">
                          <a:solidFill>
                            <a:srgbClr val="2B2B3C"/>
                          </a:solidFill>
                          <a:latin typeface="Calibri"/>
                        </a:rPr>
                        <a:t>gateway_identity</a:t>
                      </a:r>
                    </a:p>
                  </a:txBody>
                  <a:tcPr marL="54864" marR="54864" marT="18288" marB="18288">
                    <a:solidFill>
                      <a:srgbClr val="FFFFFF"/>
                    </a:solidFill>
                  </a:tcPr>
                </a:tc>
                <a:tc>
                  <a:txBody>
                    <a:bodyPr/>
                    <a:lstStyle/>
                    <a:p>
                      <a:r>
                        <a:rPr sz="1000">
                          <a:solidFill>
                            <a:srgbClr val="2B2B3C"/>
                          </a:solidFill>
                          <a:latin typeface="Calibri"/>
                        </a:rPr>
                        <a:t>http:// … luminate.svc.cluster.local:8000/mcp</a:t>
                      </a:r>
                    </a:p>
                  </a:txBody>
                  <a:tcPr marL="54864" marR="54864" marT="18288" marB="18288">
                    <a:solidFill>
                      <a:srgbClr val="FFFFFF"/>
                    </a:solidFill>
                  </a:tcPr>
                </a:tc>
                <a:tc>
                  <a:txBody>
                    <a:bodyPr/>
                    <a:lstStyle/>
                    <a:p>
                      <a:r>
                        <a:rPr sz="1000">
                          <a:solidFill>
                            <a:srgbClr val="2B2B3C"/>
                          </a:solidFill>
                          <a:latin typeface="Calibri"/>
                        </a:rPr>
                        <a:t>5</a:t>
                      </a:r>
                    </a:p>
                  </a:txBody>
                  <a:tcPr marL="54864" marR="54864" marT="18288" marB="18288">
                    <a:solidFill>
                      <a:srgbClr val="FFFFFF"/>
                    </a:solidFill>
                  </a:tcPr>
                </a:tc>
              </a:tr>
              <a:tr h="310896">
                <a:tc>
                  <a:txBody>
                    <a:bodyPr/>
                    <a:lstStyle/>
                    <a:p>
                      <a:r>
                        <a:rPr sz="1000">
                          <a:solidFill>
                            <a:srgbClr val="2B2B3C"/>
                          </a:solidFill>
                          <a:latin typeface="Calibri"/>
                        </a:rPr>
                        <a:t>underwriting-tools</a:t>
                      </a:r>
                    </a:p>
                  </a:txBody>
                  <a:tcPr marL="54864" marR="54864" marT="18288" marB="18288">
                    <a:solidFill>
                      <a:srgbClr val="F4F5F7"/>
                    </a:solidFill>
                  </a:tcPr>
                </a:tc>
                <a:tc>
                  <a:txBody>
                    <a:bodyPr/>
                    <a:lstStyle/>
                    <a:p>
                      <a:r>
                        <a:rPr sz="1000">
                          <a:solidFill>
                            <a:srgbClr val="2B2B3C"/>
                          </a:solidFill>
                          <a:latin typeface="Calibri"/>
                        </a:rPr>
                        <a:t>http</a:t>
                      </a:r>
                    </a:p>
                  </a:txBody>
                  <a:tcPr marL="54864" marR="54864" marT="18288" marB="18288">
                    <a:solidFill>
                      <a:srgbClr val="F4F5F7"/>
                    </a:solidFill>
                  </a:tcPr>
                </a:tc>
                <a:tc>
                  <a:txBody>
                    <a:bodyPr/>
                    <a:lstStyle/>
                    <a:p>
                      <a:r>
                        <a:rPr sz="1000">
                          <a:solidFill>
                            <a:srgbClr val="2B2B3C"/>
                          </a:solidFill>
                          <a:latin typeface="Calibri"/>
                        </a:rPr>
                        <a:t>gateway_identity</a:t>
                      </a:r>
                    </a:p>
                  </a:txBody>
                  <a:tcPr marL="54864" marR="54864" marT="18288" marB="18288">
                    <a:solidFill>
                      <a:srgbClr val="F4F5F7"/>
                    </a:solidFill>
                  </a:tcPr>
                </a:tc>
                <a:tc>
                  <a:txBody>
                    <a:bodyPr/>
                    <a:lstStyle/>
                    <a:p>
                      <a:r>
                        <a:rPr sz="1000">
                          <a:solidFill>
                            <a:srgbClr val="2B2B3C"/>
                          </a:solidFill>
                          <a:latin typeface="Calibri"/>
                        </a:rPr>
                        <a:t>http:// … luminate.svc.cluster.local:8000/mcp</a:t>
                      </a:r>
                    </a:p>
                  </a:txBody>
                  <a:tcPr marL="54864" marR="54864" marT="18288" marB="18288">
                    <a:solidFill>
                      <a:srgbClr val="F4F5F7"/>
                    </a:solidFill>
                  </a:tcPr>
                </a:tc>
                <a:tc>
                  <a:txBody>
                    <a:bodyPr/>
                    <a:lstStyle/>
                    <a:p>
                      <a:r>
                        <a:rPr sz="1000">
                          <a:solidFill>
                            <a:srgbClr val="2B2B3C"/>
                          </a:solidFill>
                          <a:latin typeface="Calibri"/>
                        </a:rPr>
                        <a:t>5</a:t>
                      </a:r>
                    </a:p>
                  </a:txBody>
                  <a:tcPr marL="54864" marR="54864" marT="18288" marB="18288">
                    <a:solidFill>
                      <a:srgbClr val="F4F5F7"/>
                    </a:solidFill>
                  </a:tcPr>
                </a:tc>
              </a:tr>
              <a:tr h="310896">
                <a:tc>
                  <a:txBody>
                    <a:bodyPr/>
                    <a:lstStyle/>
                    <a:p>
                      <a:r>
                        <a:rPr sz="1000">
                          <a:solidFill>
                            <a:srgbClr val="2B2B3C"/>
                          </a:solidFill>
                          <a:latin typeface="Calibri"/>
                        </a:rPr>
                        <a:t>pharmacy-mcp-server</a:t>
                      </a:r>
                    </a:p>
                  </a:txBody>
                  <a:tcPr marL="54864" marR="54864" marT="18288" marB="18288">
                    <a:solidFill>
                      <a:srgbClr val="FFF2CC"/>
                    </a:solidFill>
                  </a:tcPr>
                </a:tc>
                <a:tc>
                  <a:txBody>
                    <a:bodyPr/>
                    <a:lstStyle/>
                    <a:p>
                      <a:r>
                        <a:rPr sz="1000">
                          <a:solidFill>
                            <a:srgbClr val="2B2B3C"/>
                          </a:solidFill>
                          <a:latin typeface="Calibri"/>
                        </a:rPr>
                        <a:t>http</a:t>
                      </a:r>
                    </a:p>
                  </a:txBody>
                  <a:tcPr marL="54864" marR="54864" marT="18288" marB="18288">
                    <a:solidFill>
                      <a:srgbClr val="FFF2CC"/>
                    </a:solidFill>
                  </a:tcPr>
                </a:tc>
                <a:tc>
                  <a:txBody>
                    <a:bodyPr/>
                    <a:lstStyle/>
                    <a:p>
                      <a:r>
                        <a:rPr sz="1000">
                          <a:solidFill>
                            <a:srgbClr val="2B2B3C"/>
                          </a:solidFill>
                          <a:latin typeface="Calibri"/>
                        </a:rPr>
                        <a:t>gateway_identity</a:t>
                      </a:r>
                    </a:p>
                  </a:txBody>
                  <a:tcPr marL="54864" marR="54864" marT="18288" marB="18288">
                    <a:solidFill>
                      <a:srgbClr val="FFF2CC"/>
                    </a:solidFill>
                  </a:tcPr>
                </a:tc>
                <a:tc>
                  <a:txBody>
                    <a:bodyPr/>
                    <a:lstStyle/>
                    <a:p>
                      <a:r>
                        <a:rPr sz="1000">
                          <a:solidFill>
                            <a:srgbClr val="2B2B3C"/>
                          </a:solidFill>
                          <a:latin typeface="Calibri"/>
                        </a:rPr>
                        <a:t>https:// dev-corp-aws-ca1-k8s.sunlifecorp.com / … /mcp</a:t>
                      </a:r>
                    </a:p>
                  </a:txBody>
                  <a:tcPr marL="54864" marR="54864" marT="18288" marB="18288">
                    <a:solidFill>
                      <a:srgbClr val="FFF2CC"/>
                    </a:solidFill>
                  </a:tcPr>
                </a:tc>
                <a:tc>
                  <a:txBody>
                    <a:bodyPr/>
                    <a:lstStyle/>
                    <a:p>
                      <a:r>
                        <a:rPr sz="1000">
                          <a:solidFill>
                            <a:srgbClr val="2B2B3C"/>
                          </a:solidFill>
                          <a:latin typeface="Calibri"/>
                        </a:rPr>
                        <a:t>0</a:t>
                      </a:r>
                    </a:p>
                  </a:txBody>
                  <a:tcPr marL="54864" marR="54864" marT="18288" marB="18288">
                    <a:solidFill>
                      <a:srgbClr val="FFF2CC"/>
                    </a:solidFill>
                  </a:tcPr>
                </a:tc>
              </a:tr>
              <a:tr h="310896">
                <a:tc>
                  <a:txBody>
                    <a:bodyPr/>
                    <a:lstStyle/>
                    <a:p>
                      <a:r>
                        <a:rPr sz="1000">
                          <a:solidFill>
                            <a:srgbClr val="2B2B3C"/>
                          </a:solidFill>
                          <a:latin typeface="Calibri"/>
                        </a:rPr>
                        <a:t>claims-tools-bedrock</a:t>
                      </a:r>
                    </a:p>
                  </a:txBody>
                  <a:tcPr marL="54864" marR="54864" marT="18288" marB="18288">
                    <a:solidFill>
                      <a:srgbClr val="F4F5F7"/>
                    </a:solidFill>
                  </a:tcPr>
                </a:tc>
                <a:tc>
                  <a:txBody>
                    <a:bodyPr/>
                    <a:lstStyle/>
                    <a:p>
                      <a:r>
                        <a:rPr sz="1000">
                          <a:solidFill>
                            <a:srgbClr val="2B2B3C"/>
                          </a:solidFill>
                          <a:latin typeface="Calibri"/>
                        </a:rPr>
                        <a:t>http</a:t>
                      </a:r>
                    </a:p>
                  </a:txBody>
                  <a:tcPr marL="54864" marR="54864" marT="18288" marB="18288">
                    <a:solidFill>
                      <a:srgbClr val="F4F5F7"/>
                    </a:solidFill>
                  </a:tcPr>
                </a:tc>
                <a:tc>
                  <a:txBody>
                    <a:bodyPr/>
                    <a:lstStyle/>
                    <a:p>
                      <a:r>
                        <a:rPr sz="1000">
                          <a:solidFill>
                            <a:srgbClr val="2B2B3C"/>
                          </a:solidFill>
                          <a:latin typeface="Calibri"/>
                        </a:rPr>
                        <a:t>gateway_identity</a:t>
                      </a:r>
                    </a:p>
                  </a:txBody>
                  <a:tcPr marL="54864" marR="54864" marT="18288" marB="18288">
                    <a:solidFill>
                      <a:srgbClr val="F4F5F7"/>
                    </a:solidFill>
                  </a:tcPr>
                </a:tc>
                <a:tc>
                  <a:txBody>
                    <a:bodyPr/>
                    <a:lstStyle/>
                    <a:p>
                      <a:r>
                        <a:rPr sz="1000">
                          <a:solidFill>
                            <a:srgbClr val="2B2B3C"/>
                          </a:solidFill>
                          <a:latin typeface="Calibri"/>
                        </a:rPr>
                        <a:t>(deprecated)</a:t>
                      </a:r>
                    </a:p>
                  </a:txBody>
                  <a:tcPr marL="54864" marR="54864" marT="18288" marB="18288">
                    <a:solidFill>
                      <a:srgbClr val="F4F5F7"/>
                    </a:solidFill>
                  </a:tcPr>
                </a:tc>
                <a:tc>
                  <a:txBody>
                    <a:bodyPr/>
                    <a:lstStyle/>
                    <a:p>
                      <a:r>
                        <a:rPr sz="1000">
                          <a:solidFill>
                            <a:srgbClr val="2B2B3C"/>
                          </a:solidFill>
                          <a:latin typeface="Calibri"/>
                        </a:rPr>
                        <a:t>5</a:t>
                      </a:r>
                    </a:p>
                  </a:txBody>
                  <a:tcPr marL="54864" marR="54864" marT="18288" marB="18288">
                    <a:solidFill>
                      <a:srgbClr val="F4F5F7"/>
                    </a:solidFill>
                  </a:tcPr>
                </a:tc>
              </a:tr>
            </a:tbl>
          </a:graphicData>
        </a:graphic>
      </p:graphicFrame>
      <p:sp>
        <p:nvSpPr>
          <p:cNvPr id="11" name="TextBox 10"/>
          <p:cNvSpPr txBox="1"/>
          <p:nvPr/>
        </p:nvSpPr>
        <p:spPr>
          <a:xfrm>
            <a:off x="502920" y="3703320"/>
            <a:ext cx="11155680" cy="365760"/>
          </a:xfrm>
          <a:prstGeom prst="rect">
            <a:avLst/>
          </a:prstGeom>
          <a:noFill/>
        </p:spPr>
        <p:txBody>
          <a:bodyPr wrap="square" anchor="t">
            <a:spAutoFit/>
          </a:bodyPr>
          <a:lstStyle/>
          <a:p>
            <a:pPr algn="l">
              <a:spcAft>
                <a:spcPts val="400"/>
              </a:spcAft>
            </a:pPr>
            <a:r>
              <a:rPr sz="1400" b="1">
                <a:solidFill>
                  <a:srgbClr val="2B2B3C"/>
                </a:solidFill>
                <a:latin typeface="Calibri"/>
              </a:rPr>
              <a:t>Four findings that follow directly</a:t>
            </a:r>
          </a:p>
        </p:txBody>
      </p:sp>
      <p:sp>
        <p:nvSpPr>
          <p:cNvPr id="12" name="Rectangle 11"/>
          <p:cNvSpPr/>
          <p:nvPr/>
        </p:nvSpPr>
        <p:spPr>
          <a:xfrm>
            <a:off x="502920" y="4114800"/>
            <a:ext cx="2697480" cy="1874519"/>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4114800"/>
            <a:ext cx="2697480" cy="76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224528"/>
            <a:ext cx="2423160" cy="365760"/>
          </a:xfrm>
          <a:prstGeom prst="rect">
            <a:avLst/>
          </a:prstGeom>
          <a:noFill/>
        </p:spPr>
        <p:txBody>
          <a:bodyPr wrap="square" anchor="t">
            <a:spAutoFit/>
          </a:bodyPr>
          <a:lstStyle/>
          <a:p>
            <a:pPr algn="l">
              <a:spcAft>
                <a:spcPts val="400"/>
              </a:spcAft>
            </a:pPr>
            <a:r>
              <a:rPr sz="1250" b="1">
                <a:solidFill>
                  <a:srgbClr val="2B2B3C"/>
                </a:solidFill>
                <a:latin typeface="Calibri"/>
              </a:rPr>
              <a:t>No credential reaches any tool server</a:t>
            </a:r>
          </a:p>
        </p:txBody>
      </p:sp>
      <p:sp>
        <p:nvSpPr>
          <p:cNvPr id="15" name="TextBox 14"/>
          <p:cNvSpPr txBox="1"/>
          <p:nvPr/>
        </p:nvSpPr>
        <p:spPr>
          <a:xfrm>
            <a:off x="640080" y="4645152"/>
            <a:ext cx="2423160" cy="1252727"/>
          </a:xfrm>
          <a:prstGeom prst="rect">
            <a:avLst/>
          </a:prstGeom>
          <a:noFill/>
        </p:spPr>
        <p:txBody>
          <a:bodyPr wrap="square">
            <a:spAutoFit/>
          </a:bodyPr>
          <a:lstStyle/>
          <a:p>
            <a:pPr>
              <a:spcAft>
                <a:spcPts val="300"/>
              </a:spcAft>
            </a:pPr>
            <a:r>
              <a:rPr sz="950">
                <a:solidFill>
                  <a:srgbClr val="2B2B3C"/>
                </a:solidFill>
                <a:latin typeface="Calibri"/>
              </a:rPr>
              <a:t>• All four are gateway_identity — the mode in which the gateway strips the caller's credential</a:t>
            </a:r>
          </a:p>
          <a:p>
            <a:pPr>
              <a:spcAft>
                <a:spcPts val="300"/>
              </a:spcAft>
            </a:pPr>
            <a:r>
              <a:rPr sz="950">
                <a:solidFill>
                  <a:srgbClr val="2B2B3C"/>
                </a:solidFill>
                <a:latin typeface="Calibri"/>
              </a:rPr>
              <a:t>• Network reachability is the entire boundary today</a:t>
            </a:r>
          </a:p>
        </p:txBody>
      </p:sp>
      <p:sp>
        <p:nvSpPr>
          <p:cNvPr id="16" name="Rectangle 15"/>
          <p:cNvSpPr/>
          <p:nvPr/>
        </p:nvSpPr>
        <p:spPr>
          <a:xfrm>
            <a:off x="3319272" y="4114800"/>
            <a:ext cx="2697480" cy="1874519"/>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19272" y="4114800"/>
            <a:ext cx="2697480" cy="762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56432" y="4224528"/>
            <a:ext cx="2423160" cy="365760"/>
          </a:xfrm>
          <a:prstGeom prst="rect">
            <a:avLst/>
          </a:prstGeom>
          <a:noFill/>
        </p:spPr>
        <p:txBody>
          <a:bodyPr wrap="square" anchor="t">
            <a:spAutoFit/>
          </a:bodyPr>
          <a:lstStyle/>
          <a:p>
            <a:pPr algn="l">
              <a:spcAft>
                <a:spcPts val="400"/>
              </a:spcAft>
            </a:pPr>
            <a:r>
              <a:rPr sz="1250" b="1">
                <a:solidFill>
                  <a:srgbClr val="2B2B3C"/>
                </a:solidFill>
                <a:latin typeface="Calibri"/>
              </a:rPr>
              <a:t>Two are reached over plain HTTP</a:t>
            </a:r>
          </a:p>
        </p:txBody>
      </p:sp>
      <p:sp>
        <p:nvSpPr>
          <p:cNvPr id="19" name="TextBox 18"/>
          <p:cNvSpPr txBox="1"/>
          <p:nvPr/>
        </p:nvSpPr>
        <p:spPr>
          <a:xfrm>
            <a:off x="3456432" y="4645152"/>
            <a:ext cx="2423160" cy="1252727"/>
          </a:xfrm>
          <a:prstGeom prst="rect">
            <a:avLst/>
          </a:prstGeom>
          <a:noFill/>
        </p:spPr>
        <p:txBody>
          <a:bodyPr wrap="square">
            <a:spAutoFit/>
          </a:bodyPr>
          <a:lstStyle/>
          <a:p>
            <a:pPr>
              <a:spcAft>
                <a:spcPts val="300"/>
              </a:spcAft>
            </a:pPr>
            <a:r>
              <a:rPr sz="950">
                <a:solidFill>
                  <a:srgbClr val="2B2B3C"/>
                </a:solidFill>
                <a:latin typeface="Calibri"/>
              </a:rPr>
              <a:t>• Defensible only because of a network property nobody has stated as a control</a:t>
            </a:r>
          </a:p>
          <a:p>
            <a:pPr>
              <a:spcAft>
                <a:spcPts val="300"/>
              </a:spcAft>
            </a:pPr>
            <a:r>
              <a:rPr sz="950">
                <a:solidFill>
                  <a:srgbClr val="2B2B3C"/>
                </a:solidFill>
                <a:latin typeface="Calibri"/>
              </a:rPr>
              <a:t>• Stops being defensible on a namespace move</a:t>
            </a:r>
          </a:p>
        </p:txBody>
      </p:sp>
      <p:sp>
        <p:nvSpPr>
          <p:cNvPr id="20" name="Rectangle 19"/>
          <p:cNvSpPr/>
          <p:nvPr/>
        </p:nvSpPr>
        <p:spPr>
          <a:xfrm>
            <a:off x="6135624" y="4114800"/>
            <a:ext cx="2697480" cy="1874519"/>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35624" y="4114800"/>
            <a:ext cx="2697480" cy="762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2784" y="4224528"/>
            <a:ext cx="2423160" cy="365760"/>
          </a:xfrm>
          <a:prstGeom prst="rect">
            <a:avLst/>
          </a:prstGeom>
          <a:noFill/>
        </p:spPr>
        <p:txBody>
          <a:bodyPr wrap="square" anchor="t">
            <a:spAutoFit/>
          </a:bodyPr>
          <a:lstStyle/>
          <a:p>
            <a:pPr algn="l">
              <a:spcAft>
                <a:spcPts val="400"/>
              </a:spcAft>
            </a:pPr>
            <a:r>
              <a:rPr sz="1250" b="1">
                <a:solidFill>
                  <a:srgbClr val="2B2B3C"/>
                </a:solidFill>
                <a:latin typeface="Calibri"/>
              </a:rPr>
              <a:t>The catalogue is not an inventory</a:t>
            </a:r>
          </a:p>
        </p:txBody>
      </p:sp>
      <p:sp>
        <p:nvSpPr>
          <p:cNvPr id="23" name="TextBox 22"/>
          <p:cNvSpPr txBox="1"/>
          <p:nvPr/>
        </p:nvSpPr>
        <p:spPr>
          <a:xfrm>
            <a:off x="6272784" y="4645152"/>
            <a:ext cx="2423160" cy="1252727"/>
          </a:xfrm>
          <a:prstGeom prst="rect">
            <a:avLst/>
          </a:prstGeom>
          <a:noFill/>
        </p:spPr>
        <p:txBody>
          <a:bodyPr wrap="square">
            <a:spAutoFit/>
          </a:bodyPr>
          <a:lstStyle/>
          <a:p>
            <a:pPr>
              <a:spcAft>
                <a:spcPts val="300"/>
              </a:spcAft>
            </a:pPr>
            <a:r>
              <a:rPr sz="950">
                <a:solidFill>
                  <a:srgbClr val="2B2B3C"/>
                </a:solidFill>
                <a:latin typeface="Calibri"/>
              </a:rPr>
              <a:t>• A live corporate-ingress server carries ZERO tool records</a:t>
            </a:r>
          </a:p>
          <a:p>
            <a:pPr>
              <a:spcAft>
                <a:spcPts val="300"/>
              </a:spcAft>
            </a:pPr>
            <a:r>
              <a:rPr sz="950">
                <a:solidFill>
                  <a:srgbClr val="2B2B3C"/>
                </a:solidFill>
                <a:latin typeface="Calibri"/>
              </a:rPr>
              <a:t>• There is no automatic discovery — records are hand-entered</a:t>
            </a:r>
          </a:p>
        </p:txBody>
      </p:sp>
      <p:sp>
        <p:nvSpPr>
          <p:cNvPr id="24" name="Rectangle 23"/>
          <p:cNvSpPr/>
          <p:nvPr/>
        </p:nvSpPr>
        <p:spPr>
          <a:xfrm>
            <a:off x="8951976" y="4114800"/>
            <a:ext cx="2706624" cy="1874519"/>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51976" y="4114800"/>
            <a:ext cx="2706624" cy="76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89136" y="4224528"/>
            <a:ext cx="2432304" cy="365760"/>
          </a:xfrm>
          <a:prstGeom prst="rect">
            <a:avLst/>
          </a:prstGeom>
          <a:noFill/>
        </p:spPr>
        <p:txBody>
          <a:bodyPr wrap="square" anchor="t">
            <a:spAutoFit/>
          </a:bodyPr>
          <a:lstStyle/>
          <a:p>
            <a:pPr algn="l">
              <a:spcAft>
                <a:spcPts val="400"/>
              </a:spcAft>
            </a:pPr>
            <a:r>
              <a:rPr sz="1250" b="1">
                <a:solidFill>
                  <a:srgbClr val="2B2B3C"/>
                </a:solidFill>
                <a:latin typeface="Calibri"/>
              </a:rPr>
              <a:t>Scanning gates are off estate-wide</a:t>
            </a:r>
          </a:p>
        </p:txBody>
      </p:sp>
      <p:sp>
        <p:nvSpPr>
          <p:cNvPr id="27" name="TextBox 26"/>
          <p:cNvSpPr txBox="1"/>
          <p:nvPr/>
        </p:nvSpPr>
        <p:spPr>
          <a:xfrm>
            <a:off x="9089136" y="4645152"/>
            <a:ext cx="2432304" cy="1252727"/>
          </a:xfrm>
          <a:prstGeom prst="rect">
            <a:avLst/>
          </a:prstGeom>
          <a:noFill/>
        </p:spPr>
        <p:txBody>
          <a:bodyPr wrap="square">
            <a:spAutoFit/>
          </a:bodyPr>
          <a:lstStyle/>
          <a:p>
            <a:pPr>
              <a:spcAft>
                <a:spcPts val="300"/>
              </a:spcAft>
            </a:pPr>
            <a:r>
              <a:rPr sz="950">
                <a:solidFill>
                  <a:srgbClr val="2B2B3C"/>
                </a:solidFill>
                <a:latin typeface="Calibri"/>
              </a:rPr>
              <a:t>• Snyk and Checkmarx enforcement disabled in every ACP repository</a:t>
            </a:r>
          </a:p>
          <a:p>
            <a:pPr>
              <a:spcAft>
                <a:spcPts val="300"/>
              </a:spcAft>
            </a:pPr>
            <a:r>
              <a:rPr sz="950">
                <a:solidFill>
                  <a:srgbClr val="2B2B3C"/>
                </a:solidFill>
                <a:latin typeface="Calibri"/>
              </a:rPr>
              <a:t>• Platform library defaults are ENABLED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Solution Overview — The Governed Call</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5</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00" b="1">
                <a:solidFill>
                  <a:srgbClr val="2B2B3C"/>
                </a:solidFill>
                <a:latin typeface="Calibri"/>
              </a:rPr>
              <a:t>Whatever the substrate, an MCP server is the same shape: a remote HTTP endpoint reachable only from a Luminate gateway, registered as a governed resource, and granted by access policy.</a:t>
            </a:r>
          </a:p>
        </p:txBody>
      </p:sp>
      <p:sp>
        <p:nvSpPr>
          <p:cNvPr id="10" name="Rectangle 9"/>
          <p:cNvSpPr/>
          <p:nvPr/>
        </p:nvSpPr>
        <p:spPr>
          <a:xfrm>
            <a:off x="502920" y="2148840"/>
            <a:ext cx="2286000" cy="1371600"/>
          </a:xfrm>
          <a:prstGeom prst="rect">
            <a:avLst/>
          </a:prstGeom>
          <a:solidFill>
            <a:srgbClr val="DA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258568"/>
            <a:ext cx="2011680" cy="1152144"/>
          </a:xfrm>
          <a:prstGeom prst="rect">
            <a:avLst/>
          </a:prstGeom>
          <a:noFill/>
        </p:spPr>
        <p:txBody>
          <a:bodyPr wrap="square" anchor="ctr">
            <a:spAutoFit/>
          </a:bodyPr>
          <a:lstStyle/>
          <a:p>
            <a:pPr algn="l">
              <a:spcAft>
                <a:spcPts val="200"/>
              </a:spcAft>
            </a:pPr>
            <a:r>
              <a:rPr sz="850" b="1">
                <a:solidFill>
                  <a:srgbClr val="606070"/>
                </a:solidFill>
                <a:latin typeface="Calibri"/>
              </a:rPr>
              <a:t>CALLING WORKLOAD</a:t>
            </a:r>
          </a:p>
          <a:p>
            <a:pPr algn="l">
              <a:spcAft>
                <a:spcPts val="200"/>
              </a:spcAft>
            </a:pPr>
            <a:r>
              <a:rPr sz="1300" b="1">
                <a:solidFill>
                  <a:srgbClr val="2B2B3C"/>
                </a:solidFill>
                <a:latin typeface="Calibri"/>
              </a:rPr>
              <a:t>Agent / Application</a:t>
            </a:r>
          </a:p>
          <a:p>
            <a:pPr algn="l">
              <a:spcAft>
                <a:spcPts val="200"/>
              </a:spcAft>
            </a:pPr>
            <a:r>
              <a:rPr sz="950" b="0">
                <a:solidFill>
                  <a:srgbClr val="2B2B3C"/>
                </a:solidFill>
                <a:latin typeface="Calibri"/>
              </a:rPr>
              <a:t>Registered, deployed,
holds a machine credential</a:t>
            </a:r>
          </a:p>
        </p:txBody>
      </p:sp>
      <p:sp>
        <p:nvSpPr>
          <p:cNvPr id="12" name="Rectangle 11"/>
          <p:cNvSpPr/>
          <p:nvPr/>
        </p:nvSpPr>
        <p:spPr>
          <a:xfrm>
            <a:off x="3429000" y="1783080"/>
            <a:ext cx="4617720" cy="3200400"/>
          </a:xfrm>
          <a:prstGeom prst="rect">
            <a:avLst/>
          </a:prstGeom>
          <a:solidFill>
            <a:srgbClr val="F4F5F7"/>
          </a:solidFill>
          <a:ln w="12700">
            <a:solidFill>
              <a:srgbClr val="1A1A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828800"/>
            <a:ext cx="4343400" cy="274320"/>
          </a:xfrm>
          <a:prstGeom prst="rect">
            <a:avLst/>
          </a:prstGeom>
          <a:noFill/>
        </p:spPr>
        <p:txBody>
          <a:bodyPr wrap="square" anchor="t">
            <a:spAutoFit/>
          </a:bodyPr>
          <a:lstStyle/>
          <a:p>
            <a:pPr algn="l">
              <a:spcAft>
                <a:spcPts val="400"/>
              </a:spcAft>
            </a:pPr>
            <a:r>
              <a:rPr sz="850" b="1">
                <a:solidFill>
                  <a:srgbClr val="606070"/>
                </a:solidFill>
                <a:latin typeface="Calibri"/>
              </a:rPr>
              <a:t>ACP · LUMINATE</a:t>
            </a:r>
          </a:p>
        </p:txBody>
      </p:sp>
      <p:sp>
        <p:nvSpPr>
          <p:cNvPr id="14" name="Rectangle 13"/>
          <p:cNvSpPr/>
          <p:nvPr/>
        </p:nvSpPr>
        <p:spPr>
          <a:xfrm>
            <a:off x="3611880" y="2148840"/>
            <a:ext cx="4251960" cy="1371600"/>
          </a:xfrm>
          <a:prstGeom prst="rect">
            <a:avLst/>
          </a:prstGeom>
          <a:solidFill>
            <a:srgbClr val="DA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49039" y="2258568"/>
            <a:ext cx="3977639" cy="1152144"/>
          </a:xfrm>
          <a:prstGeom prst="rect">
            <a:avLst/>
          </a:prstGeom>
          <a:noFill/>
        </p:spPr>
        <p:txBody>
          <a:bodyPr wrap="square" anchor="ctr">
            <a:spAutoFit/>
          </a:bodyPr>
          <a:lstStyle/>
          <a:p>
            <a:pPr algn="l">
              <a:spcAft>
                <a:spcPts val="200"/>
              </a:spcAft>
            </a:pPr>
            <a:r>
              <a:rPr sz="850" b="1">
                <a:solidFill>
                  <a:srgbClr val="606070"/>
                </a:solidFill>
                <a:latin typeface="Calibri"/>
              </a:rPr>
              <a:t>GATEWAY  /mcp/{endpoint}</a:t>
            </a:r>
          </a:p>
          <a:p>
            <a:pPr algn="l">
              <a:spcAft>
                <a:spcPts val="200"/>
              </a:spcAft>
            </a:pPr>
            <a:r>
              <a:rPr sz="1250" b="1">
                <a:solidFill>
                  <a:srgbClr val="2B2B3C"/>
                </a:solidFill>
                <a:latin typeface="Calibri"/>
              </a:rPr>
              <a:t>Authenticate · Authorize · Guardrails</a:t>
            </a:r>
          </a:p>
          <a:p>
            <a:pPr algn="l">
              <a:spcAft>
                <a:spcPts val="200"/>
              </a:spcAft>
            </a:pPr>
            <a:r>
              <a:rPr sz="950" b="0">
                <a:solidFill>
                  <a:srgbClr val="2B2B3C"/>
                </a:solidFill>
                <a:latin typeface="Calibri"/>
              </a:rPr>
              <a:t>Fail-closed. One route per server.
No policy cache.</a:t>
            </a:r>
          </a:p>
        </p:txBody>
      </p:sp>
      <p:sp>
        <p:nvSpPr>
          <p:cNvPr id="16" name="Rectangle 15"/>
          <p:cNvSpPr/>
          <p:nvPr/>
        </p:nvSpPr>
        <p:spPr>
          <a:xfrm>
            <a:off x="3611880" y="3657600"/>
            <a:ext cx="4251960" cy="1097280"/>
          </a:xfrm>
          <a:prstGeom prst="rect">
            <a:avLst/>
          </a:prstGeom>
          <a:solidFill>
            <a:srgbClr val="E1D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49039" y="3749039"/>
            <a:ext cx="3977639" cy="914400"/>
          </a:xfrm>
          <a:prstGeom prst="rect">
            <a:avLst/>
          </a:prstGeom>
          <a:noFill/>
        </p:spPr>
        <p:txBody>
          <a:bodyPr wrap="square" anchor="ctr">
            <a:spAutoFit/>
          </a:bodyPr>
          <a:lstStyle/>
          <a:p>
            <a:pPr algn="l">
              <a:spcAft>
                <a:spcPts val="200"/>
              </a:spcAft>
            </a:pPr>
            <a:r>
              <a:rPr sz="850" b="1">
                <a:solidFill>
                  <a:srgbClr val="606070"/>
                </a:solidFill>
                <a:latin typeface="Calibri"/>
              </a:rPr>
              <a:t>CONTROL PLANE</a:t>
            </a:r>
          </a:p>
          <a:p>
            <a:pPr algn="l">
              <a:spcAft>
                <a:spcPts val="200"/>
              </a:spcAft>
            </a:pPr>
            <a:r>
              <a:rPr sz="1250" b="1">
                <a:solidFill>
                  <a:srgbClr val="2B2B3C"/>
                </a:solidFill>
                <a:latin typeface="Calibri"/>
              </a:rPr>
              <a:t>Portal · Keycloak</a:t>
            </a:r>
          </a:p>
          <a:p>
            <a:pPr algn="l">
              <a:spcAft>
                <a:spcPts val="200"/>
              </a:spcAft>
            </a:pPr>
            <a:r>
              <a:rPr sz="950" b="0">
                <a:solidFill>
                  <a:srgbClr val="2B2B3C"/>
                </a:solidFill>
                <a:latin typeface="Calibri"/>
              </a:rPr>
              <a:t>Catalogue · access policy · token exchange · audit</a:t>
            </a:r>
          </a:p>
        </p:txBody>
      </p:sp>
      <p:sp>
        <p:nvSpPr>
          <p:cNvPr id="18" name="Rectangle 17"/>
          <p:cNvSpPr/>
          <p:nvPr/>
        </p:nvSpPr>
        <p:spPr>
          <a:xfrm>
            <a:off x="8686800" y="2148840"/>
            <a:ext cx="2971800" cy="1371600"/>
          </a:xfrm>
          <a:prstGeom prst="rect">
            <a:avLst/>
          </a:prstGeom>
          <a:solidFill>
            <a:srgbClr val="D5E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23960" y="2258568"/>
            <a:ext cx="2697480" cy="1152144"/>
          </a:xfrm>
          <a:prstGeom prst="rect">
            <a:avLst/>
          </a:prstGeom>
          <a:noFill/>
        </p:spPr>
        <p:txBody>
          <a:bodyPr wrap="square" anchor="ctr">
            <a:spAutoFit/>
          </a:bodyPr>
          <a:lstStyle/>
          <a:p>
            <a:pPr algn="l">
              <a:spcAft>
                <a:spcPts val="200"/>
              </a:spcAft>
            </a:pPr>
            <a:r>
              <a:rPr sz="850" b="1">
                <a:solidFill>
                  <a:srgbClr val="606070"/>
                </a:solidFill>
                <a:latin typeface="Calibri"/>
              </a:rPr>
              <a:t>YOUR TEAM'S PLATFORM</a:t>
            </a:r>
          </a:p>
          <a:p>
            <a:pPr algn="l">
              <a:spcAft>
                <a:spcPts val="200"/>
              </a:spcAft>
            </a:pPr>
            <a:r>
              <a:rPr sz="1300" b="1">
                <a:solidFill>
                  <a:srgbClr val="2B2B3C"/>
                </a:solidFill>
                <a:latin typeface="Calibri"/>
              </a:rPr>
              <a:t>MCP server</a:t>
            </a:r>
          </a:p>
          <a:p>
            <a:pPr algn="l">
              <a:spcAft>
                <a:spcPts val="200"/>
              </a:spcAft>
            </a:pPr>
            <a:r>
              <a:rPr sz="950" b="0">
                <a:solidFill>
                  <a:srgbClr val="2B2B3C"/>
                </a:solidFill>
                <a:latin typeface="Calibri"/>
              </a:rPr>
              <a:t>Streamable HTTP or SSE
Tools → systems of record</a:t>
            </a:r>
          </a:p>
        </p:txBody>
      </p:sp>
      <p:sp>
        <p:nvSpPr>
          <p:cNvPr id="20" name="Right Arrow 19"/>
          <p:cNvSpPr/>
          <p:nvPr/>
        </p:nvSpPr>
        <p:spPr>
          <a:xfrm>
            <a:off x="2852928" y="2715768"/>
            <a:ext cx="502920" cy="201168"/>
          </a:xfrm>
          <a:prstGeom prst="rightArrow">
            <a:avLst/>
          </a:prstGeom>
          <a:solidFill>
            <a:srgbClr val="606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52928" y="2441448"/>
            <a:ext cx="502920" cy="256032"/>
          </a:xfrm>
          <a:prstGeom prst="rect">
            <a:avLst/>
          </a:prstGeom>
          <a:noFill/>
        </p:spPr>
        <p:txBody>
          <a:bodyPr wrap="square" anchor="t">
            <a:spAutoFit/>
          </a:bodyPr>
          <a:lstStyle/>
          <a:p>
            <a:pPr algn="ctr">
              <a:spcAft>
                <a:spcPts val="400"/>
              </a:spcAft>
            </a:pPr>
            <a:r>
              <a:rPr sz="900" b="1">
                <a:solidFill>
                  <a:srgbClr val="606070"/>
                </a:solidFill>
                <a:latin typeface="Calibri"/>
              </a:rPr>
              <a:t>Bearer</a:t>
            </a:r>
          </a:p>
        </p:txBody>
      </p:sp>
      <p:sp>
        <p:nvSpPr>
          <p:cNvPr id="22" name="Right Arrow 21"/>
          <p:cNvSpPr/>
          <p:nvPr/>
        </p:nvSpPr>
        <p:spPr>
          <a:xfrm>
            <a:off x="8092440" y="2715768"/>
            <a:ext cx="502920" cy="201168"/>
          </a:xfrm>
          <a:prstGeom prst="rightArrow">
            <a:avLst/>
          </a:prstGeom>
          <a:solidFill>
            <a:srgbClr val="606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92440" y="2441448"/>
            <a:ext cx="502920" cy="256032"/>
          </a:xfrm>
          <a:prstGeom prst="rect">
            <a:avLst/>
          </a:prstGeom>
          <a:noFill/>
        </p:spPr>
        <p:txBody>
          <a:bodyPr wrap="square" anchor="t">
            <a:spAutoFit/>
          </a:bodyPr>
          <a:lstStyle/>
          <a:p>
            <a:pPr algn="ctr">
              <a:spcAft>
                <a:spcPts val="400"/>
              </a:spcAft>
            </a:pPr>
            <a:r>
              <a:rPr sz="900" b="1">
                <a:solidFill>
                  <a:srgbClr val="606070"/>
                </a:solidFill>
                <a:latin typeface="Calibri"/>
              </a:rPr>
              <a:t>forward</a:t>
            </a:r>
          </a:p>
        </p:txBody>
      </p:sp>
      <p:sp>
        <p:nvSpPr>
          <p:cNvPr id="24" name="TextBox 23"/>
          <p:cNvSpPr txBox="1"/>
          <p:nvPr/>
        </p:nvSpPr>
        <p:spPr>
          <a:xfrm>
            <a:off x="502920" y="5257800"/>
            <a:ext cx="11155680" cy="1005840"/>
          </a:xfrm>
          <a:prstGeom prst="rect">
            <a:avLst/>
          </a:prstGeom>
          <a:noFill/>
        </p:spPr>
        <p:txBody>
          <a:bodyPr wrap="square" anchor="t">
            <a:spAutoFit/>
          </a:bodyPr>
          <a:lstStyle/>
          <a:p>
            <a:pPr algn="l">
              <a:spcAft>
                <a:spcPts val="400"/>
              </a:spcAft>
            </a:pPr>
            <a:r>
              <a:rPr sz="1250" b="1">
                <a:solidFill>
                  <a:srgbClr val="2B2B3C"/>
                </a:solidFill>
                <a:latin typeface="Calibri"/>
              </a:rPr>
              <a:t>Every call is authenticated, authorized centrally and fail-closed, content-scanned for PII and banned content on request and response, written to an append-only audit trail, and attributed to a caller, a server and a specific tool method.</a:t>
            </a:r>
          </a:p>
          <a:p>
            <a:pPr algn="l">
              <a:spcAft>
                <a:spcPts val="400"/>
              </a:spcAft>
            </a:pPr>
            <a:r>
              <a:rPr sz="1200" b="0">
                <a:solidFill>
                  <a:srgbClr val="606070"/>
                </a:solidFill>
                <a:latin typeface="Calibri"/>
              </a:rPr>
              <a:t>The whole design space is the last hop: what credential — if any — reaches your server, and therefore what your server has to validate.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The Pattern — Four Steps, Two Owners</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6</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50" b="1">
                <a:solidFill>
                  <a:srgbClr val="2B2B3C"/>
                </a:solidFill>
                <a:latin typeface="Calibri"/>
              </a:rPr>
              <a:t>Registration is a team action. Deployment and granting are platform-administrator actions and cannot be delegated today.</a:t>
            </a:r>
          </a:p>
        </p:txBody>
      </p:sp>
      <p:sp>
        <p:nvSpPr>
          <p:cNvPr id="10" name="Pentagon 9"/>
          <p:cNvSpPr/>
          <p:nvPr/>
        </p:nvSpPr>
        <p:spPr>
          <a:xfrm>
            <a:off x="502920" y="1828800"/>
            <a:ext cx="2734056" cy="1234440"/>
          </a:xfrm>
          <a:prstGeom prst="homePlate">
            <a:avLst/>
          </a:prstGeom>
          <a:solidFill>
            <a:srgbClr val="DA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920240"/>
            <a:ext cx="2276856" cy="1051560"/>
          </a:xfrm>
          <a:prstGeom prst="rect">
            <a:avLst/>
          </a:prstGeom>
          <a:noFill/>
        </p:spPr>
        <p:txBody>
          <a:bodyPr wrap="square" anchor="ctr">
            <a:spAutoFit/>
          </a:bodyPr>
          <a:lstStyle/>
          <a:p>
            <a:pPr algn="l">
              <a:spcAft>
                <a:spcPts val="100"/>
              </a:spcAft>
            </a:pPr>
            <a:r>
              <a:rPr sz="850" b="1">
                <a:solidFill>
                  <a:srgbClr val="606070"/>
                </a:solidFill>
                <a:latin typeface="Calibri"/>
              </a:rPr>
              <a:t>STEP 1 · TEAM</a:t>
            </a:r>
          </a:p>
          <a:p>
            <a:pPr algn="l">
              <a:spcAft>
                <a:spcPts val="100"/>
              </a:spcAft>
            </a:pPr>
            <a:r>
              <a:rPr sz="1300" b="1">
                <a:solidFill>
                  <a:srgbClr val="2B2B3C"/>
                </a:solidFill>
                <a:latin typeface="Calibri"/>
              </a:rPr>
              <a:t>Register</a:t>
            </a:r>
          </a:p>
          <a:p>
            <a:pPr algn="l">
              <a:spcAft>
                <a:spcPts val="100"/>
              </a:spcAft>
            </a:pPr>
            <a:r>
              <a:rPr sz="900" b="0">
                <a:solidFill>
                  <a:srgbClr val="2B2B3C"/>
                </a:solidFill>
                <a:latin typeface="Calibri"/>
              </a:rPr>
              <a:t>Catalogue resource:
key, transport, project, tools</a:t>
            </a:r>
          </a:p>
        </p:txBody>
      </p:sp>
      <p:sp>
        <p:nvSpPr>
          <p:cNvPr id="12" name="Chevron 11"/>
          <p:cNvSpPr/>
          <p:nvPr/>
        </p:nvSpPr>
        <p:spPr>
          <a:xfrm>
            <a:off x="3310128" y="1828800"/>
            <a:ext cx="2734056" cy="1234440"/>
          </a:xfrm>
          <a:prstGeom prst="chevron">
            <a:avLst/>
          </a:prstGeom>
          <a:solidFill>
            <a:srgbClr val="E1D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66160" y="1920240"/>
            <a:ext cx="2276856" cy="1051560"/>
          </a:xfrm>
          <a:prstGeom prst="rect">
            <a:avLst/>
          </a:prstGeom>
          <a:noFill/>
        </p:spPr>
        <p:txBody>
          <a:bodyPr wrap="square" anchor="ctr">
            <a:spAutoFit/>
          </a:bodyPr>
          <a:lstStyle/>
          <a:p>
            <a:pPr algn="l">
              <a:spcAft>
                <a:spcPts val="100"/>
              </a:spcAft>
            </a:pPr>
            <a:r>
              <a:rPr sz="850" b="1">
                <a:solidFill>
                  <a:srgbClr val="606070"/>
                </a:solidFill>
                <a:latin typeface="Calibri"/>
              </a:rPr>
              <a:t>STEP 2 · PLATFORM</a:t>
            </a:r>
          </a:p>
          <a:p>
            <a:pPr algn="l">
              <a:spcAft>
                <a:spcPts val="100"/>
              </a:spcAft>
            </a:pPr>
            <a:r>
              <a:rPr sz="1300" b="1">
                <a:solidFill>
                  <a:srgbClr val="2B2B3C"/>
                </a:solidFill>
                <a:latin typeface="Calibri"/>
              </a:rPr>
              <a:t>Deploy</a:t>
            </a:r>
          </a:p>
          <a:p>
            <a:pPr algn="l">
              <a:spcAft>
                <a:spcPts val="100"/>
              </a:spcAft>
            </a:pPr>
            <a:r>
              <a:rPr sz="900" b="0">
                <a:solidFill>
                  <a:srgbClr val="2B2B3C"/>
                </a:solidFill>
                <a:latin typeface="Calibri"/>
              </a:rPr>
              <a:t>Onto a gateway under one
URL-safe endpoint name</a:t>
            </a:r>
          </a:p>
        </p:txBody>
      </p:sp>
      <p:sp>
        <p:nvSpPr>
          <p:cNvPr id="14" name="Chevron 13"/>
          <p:cNvSpPr/>
          <p:nvPr/>
        </p:nvSpPr>
        <p:spPr>
          <a:xfrm>
            <a:off x="6117336" y="1828800"/>
            <a:ext cx="2734056" cy="1234440"/>
          </a:xfrm>
          <a:prstGeom prst="chevron">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73368" y="1920240"/>
            <a:ext cx="2276856" cy="1051560"/>
          </a:xfrm>
          <a:prstGeom prst="rect">
            <a:avLst/>
          </a:prstGeom>
          <a:noFill/>
        </p:spPr>
        <p:txBody>
          <a:bodyPr wrap="square" anchor="ctr">
            <a:spAutoFit/>
          </a:bodyPr>
          <a:lstStyle/>
          <a:p>
            <a:pPr algn="l">
              <a:spcAft>
                <a:spcPts val="100"/>
              </a:spcAft>
            </a:pPr>
            <a:r>
              <a:rPr sz="850" b="1">
                <a:solidFill>
                  <a:srgbClr val="606070"/>
                </a:solidFill>
                <a:latin typeface="Calibri"/>
              </a:rPr>
              <a:t>STEP 3 · PLATFORM</a:t>
            </a:r>
          </a:p>
          <a:p>
            <a:pPr algn="l">
              <a:spcAft>
                <a:spcPts val="100"/>
              </a:spcAft>
            </a:pPr>
            <a:r>
              <a:rPr sz="1300" b="1">
                <a:solidFill>
                  <a:srgbClr val="2B2B3C"/>
                </a:solidFill>
                <a:latin typeface="Calibri"/>
              </a:rPr>
              <a:t>Grant</a:t>
            </a:r>
          </a:p>
          <a:p>
            <a:pPr algn="l">
              <a:spcAft>
                <a:spcPts val="100"/>
              </a:spcAft>
            </a:pPr>
            <a:r>
              <a:rPr sz="900" b="0">
                <a:solidFill>
                  <a:srgbClr val="2B2B3C"/>
                </a:solidFill>
                <a:latin typeface="Calibri"/>
              </a:rPr>
              <a:t>AccessPolicy from a calling
agent or application</a:t>
            </a:r>
          </a:p>
        </p:txBody>
      </p:sp>
      <p:sp>
        <p:nvSpPr>
          <p:cNvPr id="16" name="Chevron 15"/>
          <p:cNvSpPr/>
          <p:nvPr/>
        </p:nvSpPr>
        <p:spPr>
          <a:xfrm>
            <a:off x="8924544" y="1828800"/>
            <a:ext cx="2734056" cy="1234440"/>
          </a:xfrm>
          <a:prstGeom prst="chevron">
            <a:avLst/>
          </a:prstGeom>
          <a:solidFill>
            <a:srgbClr val="D5E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0576" y="1920240"/>
            <a:ext cx="2276856" cy="1051560"/>
          </a:xfrm>
          <a:prstGeom prst="rect">
            <a:avLst/>
          </a:prstGeom>
          <a:noFill/>
        </p:spPr>
        <p:txBody>
          <a:bodyPr wrap="square" anchor="ctr">
            <a:spAutoFit/>
          </a:bodyPr>
          <a:lstStyle/>
          <a:p>
            <a:pPr algn="l">
              <a:spcAft>
                <a:spcPts val="100"/>
              </a:spcAft>
            </a:pPr>
            <a:r>
              <a:rPr sz="850" b="1">
                <a:solidFill>
                  <a:srgbClr val="606070"/>
                </a:solidFill>
                <a:latin typeface="Calibri"/>
              </a:rPr>
              <a:t>STEP 4</a:t>
            </a:r>
          </a:p>
          <a:p>
            <a:pPr algn="l">
              <a:spcAft>
                <a:spcPts val="100"/>
              </a:spcAft>
            </a:pPr>
            <a:r>
              <a:rPr sz="1300" b="1">
                <a:solidFill>
                  <a:srgbClr val="2B2B3C"/>
                </a:solidFill>
                <a:latin typeface="Calibri"/>
              </a:rPr>
              <a:t>Serve</a:t>
            </a:r>
          </a:p>
          <a:p>
            <a:pPr algn="l">
              <a:spcAft>
                <a:spcPts val="100"/>
              </a:spcAft>
            </a:pPr>
            <a:r>
              <a:rPr sz="900" b="0">
                <a:solidFill>
                  <a:srgbClr val="2B2B3C"/>
                </a:solidFill>
                <a:latin typeface="Calibri"/>
              </a:rPr>
              <a:t>Reachable at
{gateway}/mcp/{endpoint}</a:t>
            </a:r>
          </a:p>
        </p:txBody>
      </p:sp>
      <p:sp>
        <p:nvSpPr>
          <p:cNvPr id="18" name="TextBox 17"/>
          <p:cNvSpPr txBox="1"/>
          <p:nvPr/>
        </p:nvSpPr>
        <p:spPr>
          <a:xfrm>
            <a:off x="502920" y="3337560"/>
            <a:ext cx="11155680" cy="365760"/>
          </a:xfrm>
          <a:prstGeom prst="rect">
            <a:avLst/>
          </a:prstGeom>
          <a:noFill/>
        </p:spPr>
        <p:txBody>
          <a:bodyPr wrap="square" anchor="t">
            <a:spAutoFit/>
          </a:bodyPr>
          <a:lstStyle/>
          <a:p>
            <a:pPr algn="l">
              <a:spcAft>
                <a:spcPts val="400"/>
              </a:spcAft>
            </a:pPr>
            <a:r>
              <a:rPr sz="1400" b="1">
                <a:solidFill>
                  <a:srgbClr val="2B2B3C"/>
                </a:solidFill>
                <a:latin typeface="Calibri"/>
              </a:rPr>
              <a:t>What is true on every substrate</a:t>
            </a:r>
          </a:p>
        </p:txBody>
      </p:sp>
      <p:graphicFrame>
        <p:nvGraphicFramePr>
          <p:cNvPr id="19" name="Table 18"/>
          <p:cNvGraphicFramePr>
            <a:graphicFrameLocks noGrp="1"/>
          </p:cNvGraphicFramePr>
          <p:nvPr/>
        </p:nvGraphicFramePr>
        <p:xfrm>
          <a:off x="502920" y="3749039"/>
          <a:ext cx="11155680" cy="2176272"/>
        </p:xfrm>
        <a:graphic>
          <a:graphicData uri="http://schemas.openxmlformats.org/drawingml/2006/table">
            <a:tbl>
              <a:tblPr firstRow="1" bandRow="1">
                <a:tableStyleId>{5C22544A-7EE6-4342-B048-85BDC9FD1C3A}</a:tableStyleId>
              </a:tblPr>
              <a:tblGrid>
                <a:gridCol w="4846320"/>
                <a:gridCol w="6309360"/>
              </a:tblGrid>
              <a:tr h="310896">
                <a:tc>
                  <a:txBody>
                    <a:bodyPr/>
                    <a:lstStyle/>
                    <a:p>
                      <a:r>
                        <a:rPr sz="1100" b="1">
                          <a:solidFill>
                            <a:srgbClr val="FFFFFF"/>
                          </a:solidFill>
                          <a:latin typeface="Calibri"/>
                        </a:rPr>
                        <a:t>Platform property</a:t>
                      </a:r>
                    </a:p>
                  </a:txBody>
                  <a:tcPr marL="54864" marR="54864">
                    <a:solidFill>
                      <a:srgbClr val="1A1A2E"/>
                    </a:solidFill>
                  </a:tcPr>
                </a:tc>
                <a:tc>
                  <a:txBody>
                    <a:bodyPr/>
                    <a:lstStyle/>
                    <a:p>
                      <a:r>
                        <a:rPr sz="1100" b="1">
                          <a:solidFill>
                            <a:srgbClr val="FFFFFF"/>
                          </a:solidFill>
                          <a:latin typeface="Calibri"/>
                        </a:rPr>
                        <a:t>Consequence for the server</a:t>
                      </a:r>
                    </a:p>
                  </a:txBody>
                  <a:tcPr marL="54864" marR="54864">
                    <a:solidFill>
                      <a:srgbClr val="1A1A2E"/>
                    </a:solidFill>
                  </a:tcPr>
                </a:tc>
              </a:tr>
              <a:tr h="310896">
                <a:tc>
                  <a:txBody>
                    <a:bodyPr/>
                    <a:lstStyle/>
                    <a:p>
                      <a:r>
                        <a:rPr sz="1000">
                          <a:solidFill>
                            <a:srgbClr val="2B2B3C"/>
                          </a:solidFill>
                          <a:latin typeface="Calibri"/>
                        </a:rPr>
                        <a:t>One route per server; the multiplexed shorthand is gone</a:t>
                      </a:r>
                    </a:p>
                  </a:txBody>
                  <a:tcPr marL="54864" marR="54864" marT="18288" marB="18288">
                    <a:solidFill>
                      <a:srgbClr val="FFFFFF"/>
                    </a:solidFill>
                  </a:tcPr>
                </a:tc>
                <a:tc>
                  <a:txBody>
                    <a:bodyPr/>
                    <a:lstStyle/>
                    <a:p>
                      <a:r>
                        <a:rPr sz="1000">
                          <a:solidFill>
                            <a:srgbClr val="2B2B3C"/>
                          </a:solidFill>
                          <a:latin typeface="Calibri"/>
                        </a:rPr>
                        <a:t>Your server owns its own path segment, addressed at /mcp/{endpoint}</a:t>
                      </a:r>
                    </a:p>
                  </a:txBody>
                  <a:tcPr marL="54864" marR="54864" marT="18288" marB="18288">
                    <a:solidFill>
                      <a:srgbClr val="FFFFFF"/>
                    </a:solidFill>
                  </a:tcPr>
                </a:tc>
              </a:tr>
              <a:tr h="310896">
                <a:tc>
                  <a:txBody>
                    <a:bodyPr/>
                    <a:lstStyle/>
                    <a:p>
                      <a:r>
                        <a:rPr sz="1000">
                          <a:solidFill>
                            <a:srgbClr val="2B2B3C"/>
                          </a:solidFill>
                          <a:latin typeface="Calibri"/>
                        </a:rPr>
                        <a:t>Authorization is per server — the tool name is not in the decision</a:t>
                      </a:r>
                    </a:p>
                  </a:txBody>
                  <a:tcPr marL="54864" marR="54864" marT="18288" marB="18288">
                    <a:solidFill>
                      <a:srgbClr val="F4F5F7"/>
                    </a:solidFill>
                  </a:tcPr>
                </a:tc>
                <a:tc>
                  <a:txBody>
                    <a:bodyPr/>
                    <a:lstStyle/>
                    <a:p>
                      <a:r>
                        <a:rPr sz="1000">
                          <a:solidFill>
                            <a:srgbClr val="2B2B3C"/>
                          </a:solidFill>
                          <a:latin typeface="Calibri"/>
                        </a:rPr>
                        <a:t>A grant covers every tool you expose, now and in future</a:t>
                      </a:r>
                    </a:p>
                  </a:txBody>
                  <a:tcPr marL="54864" marR="54864" marT="18288" marB="18288">
                    <a:solidFill>
                      <a:srgbClr val="F4F5F7"/>
                    </a:solidFill>
                  </a:tcPr>
                </a:tc>
              </a:tr>
              <a:tr h="310896">
                <a:tc>
                  <a:txBody>
                    <a:bodyPr/>
                    <a:lstStyle/>
                    <a:p>
                      <a:r>
                        <a:rPr sz="1000">
                          <a:solidFill>
                            <a:srgbClr val="2B2B3C"/>
                          </a:solidFill>
                          <a:latin typeface="Calibri"/>
                        </a:rPr>
                        <a:t>The control plane is on the request path, no cache, fail-closed</a:t>
                      </a:r>
                    </a:p>
                  </a:txBody>
                  <a:tcPr marL="54864" marR="54864" marT="18288" marB="18288">
                    <a:solidFill>
                      <a:srgbClr val="FFFFFF"/>
                    </a:solidFill>
                  </a:tcPr>
                </a:tc>
                <a:tc>
                  <a:txBody>
                    <a:bodyPr/>
                    <a:lstStyle/>
                    <a:p>
                      <a:r>
                        <a:rPr sz="1000">
                          <a:solidFill>
                            <a:srgbClr val="2B2B3C"/>
                          </a:solidFill>
                          <a:latin typeface="Calibri"/>
                        </a:rPr>
                        <a:t>A portal outage denies rather than fails open — design around it</a:t>
                      </a:r>
                    </a:p>
                  </a:txBody>
                  <a:tcPr marL="54864" marR="54864" marT="18288" marB="18288">
                    <a:solidFill>
                      <a:srgbClr val="FFFFFF"/>
                    </a:solidFill>
                  </a:tcPr>
                </a:tc>
              </a:tr>
              <a:tr h="310896">
                <a:tc>
                  <a:txBody>
                    <a:bodyPr/>
                    <a:lstStyle/>
                    <a:p>
                      <a:r>
                        <a:rPr sz="1000">
                          <a:solidFill>
                            <a:srgbClr val="2B2B3C"/>
                          </a:solidFill>
                          <a:latin typeface="Calibri"/>
                        </a:rPr>
                        <a:t>Configuration reaches gateways by push, not polling</a:t>
                      </a:r>
                    </a:p>
                  </a:txBody>
                  <a:tcPr marL="54864" marR="54864" marT="18288" marB="18288">
                    <a:solidFill>
                      <a:srgbClr val="F4F5F7"/>
                    </a:solidFill>
                  </a:tcPr>
                </a:tc>
                <a:tc>
                  <a:txBody>
                    <a:bodyPr/>
                    <a:lstStyle/>
                    <a:p>
                      <a:r>
                        <a:rPr sz="1000">
                          <a:solidFill>
                            <a:srgbClr val="2B2B3C"/>
                          </a:solidFill>
                          <a:latin typeface="Calibri"/>
                        </a:rPr>
                        <a:t>Registration and withdrawal propagate quickly — but must be measured, not quoted</a:t>
                      </a:r>
                    </a:p>
                  </a:txBody>
                  <a:tcPr marL="54864" marR="54864" marT="18288" marB="18288">
                    <a:solidFill>
                      <a:srgbClr val="F4F5F7"/>
                    </a:solidFill>
                  </a:tcPr>
                </a:tc>
              </a:tr>
              <a:tr h="310896">
                <a:tc>
                  <a:txBody>
                    <a:bodyPr/>
                    <a:lstStyle/>
                    <a:p>
                      <a:r>
                        <a:rPr sz="1000">
                          <a:solidFill>
                            <a:srgbClr val="2B2B3C"/>
                          </a:solidFill>
                          <a:latin typeface="Calibri"/>
                        </a:rPr>
                        <a:t>The platform never probes your server</a:t>
                      </a:r>
                    </a:p>
                  </a:txBody>
                  <a:tcPr marL="54864" marR="54864" marT="18288" marB="18288">
                    <a:solidFill>
                      <a:srgbClr val="FFFFFF"/>
                    </a:solidFill>
                  </a:tcPr>
                </a:tc>
                <a:tc>
                  <a:txBody>
                    <a:bodyPr/>
                    <a:lstStyle/>
                    <a:p>
                      <a:r>
                        <a:rPr sz="1000">
                          <a:solidFill>
                            <a:srgbClr val="2B2B3C"/>
                          </a:solidFill>
                          <a:latin typeface="Calibri"/>
                        </a:rPr>
                        <a:t>Health, restart and capacity are entirely the hosting platform's job</a:t>
                      </a:r>
                    </a:p>
                  </a:txBody>
                  <a:tcPr marL="54864" marR="54864" marT="18288" marB="18288">
                    <a:solidFill>
                      <a:srgbClr val="FFFFFF"/>
                    </a:solidFill>
                  </a:tcPr>
                </a:tc>
              </a:tr>
              <a:tr h="310896">
                <a:tc>
                  <a:txBody>
                    <a:bodyPr/>
                    <a:lstStyle/>
                    <a:p>
                      <a:r>
                        <a:rPr sz="1000">
                          <a:solidFill>
                            <a:srgbClr val="2B2B3C"/>
                          </a:solidFill>
                          <a:latin typeface="Calibri"/>
                        </a:rPr>
                        <a:t>stdio transport is refused at bundle build, silently</a:t>
                      </a:r>
                    </a:p>
                  </a:txBody>
                  <a:tcPr marL="54864" marR="54864" marT="18288" marB="18288">
                    <a:solidFill>
                      <a:srgbClr val="F4F5F7"/>
                    </a:solidFill>
                  </a:tcPr>
                </a:tc>
                <a:tc>
                  <a:txBody>
                    <a:bodyPr/>
                    <a:lstStyle/>
                    <a:p>
                      <a:r>
                        <a:rPr sz="1000">
                          <a:solidFill>
                            <a:srgbClr val="2B2B3C"/>
                          </a:solidFill>
                          <a:latin typeface="Calibri"/>
                        </a:rPr>
                        <a:t>A local-process server never becomes a served one — re-host behind HTTP first</a:t>
                      </a:r>
                    </a:p>
                  </a:txBody>
                  <a:tcPr marL="54864" marR="54864" marT="18288" marB="18288">
                    <a:solidFill>
                      <a:srgbClr val="F4F5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Hosting Substrates — Four Shapes, One Requirement</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7</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00" b="1">
                <a:solidFill>
                  <a:srgbClr val="2B2B3C"/>
                </a:solidFill>
                <a:latin typeface="Calibri"/>
              </a:rPr>
              <a:t>The platform requirement is identical on all four: the gateway must reach your server, and nothing else should be able to. What differs is how each half is achieved.</a:t>
            </a:r>
          </a:p>
        </p:txBody>
      </p:sp>
      <p:graphicFrame>
        <p:nvGraphicFramePr>
          <p:cNvPr id="10" name="Table 9"/>
          <p:cNvGraphicFramePr>
            <a:graphicFrameLocks noGrp="1"/>
          </p:cNvGraphicFramePr>
          <p:nvPr/>
        </p:nvGraphicFramePr>
        <p:xfrm>
          <a:off x="502920" y="1920240"/>
          <a:ext cx="11247120" cy="2176272"/>
        </p:xfrm>
        <a:graphic>
          <a:graphicData uri="http://schemas.openxmlformats.org/drawingml/2006/table">
            <a:tbl>
              <a:tblPr firstRow="1" bandRow="1">
                <a:tableStyleId>{5C22544A-7EE6-4342-B048-85BDC9FD1C3A}</a:tableStyleId>
              </a:tblPr>
              <a:tblGrid>
                <a:gridCol w="1783080"/>
                <a:gridCol w="2514600"/>
                <a:gridCol w="2377440"/>
                <a:gridCol w="2377440"/>
                <a:gridCol w="2194560"/>
              </a:tblGrid>
              <a:tr h="310896">
                <a:tc>
                  <a:txBody>
                    <a:bodyPr/>
                    <a:lstStyle/>
                    <a:p>
                      <a:r>
                        <a:rPr sz="1000" b="1">
                          <a:solidFill>
                            <a:srgbClr val="FFFFFF"/>
                          </a:solidFill>
                          <a:latin typeface="Calibri"/>
                        </a:rPr>
                        <a:t> </a:t>
                      </a:r>
                    </a:p>
                  </a:txBody>
                  <a:tcPr marL="54864" marR="54864">
                    <a:solidFill>
                      <a:srgbClr val="1A1A2E"/>
                    </a:solidFill>
                  </a:tcPr>
                </a:tc>
                <a:tc>
                  <a:txBody>
                    <a:bodyPr/>
                    <a:lstStyle/>
                    <a:p>
                      <a:r>
                        <a:rPr sz="1000" b="1">
                          <a:solidFill>
                            <a:srgbClr val="FFFFFF"/>
                          </a:solidFill>
                          <a:latin typeface="Calibri"/>
                        </a:rPr>
                        <a:t>S1 · OpenShift</a:t>
                      </a:r>
                    </a:p>
                  </a:txBody>
                  <a:tcPr marL="54864" marR="54864">
                    <a:solidFill>
                      <a:srgbClr val="1A1A2E"/>
                    </a:solidFill>
                  </a:tcPr>
                </a:tc>
                <a:tc>
                  <a:txBody>
                    <a:bodyPr/>
                    <a:lstStyle/>
                    <a:p>
                      <a:r>
                        <a:rPr sz="1000" b="1">
                          <a:solidFill>
                            <a:srgbClr val="FFFFFF"/>
                          </a:solidFill>
                          <a:latin typeface="Calibri"/>
                        </a:rPr>
                        <a:t>S2 · EKS in-cluster</a:t>
                      </a:r>
                    </a:p>
                  </a:txBody>
                  <a:tcPr marL="54864" marR="54864">
                    <a:solidFill>
                      <a:srgbClr val="1A1A2E"/>
                    </a:solidFill>
                  </a:tcPr>
                </a:tc>
                <a:tc>
                  <a:txBody>
                    <a:bodyPr/>
                    <a:lstStyle/>
                    <a:p>
                      <a:r>
                        <a:rPr sz="1000" b="1">
                          <a:solidFill>
                            <a:srgbClr val="FFFFFF"/>
                          </a:solidFill>
                          <a:latin typeface="Calibri"/>
                        </a:rPr>
                        <a:t>S3 · Bedrock AgentCore</a:t>
                      </a:r>
                    </a:p>
                  </a:txBody>
                  <a:tcPr marL="54864" marR="54864">
                    <a:solidFill>
                      <a:srgbClr val="1A1A2E"/>
                    </a:solidFill>
                  </a:tcPr>
                </a:tc>
                <a:tc>
                  <a:txBody>
                    <a:bodyPr/>
                    <a:lstStyle/>
                    <a:p>
                      <a:r>
                        <a:rPr sz="1000" b="1">
                          <a:solidFill>
                            <a:srgbClr val="FFFFFF"/>
                          </a:solidFill>
                          <a:latin typeface="Calibri"/>
                        </a:rPr>
                        <a:t>S4 · Vendor-hosted</a:t>
                      </a:r>
                    </a:p>
                  </a:txBody>
                  <a:tcPr marL="54864" marR="54864">
                    <a:solidFill>
                      <a:srgbClr val="1A1A2E"/>
                    </a:solidFill>
                  </a:tcPr>
                </a:tc>
              </a:tr>
              <a:tr h="310896">
                <a:tc>
                  <a:txBody>
                    <a:bodyPr/>
                    <a:lstStyle/>
                    <a:p>
                      <a:r>
                        <a:rPr sz="900">
                          <a:solidFill>
                            <a:srgbClr val="2B2B3C"/>
                          </a:solidFill>
                          <a:latin typeface="Calibri"/>
                        </a:rPr>
                        <a:t>Live today</a:t>
                      </a:r>
                    </a:p>
                  </a:txBody>
                  <a:tcPr marL="54864" marR="54864" marT="18288" marB="18288">
                    <a:solidFill>
                      <a:srgbClr val="FFFFFF"/>
                    </a:solidFill>
                  </a:tcPr>
                </a:tc>
                <a:tc>
                  <a:txBody>
                    <a:bodyPr/>
                    <a:lstStyle/>
                    <a:p>
                      <a:r>
                        <a:rPr sz="900">
                          <a:solidFill>
                            <a:srgbClr val="2B2B3C"/>
                          </a:solidFill>
                          <a:latin typeface="Calibri"/>
                        </a:rPr>
                        <a:t>Yes — pharmacy-mcp-server</a:t>
                      </a:r>
                    </a:p>
                  </a:txBody>
                  <a:tcPr marL="54864" marR="54864" marT="18288" marB="18288">
                    <a:solidFill>
                      <a:srgbClr val="FFFFFF"/>
                    </a:solidFill>
                  </a:tcPr>
                </a:tc>
                <a:tc>
                  <a:txBody>
                    <a:bodyPr/>
                    <a:lstStyle/>
                    <a:p>
                      <a:r>
                        <a:rPr sz="900">
                          <a:solidFill>
                            <a:srgbClr val="2B2B3C"/>
                          </a:solidFill>
                          <a:latin typeface="Calibri"/>
                        </a:rPr>
                        <a:t>Yes — claims / underwriting</a:t>
                      </a:r>
                    </a:p>
                  </a:txBody>
                  <a:tcPr marL="54864" marR="54864" marT="18288" marB="18288">
                    <a:solidFill>
                      <a:srgbClr val="FFFFFF"/>
                    </a:solidFill>
                  </a:tcPr>
                </a:tc>
                <a:tc>
                  <a:txBody>
                    <a:bodyPr/>
                    <a:lstStyle/>
                    <a:p>
                      <a:r>
                        <a:rPr sz="900">
                          <a:solidFill>
                            <a:srgbClr val="2B2B3C"/>
                          </a:solidFill>
                          <a:latin typeface="Calibri"/>
                        </a:rPr>
                        <a:t>Partial</a:t>
                      </a:r>
                    </a:p>
                  </a:txBody>
                  <a:tcPr marL="54864" marR="54864" marT="18288" marB="18288">
                    <a:solidFill>
                      <a:srgbClr val="FFFFFF"/>
                    </a:solidFill>
                  </a:tcPr>
                </a:tc>
                <a:tc>
                  <a:txBody>
                    <a:bodyPr/>
                    <a:lstStyle/>
                    <a:p>
                      <a:r>
                        <a:rPr sz="900">
                          <a:solidFill>
                            <a:srgbClr val="2B2B3C"/>
                          </a:solidFill>
                          <a:latin typeface="Calibri"/>
                        </a:rPr>
                        <a:t>NO — deferred</a:t>
                      </a:r>
                    </a:p>
                  </a:txBody>
                  <a:tcPr marL="54864" marR="54864" marT="18288" marB="18288">
                    <a:solidFill>
                      <a:srgbClr val="FFFFFF"/>
                    </a:solidFill>
                  </a:tcPr>
                </a:tc>
              </a:tr>
              <a:tr h="310896">
                <a:tc>
                  <a:txBody>
                    <a:bodyPr/>
                    <a:lstStyle/>
                    <a:p>
                      <a:r>
                        <a:rPr sz="900">
                          <a:solidFill>
                            <a:srgbClr val="2B2B3C"/>
                          </a:solidFill>
                          <a:latin typeface="Calibri"/>
                        </a:rPr>
                        <a:t>Typical framework</a:t>
                      </a:r>
                    </a:p>
                  </a:txBody>
                  <a:tcPr marL="54864" marR="54864" marT="18288" marB="18288">
                    <a:solidFill>
                      <a:srgbClr val="F4F5F7"/>
                    </a:solidFill>
                  </a:tcPr>
                </a:tc>
                <a:tc>
                  <a:txBody>
                    <a:bodyPr/>
                    <a:lstStyle/>
                    <a:p>
                      <a:r>
                        <a:rPr sz="900">
                          <a:solidFill>
                            <a:srgbClr val="2B2B3C"/>
                          </a:solidFill>
                          <a:latin typeface="Calibri"/>
                        </a:rPr>
                        <a:t>FastMCP behind corp ingress</a:t>
                      </a:r>
                    </a:p>
                  </a:txBody>
                  <a:tcPr marL="54864" marR="54864" marT="18288" marB="18288">
                    <a:solidFill>
                      <a:srgbClr val="F4F5F7"/>
                    </a:solidFill>
                  </a:tcPr>
                </a:tc>
                <a:tc>
                  <a:txBody>
                    <a:bodyPr/>
                    <a:lstStyle/>
                    <a:p>
                      <a:r>
                        <a:rPr sz="900">
                          <a:solidFill>
                            <a:srgbClr val="2B2B3C"/>
                          </a:solidFill>
                          <a:latin typeface="Calibri"/>
                        </a:rPr>
                        <a:t>FastMCP / MCP SDK, ClusterIP</a:t>
                      </a:r>
                    </a:p>
                  </a:txBody>
                  <a:tcPr marL="54864" marR="54864" marT="18288" marB="18288">
                    <a:solidFill>
                      <a:srgbClr val="F4F5F7"/>
                    </a:solidFill>
                  </a:tcPr>
                </a:tc>
                <a:tc>
                  <a:txBody>
                    <a:bodyPr/>
                    <a:lstStyle/>
                    <a:p>
                      <a:r>
                        <a:rPr sz="900">
                          <a:solidFill>
                            <a:srgbClr val="2B2B3C"/>
                          </a:solidFill>
                          <a:latin typeface="Calibri"/>
                        </a:rPr>
                        <a:t>AgentCore runtime or Gateway</a:t>
                      </a:r>
                    </a:p>
                  </a:txBody>
                  <a:tcPr marL="54864" marR="54864" marT="18288" marB="18288">
                    <a:solidFill>
                      <a:srgbClr val="F4F5F7"/>
                    </a:solidFill>
                  </a:tcPr>
                </a:tc>
                <a:tc>
                  <a:txBody>
                    <a:bodyPr/>
                    <a:lstStyle/>
                    <a:p>
                      <a:r>
                        <a:rPr sz="900">
                          <a:solidFill>
                            <a:srgbClr val="2B2B3C"/>
                          </a:solidFill>
                          <a:latin typeface="Calibri"/>
                        </a:rPr>
                        <a:t>Vendor's own</a:t>
                      </a:r>
                    </a:p>
                  </a:txBody>
                  <a:tcPr marL="54864" marR="54864" marT="18288" marB="18288">
                    <a:solidFill>
                      <a:srgbClr val="F4F5F7"/>
                    </a:solidFill>
                  </a:tcPr>
                </a:tc>
              </a:tr>
              <a:tr h="310896">
                <a:tc>
                  <a:txBody>
                    <a:bodyPr/>
                    <a:lstStyle/>
                    <a:p>
                      <a:r>
                        <a:rPr sz="900">
                          <a:solidFill>
                            <a:srgbClr val="2B2B3C"/>
                          </a:solidFill>
                          <a:latin typeface="Calibri"/>
                        </a:rPr>
                        <a:t>TLS to the backend</a:t>
                      </a:r>
                    </a:p>
                  </a:txBody>
                  <a:tcPr marL="54864" marR="54864" marT="18288" marB="18288">
                    <a:solidFill>
                      <a:srgbClr val="FFFFFF"/>
                    </a:solidFill>
                  </a:tcPr>
                </a:tc>
                <a:tc>
                  <a:txBody>
                    <a:bodyPr/>
                    <a:lstStyle/>
                    <a:p>
                      <a:r>
                        <a:rPr sz="900">
                          <a:solidFill>
                            <a:srgbClr val="2B2B3C"/>
                          </a:solidFill>
                          <a:latin typeface="Calibri"/>
                        </a:rPr>
                        <a:t>Required · Sun Life PKI</a:t>
                      </a:r>
                    </a:p>
                  </a:txBody>
                  <a:tcPr marL="54864" marR="54864" marT="18288" marB="18288">
                    <a:solidFill>
                      <a:srgbClr val="FFFFFF"/>
                    </a:solidFill>
                  </a:tcPr>
                </a:tc>
                <a:tc>
                  <a:txBody>
                    <a:bodyPr/>
                    <a:lstStyle/>
                    <a:p>
                      <a:r>
                        <a:rPr sz="900">
                          <a:solidFill>
                            <a:srgbClr val="2B2B3C"/>
                          </a:solidFill>
                          <a:latin typeface="Calibri"/>
                        </a:rPr>
                        <a:t>Optional — hop stays in the pod network</a:t>
                      </a:r>
                    </a:p>
                  </a:txBody>
                  <a:tcPr marL="54864" marR="54864" marT="18288" marB="18288">
                    <a:solidFill>
                      <a:srgbClr val="FFFFFF"/>
                    </a:solidFill>
                  </a:tcPr>
                </a:tc>
                <a:tc>
                  <a:txBody>
                    <a:bodyPr/>
                    <a:lstStyle/>
                    <a:p>
                      <a:r>
                        <a:rPr sz="900">
                          <a:solidFill>
                            <a:srgbClr val="2B2B3C"/>
                          </a:solidFill>
                          <a:latin typeface="Calibri"/>
                        </a:rPr>
                        <a:t>Required · public CA</a:t>
                      </a:r>
                    </a:p>
                  </a:txBody>
                  <a:tcPr marL="54864" marR="54864" marT="18288" marB="18288">
                    <a:solidFill>
                      <a:srgbClr val="FFFFFF"/>
                    </a:solidFill>
                  </a:tcPr>
                </a:tc>
                <a:tc>
                  <a:txBody>
                    <a:bodyPr/>
                    <a:lstStyle/>
                    <a:p>
                      <a:r>
                        <a:rPr sz="900">
                          <a:solidFill>
                            <a:srgbClr val="2B2B3C"/>
                          </a:solidFill>
                          <a:latin typeface="Calibri"/>
                        </a:rPr>
                        <a:t>Required · public CA</a:t>
                      </a:r>
                    </a:p>
                  </a:txBody>
                  <a:tcPr marL="54864" marR="54864" marT="18288" marB="18288">
                    <a:solidFill>
                      <a:srgbClr val="FFFFFF"/>
                    </a:solidFill>
                  </a:tcPr>
                </a:tc>
              </a:tr>
              <a:tr h="310896">
                <a:tc>
                  <a:txBody>
                    <a:bodyPr/>
                    <a:lstStyle/>
                    <a:p>
                      <a:r>
                        <a:rPr sz="900">
                          <a:solidFill>
                            <a:srgbClr val="2B2B3C"/>
                          </a:solidFill>
                          <a:latin typeface="Calibri"/>
                        </a:rPr>
                        <a:t>Reachability control</a:t>
                      </a:r>
                    </a:p>
                  </a:txBody>
                  <a:tcPr marL="54864" marR="54864" marT="18288" marB="18288">
                    <a:solidFill>
                      <a:srgbClr val="F4F5F7"/>
                    </a:solidFill>
                  </a:tcPr>
                </a:tc>
                <a:tc>
                  <a:txBody>
                    <a:bodyPr/>
                    <a:lstStyle/>
                    <a:p>
                      <a:r>
                        <a:rPr sz="900">
                          <a:solidFill>
                            <a:srgbClr val="2B2B3C"/>
                          </a:solidFill>
                          <a:latin typeface="Calibri"/>
                        </a:rPr>
                        <a:t>NetworkPolicy + route restriction</a:t>
                      </a:r>
                    </a:p>
                  </a:txBody>
                  <a:tcPr marL="54864" marR="54864" marT="18288" marB="18288">
                    <a:solidFill>
                      <a:srgbClr val="F4F5F7"/>
                    </a:solidFill>
                  </a:tcPr>
                </a:tc>
                <a:tc>
                  <a:txBody>
                    <a:bodyPr/>
                    <a:lstStyle/>
                    <a:p>
                      <a:r>
                        <a:rPr sz="900">
                          <a:solidFill>
                            <a:srgbClr val="2B2B3C"/>
                          </a:solidFill>
                          <a:latin typeface="Calibri"/>
                        </a:rPr>
                        <a:t>NetworkPolicy — the entire boundary</a:t>
                      </a:r>
                    </a:p>
                  </a:txBody>
                  <a:tcPr marL="54864" marR="54864" marT="18288" marB="18288">
                    <a:solidFill>
                      <a:srgbClr val="F4F5F7"/>
                    </a:solidFill>
                  </a:tcPr>
                </a:tc>
                <a:tc>
                  <a:txBody>
                    <a:bodyPr/>
                    <a:lstStyle/>
                    <a:p>
                      <a:r>
                        <a:rPr sz="900">
                          <a:solidFill>
                            <a:srgbClr val="2B2B3C"/>
                          </a:solidFill>
                          <a:latin typeface="Calibri"/>
                        </a:rPr>
                        <a:t>VPC endpoint / security group</a:t>
                      </a:r>
                    </a:p>
                  </a:txBody>
                  <a:tcPr marL="54864" marR="54864" marT="18288" marB="18288">
                    <a:solidFill>
                      <a:srgbClr val="F4F5F7"/>
                    </a:solidFill>
                  </a:tcPr>
                </a:tc>
                <a:tc>
                  <a:txBody>
                    <a:bodyPr/>
                    <a:lstStyle/>
                    <a:p>
                      <a:r>
                        <a:rPr sz="900">
                          <a:solidFill>
                            <a:srgbClr val="2B2B3C"/>
                          </a:solidFill>
                          <a:latin typeface="Calibri"/>
                        </a:rPr>
                        <a:t>Vendor-side allowlist</a:t>
                      </a:r>
                    </a:p>
                  </a:txBody>
                  <a:tcPr marL="54864" marR="54864" marT="18288" marB="18288">
                    <a:solidFill>
                      <a:srgbClr val="F4F5F7"/>
                    </a:solidFill>
                  </a:tcPr>
                </a:tc>
              </a:tr>
              <a:tr h="310896">
                <a:tc>
                  <a:txBody>
                    <a:bodyPr/>
                    <a:lstStyle/>
                    <a:p>
                      <a:r>
                        <a:rPr sz="900">
                          <a:solidFill>
                            <a:srgbClr val="2B2B3C"/>
                          </a:solidFill>
                          <a:latin typeface="Calibri"/>
                        </a:rPr>
                        <a:t>Typical identity mode</a:t>
                      </a:r>
                    </a:p>
                  </a:txBody>
                  <a:tcPr marL="54864" marR="54864" marT="18288" marB="18288">
                    <a:solidFill>
                      <a:srgbClr val="FFFFFF"/>
                    </a:solidFill>
                  </a:tcPr>
                </a:tc>
                <a:tc>
                  <a:txBody>
                    <a:bodyPr/>
                    <a:lstStyle/>
                    <a:p>
                      <a:r>
                        <a:rPr sz="900">
                          <a:solidFill>
                            <a:srgbClr val="2B2B3C"/>
                          </a:solidFill>
                          <a:latin typeface="Calibri"/>
                        </a:rPr>
                        <a:t>delegated_exchange or gateway_identity</a:t>
                      </a:r>
                    </a:p>
                  </a:txBody>
                  <a:tcPr marL="54864" marR="54864" marT="18288" marB="18288">
                    <a:solidFill>
                      <a:srgbClr val="FFFFFF"/>
                    </a:solidFill>
                  </a:tcPr>
                </a:tc>
                <a:tc>
                  <a:txBody>
                    <a:bodyPr/>
                    <a:lstStyle/>
                    <a:p>
                      <a:r>
                        <a:rPr sz="900">
                          <a:solidFill>
                            <a:srgbClr val="2B2B3C"/>
                          </a:solidFill>
                          <a:latin typeface="Calibri"/>
                        </a:rPr>
                        <a:t>gateway_identity</a:t>
                      </a:r>
                    </a:p>
                  </a:txBody>
                  <a:tcPr marL="54864" marR="54864" marT="18288" marB="18288">
                    <a:solidFill>
                      <a:srgbClr val="FFFFFF"/>
                    </a:solidFill>
                  </a:tcPr>
                </a:tc>
                <a:tc>
                  <a:txBody>
                    <a:bodyPr/>
                    <a:lstStyle/>
                    <a:p>
                      <a:r>
                        <a:rPr sz="900">
                          <a:solidFill>
                            <a:srgbClr val="2B2B3C"/>
                          </a:solidFill>
                          <a:latin typeface="Calibri"/>
                        </a:rPr>
                        <a:t>token_forward or none</a:t>
                      </a:r>
                    </a:p>
                  </a:txBody>
                  <a:tcPr marL="54864" marR="54864" marT="18288" marB="18288">
                    <a:solidFill>
                      <a:srgbClr val="FFFFFF"/>
                    </a:solidFill>
                  </a:tcPr>
                </a:tc>
                <a:tc>
                  <a:txBody>
                    <a:bodyPr/>
                    <a:lstStyle/>
                    <a:p>
                      <a:r>
                        <a:rPr sz="900">
                          <a:solidFill>
                            <a:srgbClr val="2B2B3C"/>
                          </a:solidFill>
                          <a:latin typeface="Calibri"/>
                        </a:rPr>
                        <a:t>NONE AVAILABLE</a:t>
                      </a:r>
                    </a:p>
                  </a:txBody>
                  <a:tcPr marL="54864" marR="54864" marT="18288" marB="18288">
                    <a:solidFill>
                      <a:srgbClr val="FFFFFF"/>
                    </a:solidFill>
                  </a:tcPr>
                </a:tc>
              </a:tr>
              <a:tr h="310896">
                <a:tc>
                  <a:txBody>
                    <a:bodyPr/>
                    <a:lstStyle/>
                    <a:p>
                      <a:r>
                        <a:rPr sz="900">
                          <a:solidFill>
                            <a:srgbClr val="2B2B3C"/>
                          </a:solidFill>
                          <a:latin typeface="Calibri"/>
                        </a:rPr>
                        <a:t>Blocker</a:t>
                      </a:r>
                    </a:p>
                  </a:txBody>
                  <a:tcPr marL="54864" marR="54864" marT="18288" marB="18288">
                    <a:solidFill>
                      <a:srgbClr val="F4F5F7"/>
                    </a:solidFill>
                  </a:tcPr>
                </a:tc>
                <a:tc>
                  <a:txBody>
                    <a:bodyPr/>
                    <a:lstStyle/>
                    <a:p>
                      <a:r>
                        <a:rPr sz="900">
                          <a:solidFill>
                            <a:srgbClr val="2B2B3C"/>
                          </a:solidFill>
                          <a:latin typeface="Calibri"/>
                        </a:rPr>
                        <a:t>None</a:t>
                      </a:r>
                    </a:p>
                  </a:txBody>
                  <a:tcPr marL="54864" marR="54864" marT="18288" marB="18288">
                    <a:solidFill>
                      <a:srgbClr val="F4F5F7"/>
                    </a:solidFill>
                  </a:tcPr>
                </a:tc>
                <a:tc>
                  <a:txBody>
                    <a:bodyPr/>
                    <a:lstStyle/>
                    <a:p>
                      <a:r>
                        <a:rPr sz="900">
                          <a:solidFill>
                            <a:srgbClr val="2B2B3C"/>
                          </a:solidFill>
                          <a:latin typeface="Calibri"/>
                        </a:rPr>
                        <a:t>None</a:t>
                      </a:r>
                    </a:p>
                  </a:txBody>
                  <a:tcPr marL="54864" marR="54864" marT="18288" marB="18288">
                    <a:solidFill>
                      <a:srgbClr val="F4F5F7"/>
                    </a:solidFill>
                  </a:tcPr>
                </a:tc>
                <a:tc>
                  <a:txBody>
                    <a:bodyPr/>
                    <a:lstStyle/>
                    <a:p>
                      <a:r>
                        <a:rPr sz="900">
                          <a:solidFill>
                            <a:srgbClr val="2B2B3C"/>
                          </a:solidFill>
                          <a:latin typeface="Calibri"/>
                        </a:rPr>
                        <a:t>Governed-route decision open</a:t>
                      </a:r>
                    </a:p>
                  </a:txBody>
                  <a:tcPr marL="54864" marR="54864" marT="18288" marB="18288">
                    <a:solidFill>
                      <a:srgbClr val="F4F5F7"/>
                    </a:solidFill>
                  </a:tcPr>
                </a:tc>
                <a:tc>
                  <a:txBody>
                    <a:bodyPr/>
                    <a:lstStyle/>
                    <a:p>
                      <a:r>
                        <a:rPr sz="900">
                          <a:solidFill>
                            <a:srgbClr val="2B2B3C"/>
                          </a:solidFill>
                          <a:latin typeface="Calibri"/>
                        </a:rPr>
                        <a:t>Platform capability not implemented</a:t>
                      </a:r>
                    </a:p>
                  </a:txBody>
                  <a:tcPr marL="54864" marR="54864" marT="18288" marB="18288">
                    <a:solidFill>
                      <a:srgbClr val="F4F5F7"/>
                    </a:solidFill>
                  </a:tcPr>
                </a:tc>
              </a:tr>
            </a:tbl>
          </a:graphicData>
        </a:graphic>
      </p:graphicFrame>
      <p:sp>
        <p:nvSpPr>
          <p:cNvPr id="11" name="Rectangle 10"/>
          <p:cNvSpPr/>
          <p:nvPr/>
        </p:nvSpPr>
        <p:spPr>
          <a:xfrm>
            <a:off x="502920" y="4434840"/>
            <a:ext cx="5486400" cy="160020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4434840"/>
            <a:ext cx="5486400" cy="762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54456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The one that has cost real time — S1 TLS</a:t>
            </a:r>
          </a:p>
        </p:txBody>
      </p:sp>
      <p:sp>
        <p:nvSpPr>
          <p:cNvPr id="14" name="TextBox 13"/>
          <p:cNvSpPr txBox="1"/>
          <p:nvPr/>
        </p:nvSpPr>
        <p:spPr>
          <a:xfrm>
            <a:off x="640080" y="4965192"/>
            <a:ext cx="5212080" cy="978408"/>
          </a:xfrm>
          <a:prstGeom prst="rect">
            <a:avLst/>
          </a:prstGeom>
          <a:noFill/>
        </p:spPr>
        <p:txBody>
          <a:bodyPr wrap="square">
            <a:spAutoFit/>
          </a:bodyPr>
          <a:lstStyle/>
          <a:p>
            <a:pPr>
              <a:spcAft>
                <a:spcPts val="300"/>
              </a:spcAft>
            </a:pPr>
            <a:r>
              <a:rPr sz="950">
                <a:solidFill>
                  <a:srgbClr val="2B2B3C"/>
                </a:solidFill>
                <a:latin typeface="Calibri"/>
              </a:rPr>
              <a:t>• Corporate ingress leaves are issued by Sun Life Financial Issuing CA3, which no public root store carries</a:t>
            </a:r>
          </a:p>
          <a:p>
            <a:pPr>
              <a:spcAft>
                <a:spcPts val="300"/>
              </a:spcAft>
            </a:pPr>
            <a:r>
              <a:rPr sz="950">
                <a:solidFill>
                  <a:srgbClr val="2B2B3C"/>
                </a:solidFill>
                <a:latin typeface="Calibri"/>
              </a:rPr>
              <a:t>• The gateway trust bundle must MERGE, never substitute — substituting trades public TLS (Bedrock) for internal TLS</a:t>
            </a:r>
          </a:p>
          <a:p>
            <a:pPr>
              <a:spcAft>
                <a:spcPts val="300"/>
              </a:spcAft>
            </a:pPr>
            <a:r>
              <a:rPr sz="950">
                <a:solidFill>
                  <a:srgbClr val="2B2B3C"/>
                </a:solidFill>
                <a:latin typeface="Calibri"/>
              </a:rPr>
              <a:t>• Symptom when missing: 500 upstream service error, naming neither TLS nor the certificate</a:t>
            </a:r>
          </a:p>
        </p:txBody>
      </p:sp>
      <p:sp>
        <p:nvSpPr>
          <p:cNvPr id="15" name="Rectangle 14"/>
          <p:cNvSpPr/>
          <p:nvPr/>
        </p:nvSpPr>
        <p:spPr>
          <a:xfrm>
            <a:off x="6172200" y="4434840"/>
            <a:ext cx="5486400" cy="1600200"/>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4434840"/>
            <a:ext cx="5486400" cy="76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454456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Why S4 is deferred rather than merely awkward</a:t>
            </a:r>
          </a:p>
        </p:txBody>
      </p:sp>
      <p:sp>
        <p:nvSpPr>
          <p:cNvPr id="18" name="TextBox 17"/>
          <p:cNvSpPr txBox="1"/>
          <p:nvPr/>
        </p:nvSpPr>
        <p:spPr>
          <a:xfrm>
            <a:off x="6309360" y="4965192"/>
            <a:ext cx="5212080" cy="978408"/>
          </a:xfrm>
          <a:prstGeom prst="rect">
            <a:avLst/>
          </a:prstGeom>
          <a:noFill/>
        </p:spPr>
        <p:txBody>
          <a:bodyPr wrap="square">
            <a:spAutoFit/>
          </a:bodyPr>
          <a:lstStyle/>
          <a:p>
            <a:pPr>
              <a:spcAft>
                <a:spcPts val="300"/>
              </a:spcAft>
            </a:pPr>
            <a:r>
              <a:rPr sz="950">
                <a:solidFill>
                  <a:srgbClr val="2B2B3C"/>
                </a:solidFill>
                <a:latin typeface="Calibri"/>
              </a:rPr>
              <a:t>• A vendor endpoint is fronted by the vendor's own authorization server, which cannot validate a Luminate token</a:t>
            </a:r>
          </a:p>
          <a:p>
            <a:pPr>
              <a:spcAft>
                <a:spcPts val="300"/>
              </a:spcAft>
            </a:pPr>
            <a:r>
              <a:rPr sz="950">
                <a:solidFill>
                  <a:srgbClr val="2B2B3C"/>
                </a:solidFill>
                <a:latin typeface="Calibri"/>
              </a:rPr>
              <a:t>• The two platform modes that would solve it are enum-only and send NO credential at all</a:t>
            </a:r>
          </a:p>
          <a:p>
            <a:pPr>
              <a:spcAft>
                <a:spcPts val="300"/>
              </a:spcAft>
            </a:pPr>
            <a:r>
              <a:rPr sz="950">
                <a:solidFill>
                  <a:srgbClr val="2B2B3C"/>
                </a:solidFill>
                <a:latin typeface="Calibri"/>
              </a:rPr>
              <a:t>• There is no safe local workaround — an out-of-band shared secret would be ungoverned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Identity — What Reaches Your Server</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8</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00" b="1">
                <a:solidFill>
                  <a:srgbClr val="2B2B3C"/>
                </a:solidFill>
                <a:latin typeface="Calibri"/>
              </a:rPr>
              <a:t>The identity mode on the catalogue record decides what, if anything, your server receives — and therefore what it must validate. Two of the five modes are not implemented.</a:t>
            </a:r>
          </a:p>
        </p:txBody>
      </p:sp>
      <p:graphicFrame>
        <p:nvGraphicFramePr>
          <p:cNvPr id="10" name="Table 9"/>
          <p:cNvGraphicFramePr>
            <a:graphicFrameLocks noGrp="1"/>
          </p:cNvGraphicFramePr>
          <p:nvPr/>
        </p:nvGraphicFramePr>
        <p:xfrm>
          <a:off x="502920" y="1920240"/>
          <a:ext cx="11155680" cy="1865376"/>
        </p:xfrm>
        <a:graphic>
          <a:graphicData uri="http://schemas.openxmlformats.org/drawingml/2006/table">
            <a:tbl>
              <a:tblPr firstRow="1" bandRow="1">
                <a:tableStyleId>{5C22544A-7EE6-4342-B048-85BDC9FD1C3A}</a:tableStyleId>
              </a:tblPr>
              <a:tblGrid>
                <a:gridCol w="2286000"/>
                <a:gridCol w="4114800"/>
                <a:gridCol w="731520"/>
                <a:gridCol w="4023360"/>
              </a:tblGrid>
              <a:tr h="310896">
                <a:tc>
                  <a:txBody>
                    <a:bodyPr/>
                    <a:lstStyle/>
                    <a:p>
                      <a:r>
                        <a:rPr sz="1000" b="1">
                          <a:solidFill>
                            <a:srgbClr val="FFFFFF"/>
                          </a:solidFill>
                          <a:latin typeface="Calibri"/>
                        </a:rPr>
                        <a:t>Mode</a:t>
                      </a:r>
                    </a:p>
                  </a:txBody>
                  <a:tcPr marL="54864" marR="54864">
                    <a:solidFill>
                      <a:srgbClr val="1A1A2E"/>
                    </a:solidFill>
                  </a:tcPr>
                </a:tc>
                <a:tc>
                  <a:txBody>
                    <a:bodyPr/>
                    <a:lstStyle/>
                    <a:p>
                      <a:r>
                        <a:rPr sz="1000" b="1">
                          <a:solidFill>
                            <a:srgbClr val="FFFFFF"/>
                          </a:solidFill>
                          <a:latin typeface="Calibri"/>
                        </a:rPr>
                        <a:t>What your server receives</a:t>
                      </a:r>
                    </a:p>
                  </a:txBody>
                  <a:tcPr marL="54864" marR="54864">
                    <a:solidFill>
                      <a:srgbClr val="1A1A2E"/>
                    </a:solidFill>
                  </a:tcPr>
                </a:tc>
                <a:tc>
                  <a:txBody>
                    <a:bodyPr/>
                    <a:lstStyle/>
                    <a:p>
                      <a:r>
                        <a:rPr sz="1000" b="1">
                          <a:solidFill>
                            <a:srgbClr val="FFFFFF"/>
                          </a:solidFill>
                          <a:latin typeface="Calibri"/>
                        </a:rPr>
                        <a:t>Built</a:t>
                      </a:r>
                    </a:p>
                  </a:txBody>
                  <a:tcPr marL="54864" marR="54864">
                    <a:solidFill>
                      <a:srgbClr val="1A1A2E"/>
                    </a:solidFill>
                  </a:tcPr>
                </a:tc>
                <a:tc>
                  <a:txBody>
                    <a:bodyPr/>
                    <a:lstStyle/>
                    <a:p>
                      <a:r>
                        <a:rPr sz="1000" b="1">
                          <a:solidFill>
                            <a:srgbClr val="FFFFFF"/>
                          </a:solidFill>
                          <a:latin typeface="Calibri"/>
                        </a:rPr>
                        <a:t>What you must validate</a:t>
                      </a:r>
                    </a:p>
                  </a:txBody>
                  <a:tcPr marL="54864" marR="54864">
                    <a:solidFill>
                      <a:srgbClr val="1A1A2E"/>
                    </a:solidFill>
                  </a:tcPr>
                </a:tc>
              </a:tr>
              <a:tr h="310896">
                <a:tc>
                  <a:txBody>
                    <a:bodyPr/>
                    <a:lstStyle/>
                    <a:p>
                      <a:r>
                        <a:rPr sz="900">
                          <a:solidFill>
                            <a:srgbClr val="2B2B3C"/>
                          </a:solidFill>
                          <a:latin typeface="Calibri"/>
                        </a:rPr>
                        <a:t>delegated_exchange  (platform default)</a:t>
                      </a:r>
                    </a:p>
                  </a:txBody>
                  <a:tcPr marL="54864" marR="54864" marT="18288" marB="18288">
                    <a:solidFill>
                      <a:srgbClr val="FFFFFF"/>
                    </a:solidFill>
                  </a:tcPr>
                </a:tc>
                <a:tc>
                  <a:txBody>
                    <a:bodyPr/>
                    <a:lstStyle/>
                    <a:p>
                      <a:r>
                        <a:rPr sz="900">
                          <a:solidFill>
                            <a:srgbClr val="2B2B3C"/>
                          </a:solidFill>
                          <a:latin typeface="Calibri"/>
                        </a:rPr>
                        <a:t>A bearer token obtained by RFC 8693 exchange, minted for the invoking caller and audienced to YOUR deployment</a:t>
                      </a:r>
                    </a:p>
                  </a:txBody>
                  <a:tcPr marL="54864" marR="54864" marT="18288" marB="18288">
                    <a:solidFill>
                      <a:srgbClr val="FFFFFF"/>
                    </a:solidFill>
                  </a:tcPr>
                </a:tc>
                <a:tc>
                  <a:txBody>
                    <a:bodyPr/>
                    <a:lstStyle/>
                    <a:p>
                      <a:r>
                        <a:rPr sz="900">
                          <a:solidFill>
                            <a:srgbClr val="2B2B3C"/>
                          </a:solidFill>
                          <a:latin typeface="Calibri"/>
                        </a:rPr>
                        <a:t>Yes</a:t>
                      </a:r>
                    </a:p>
                  </a:txBody>
                  <a:tcPr marL="54864" marR="54864" marT="18288" marB="18288">
                    <a:solidFill>
                      <a:srgbClr val="FFFFFF"/>
                    </a:solidFill>
                  </a:tcPr>
                </a:tc>
                <a:tc>
                  <a:txBody>
                    <a:bodyPr/>
                    <a:lstStyle/>
                    <a:p>
                      <a:r>
                        <a:rPr sz="900">
                          <a:solidFill>
                            <a:srgbClr val="2B2B3C"/>
                          </a:solidFill>
                          <a:latin typeface="Calibri"/>
                        </a:rPr>
                        <a:t>Signature (portal JWKS), issuer, aud = your deployment, expiry</a:t>
                      </a:r>
                    </a:p>
                  </a:txBody>
                  <a:tcPr marL="54864" marR="54864" marT="18288" marB="18288">
                    <a:solidFill>
                      <a:srgbClr val="FFFFFF"/>
                    </a:solidFill>
                  </a:tcPr>
                </a:tc>
              </a:tr>
              <a:tr h="310896">
                <a:tc>
                  <a:txBody>
                    <a:bodyPr/>
                    <a:lstStyle/>
                    <a:p>
                      <a:r>
                        <a:rPr sz="900">
                          <a:solidFill>
                            <a:srgbClr val="2B2B3C"/>
                          </a:solidFill>
                          <a:latin typeface="Calibri"/>
                        </a:rPr>
                        <a:t>token_forward</a:t>
                      </a:r>
                    </a:p>
                  </a:txBody>
                  <a:tcPr marL="54864" marR="54864" marT="18288" marB="18288">
                    <a:solidFill>
                      <a:srgbClr val="F4F5F7"/>
                    </a:solidFill>
                  </a:tcPr>
                </a:tc>
                <a:tc>
                  <a:txBody>
                    <a:bodyPr/>
                    <a:lstStyle/>
                    <a:p>
                      <a:r>
                        <a:rPr sz="900">
                          <a:solidFill>
                            <a:srgbClr val="2B2B3C"/>
                          </a:solidFill>
                          <a:latin typeface="Calibri"/>
                        </a:rPr>
                        <a:t>The caller's own validated JWT, unchanged</a:t>
                      </a:r>
                    </a:p>
                  </a:txBody>
                  <a:tcPr marL="54864" marR="54864" marT="18288" marB="18288">
                    <a:solidFill>
                      <a:srgbClr val="F4F5F7"/>
                    </a:solidFill>
                  </a:tcPr>
                </a:tc>
                <a:tc>
                  <a:txBody>
                    <a:bodyPr/>
                    <a:lstStyle/>
                    <a:p>
                      <a:r>
                        <a:rPr sz="900">
                          <a:solidFill>
                            <a:srgbClr val="2B2B3C"/>
                          </a:solidFill>
                          <a:latin typeface="Calibri"/>
                        </a:rPr>
                        <a:t>Yes</a:t>
                      </a:r>
                    </a:p>
                  </a:txBody>
                  <a:tcPr marL="54864" marR="54864" marT="18288" marB="18288">
                    <a:solidFill>
                      <a:srgbClr val="F4F5F7"/>
                    </a:solidFill>
                  </a:tcPr>
                </a:tc>
                <a:tc>
                  <a:txBody>
                    <a:bodyPr/>
                    <a:lstStyle/>
                    <a:p>
                      <a:r>
                        <a:rPr sz="900">
                          <a:solidFill>
                            <a:srgbClr val="2B2B3C"/>
                          </a:solidFill>
                          <a:latin typeface="Calibri"/>
                        </a:rPr>
                        <a:t>Same issuer the gateway trusts, plus your own claim checks</a:t>
                      </a:r>
                    </a:p>
                  </a:txBody>
                  <a:tcPr marL="54864" marR="54864" marT="18288" marB="18288">
                    <a:solidFill>
                      <a:srgbClr val="F4F5F7"/>
                    </a:solidFill>
                  </a:tcPr>
                </a:tc>
              </a:tr>
              <a:tr h="310896">
                <a:tc>
                  <a:txBody>
                    <a:bodyPr/>
                    <a:lstStyle/>
                    <a:p>
                      <a:r>
                        <a:rPr sz="900">
                          <a:solidFill>
                            <a:srgbClr val="2B2B3C"/>
                          </a:solidFill>
                          <a:latin typeface="Calibri"/>
                        </a:rPr>
                        <a:t>gateway_identity</a:t>
                      </a:r>
                    </a:p>
                  </a:txBody>
                  <a:tcPr marL="54864" marR="54864" marT="18288" marB="18288">
                    <a:solidFill>
                      <a:srgbClr val="FFFFFF"/>
                    </a:solidFill>
                  </a:tcPr>
                </a:tc>
                <a:tc>
                  <a:txBody>
                    <a:bodyPr/>
                    <a:lstStyle/>
                    <a:p>
                      <a:r>
                        <a:rPr sz="900">
                          <a:solidFill>
                            <a:srgbClr val="2B2B3C"/>
                          </a:solidFill>
                          <a:latin typeface="Calibri"/>
                        </a:rPr>
                        <a:t>Nothing — the gateway strips Authorization and X-API-Key before the backend call</a:t>
                      </a:r>
                    </a:p>
                  </a:txBody>
                  <a:tcPr marL="54864" marR="54864" marT="18288" marB="18288">
                    <a:solidFill>
                      <a:srgbClr val="FFFFFF"/>
                    </a:solidFill>
                  </a:tcPr>
                </a:tc>
                <a:tc>
                  <a:txBody>
                    <a:bodyPr/>
                    <a:lstStyle/>
                    <a:p>
                      <a:r>
                        <a:rPr sz="900">
                          <a:solidFill>
                            <a:srgbClr val="2B2B3C"/>
                          </a:solidFill>
                          <a:latin typeface="Calibri"/>
                        </a:rPr>
                        <a:t>Yes</a:t>
                      </a:r>
                    </a:p>
                  </a:txBody>
                  <a:tcPr marL="54864" marR="54864" marT="18288" marB="18288">
                    <a:solidFill>
                      <a:srgbClr val="FFFFFF"/>
                    </a:solidFill>
                  </a:tcPr>
                </a:tc>
                <a:tc>
                  <a:txBody>
                    <a:bodyPr/>
                    <a:lstStyle/>
                    <a:p>
                      <a:r>
                        <a:rPr sz="900">
                          <a:solidFill>
                            <a:srgbClr val="2B2B3C"/>
                          </a:solidFill>
                          <a:latin typeface="Calibri"/>
                        </a:rPr>
                        <a:t>Nothing — you cannot. Network reachability is your only boundary</a:t>
                      </a:r>
                    </a:p>
                  </a:txBody>
                  <a:tcPr marL="54864" marR="54864" marT="18288" marB="18288">
                    <a:solidFill>
                      <a:srgbClr val="FFFFFF"/>
                    </a:solidFill>
                  </a:tcPr>
                </a:tc>
              </a:tr>
              <a:tr h="310896">
                <a:tc>
                  <a:txBody>
                    <a:bodyPr/>
                    <a:lstStyle/>
                    <a:p>
                      <a:r>
                        <a:rPr sz="900">
                          <a:solidFill>
                            <a:srgbClr val="2B2B3C"/>
                          </a:solidFill>
                          <a:latin typeface="Calibri"/>
                        </a:rPr>
                        <a:t>injected_credential</a:t>
                      </a:r>
                    </a:p>
                  </a:txBody>
                  <a:tcPr marL="54864" marR="54864" marT="18288" marB="18288">
                    <a:solidFill>
                      <a:srgbClr val="F8CECC"/>
                    </a:solidFill>
                  </a:tcPr>
                </a:tc>
                <a:tc>
                  <a:txBody>
                    <a:bodyPr/>
                    <a:lstStyle/>
                    <a:p>
                      <a:r>
                        <a:rPr sz="900">
                          <a:solidFill>
                            <a:srgbClr val="2B2B3C"/>
                          </a:solidFill>
                          <a:latin typeface="Calibri"/>
                        </a:rPr>
                        <a:t>Intended: a stored per-deployment credential</a:t>
                      </a:r>
                    </a:p>
                  </a:txBody>
                  <a:tcPr marL="54864" marR="54864" marT="18288" marB="18288">
                    <a:solidFill>
                      <a:srgbClr val="F8CECC"/>
                    </a:solidFill>
                  </a:tcPr>
                </a:tc>
                <a:tc>
                  <a:txBody>
                    <a:bodyPr/>
                    <a:lstStyle/>
                    <a:p>
                      <a:r>
                        <a:rPr sz="900">
                          <a:solidFill>
                            <a:srgbClr val="2B2B3C"/>
                          </a:solidFill>
                          <a:latin typeface="Calibri"/>
                        </a:rPr>
                        <a:t>NO</a:t>
                      </a:r>
                    </a:p>
                  </a:txBody>
                  <a:tcPr marL="54864" marR="54864" marT="18288" marB="18288">
                    <a:solidFill>
                      <a:srgbClr val="F8CECC"/>
                    </a:solidFill>
                  </a:tcPr>
                </a:tc>
                <a:tc>
                  <a:txBody>
                    <a:bodyPr/>
                    <a:lstStyle/>
                    <a:p>
                      <a:r>
                        <a:rPr sz="900">
                          <a:solidFill>
                            <a:srgbClr val="2B2B3C"/>
                          </a:solidFill>
                          <a:latin typeface="Calibri"/>
                        </a:rPr>
                        <a:t>Served as gateway_identity — no credential sent</a:t>
                      </a:r>
                    </a:p>
                  </a:txBody>
                  <a:tcPr marL="54864" marR="54864" marT="18288" marB="18288">
                    <a:solidFill>
                      <a:srgbClr val="F8CECC"/>
                    </a:solidFill>
                  </a:tcPr>
                </a:tc>
              </a:tr>
              <a:tr h="310896">
                <a:tc>
                  <a:txBody>
                    <a:bodyPr/>
                    <a:lstStyle/>
                    <a:p>
                      <a:r>
                        <a:rPr sz="900">
                          <a:solidFill>
                            <a:srgbClr val="2B2B3C"/>
                          </a:solidFill>
                          <a:latin typeface="Calibri"/>
                        </a:rPr>
                        <a:t>external_exchange</a:t>
                      </a:r>
                    </a:p>
                  </a:txBody>
                  <a:tcPr marL="54864" marR="54864" marT="18288" marB="18288">
                    <a:solidFill>
                      <a:srgbClr val="F8CECC"/>
                    </a:solidFill>
                  </a:tcPr>
                </a:tc>
                <a:tc>
                  <a:txBody>
                    <a:bodyPr/>
                    <a:lstStyle/>
                    <a:p>
                      <a:r>
                        <a:rPr sz="900">
                          <a:solidFill>
                            <a:srgbClr val="2B2B3C"/>
                          </a:solidFill>
                          <a:latin typeface="Calibri"/>
                        </a:rPr>
                        <a:t>Intended: a token from your own authorization server</a:t>
                      </a:r>
                    </a:p>
                  </a:txBody>
                  <a:tcPr marL="54864" marR="54864" marT="18288" marB="18288">
                    <a:solidFill>
                      <a:srgbClr val="F8CECC"/>
                    </a:solidFill>
                  </a:tcPr>
                </a:tc>
                <a:tc>
                  <a:txBody>
                    <a:bodyPr/>
                    <a:lstStyle/>
                    <a:p>
                      <a:r>
                        <a:rPr sz="900">
                          <a:solidFill>
                            <a:srgbClr val="2B2B3C"/>
                          </a:solidFill>
                          <a:latin typeface="Calibri"/>
                        </a:rPr>
                        <a:t>NO</a:t>
                      </a:r>
                    </a:p>
                  </a:txBody>
                  <a:tcPr marL="54864" marR="54864" marT="18288" marB="18288">
                    <a:solidFill>
                      <a:srgbClr val="F8CECC"/>
                    </a:solidFill>
                  </a:tcPr>
                </a:tc>
                <a:tc>
                  <a:txBody>
                    <a:bodyPr/>
                    <a:lstStyle/>
                    <a:p>
                      <a:r>
                        <a:rPr sz="900">
                          <a:solidFill>
                            <a:srgbClr val="2B2B3C"/>
                          </a:solidFill>
                          <a:latin typeface="Calibri"/>
                        </a:rPr>
                        <a:t>Served as gateway_identity — no credential sent</a:t>
                      </a:r>
                    </a:p>
                  </a:txBody>
                  <a:tcPr marL="54864" marR="54864" marT="18288" marB="18288">
                    <a:solidFill>
                      <a:srgbClr val="F8CECC"/>
                    </a:solidFill>
                  </a:tcPr>
                </a:tc>
              </a:tr>
            </a:tbl>
          </a:graphicData>
        </a:graphic>
      </p:graphicFrame>
      <p:sp>
        <p:nvSpPr>
          <p:cNvPr id="11" name="Rectangle 10"/>
          <p:cNvSpPr/>
          <p:nvPr/>
        </p:nvSpPr>
        <p:spPr>
          <a:xfrm>
            <a:off x="502920" y="4526280"/>
            <a:ext cx="5486400" cy="1508760"/>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02920" y="4526280"/>
            <a:ext cx="5486400" cy="76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463600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The trap to state explicitly</a:t>
            </a:r>
          </a:p>
        </p:txBody>
      </p:sp>
      <p:sp>
        <p:nvSpPr>
          <p:cNvPr id="14" name="TextBox 13"/>
          <p:cNvSpPr txBox="1"/>
          <p:nvPr/>
        </p:nvSpPr>
        <p:spPr>
          <a:xfrm>
            <a:off x="640080" y="5056632"/>
            <a:ext cx="5212080" cy="886968"/>
          </a:xfrm>
          <a:prstGeom prst="rect">
            <a:avLst/>
          </a:prstGeom>
          <a:noFill/>
        </p:spPr>
        <p:txBody>
          <a:bodyPr wrap="square">
            <a:spAutoFit/>
          </a:bodyPr>
          <a:lstStyle/>
          <a:p>
            <a:pPr>
              <a:spcAft>
                <a:spcPts val="300"/>
              </a:spcAft>
            </a:pPr>
            <a:r>
              <a:rPr sz="950">
                <a:solidFill>
                  <a:srgbClr val="2B2B3C"/>
                </a:solidFill>
                <a:latin typeface="Calibri"/>
              </a:rPr>
              <a:t>• Selecting an unimplemented mode produces NO error and does not disable the server</a:t>
            </a:r>
          </a:p>
          <a:p>
            <a:pPr>
              <a:spcAft>
                <a:spcPts val="300"/>
              </a:spcAft>
            </a:pPr>
            <a:r>
              <a:rPr sz="950">
                <a:solidFill>
                  <a:srgbClr val="2B2B3C"/>
                </a:solidFill>
                <a:latin typeface="Calibri"/>
              </a:rPr>
              <a:t>• It produces a server reached with no credential — a silent downgrade in the operator's mind, not in the code</a:t>
            </a:r>
          </a:p>
          <a:p>
            <a:pPr>
              <a:spcAft>
                <a:spcPts val="300"/>
              </a:spcAft>
            </a:pPr>
            <a:r>
              <a:rPr sz="950">
                <a:solidFill>
                  <a:srgbClr val="2B2B3C"/>
                </a:solidFill>
                <a:latin typeface="Calibri"/>
              </a:rPr>
              <a:t>• Today the entire estate sits on gateway_identity; MSR-9 makes the choice a recorded decision</a:t>
            </a:r>
          </a:p>
        </p:txBody>
      </p:sp>
      <p:sp>
        <p:nvSpPr>
          <p:cNvPr id="15" name="Rectangle 14"/>
          <p:cNvSpPr/>
          <p:nvPr/>
        </p:nvSpPr>
        <p:spPr>
          <a:xfrm>
            <a:off x="6172200" y="4526280"/>
            <a:ext cx="5486400" cy="1508760"/>
          </a:xfrm>
          <a:prstGeom prst="rect">
            <a:avLst/>
          </a:prstGeom>
          <a:solidFill>
            <a:srgbClr val="D5E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4526280"/>
            <a:ext cx="5486400" cy="76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463600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Two safeguards worth crediting</a:t>
            </a:r>
          </a:p>
        </p:txBody>
      </p:sp>
      <p:sp>
        <p:nvSpPr>
          <p:cNvPr id="18" name="TextBox 17"/>
          <p:cNvSpPr txBox="1"/>
          <p:nvPr/>
        </p:nvSpPr>
        <p:spPr>
          <a:xfrm>
            <a:off x="6309360" y="5056632"/>
            <a:ext cx="5212080" cy="886968"/>
          </a:xfrm>
          <a:prstGeom prst="rect">
            <a:avLst/>
          </a:prstGeom>
          <a:noFill/>
        </p:spPr>
        <p:txBody>
          <a:bodyPr wrap="square">
            <a:spAutoFit/>
          </a:bodyPr>
          <a:lstStyle/>
          <a:p>
            <a:pPr>
              <a:spcAft>
                <a:spcPts val="300"/>
              </a:spcAft>
            </a:pPr>
            <a:r>
              <a:rPr sz="950">
                <a:solidFill>
                  <a:srgbClr val="2B2B3C"/>
                </a:solidFill>
                <a:latin typeface="Calibri"/>
              </a:rPr>
              <a:t>• The downstream token audience names the DEPLOYMENT, not the catalogue entry — a staging credential cannot be spent against production</a:t>
            </a:r>
          </a:p>
          <a:p>
            <a:pPr>
              <a:spcAft>
                <a:spcPts val="300"/>
              </a:spcAft>
            </a:pPr>
            <a:r>
              <a:rPr sz="950">
                <a:solidFill>
                  <a:srgbClr val="2B2B3C"/>
                </a:solidFill>
                <a:latin typeface="Calibri"/>
              </a:rPr>
              <a:t>• A delegated target the gateway cannot exchange for is WITHHELD entirely, never downgraded to the gateway's own identity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Identity — Which Caller Credentials Each Endpoint Accepts</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9</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00" b="1">
                <a:solidFill>
                  <a:srgbClr val="2B2B3C"/>
                </a:solidFill>
                <a:latin typeface="Calibri"/>
              </a:rPr>
              <a:t>The gateway gates the inbound credential by the endpoint's mode. Every refusal below is an HTTP 403 and is indistinguishable from a policy denial from outside.</a:t>
            </a:r>
          </a:p>
        </p:txBody>
      </p:sp>
      <p:graphicFrame>
        <p:nvGraphicFramePr>
          <p:cNvPr id="10" name="Table 9"/>
          <p:cNvGraphicFramePr>
            <a:graphicFrameLocks noGrp="1"/>
          </p:cNvGraphicFramePr>
          <p:nvPr/>
        </p:nvGraphicFramePr>
        <p:xfrm>
          <a:off x="502920" y="1965960"/>
          <a:ext cx="11155680" cy="1865376"/>
        </p:xfrm>
        <a:graphic>
          <a:graphicData uri="http://schemas.openxmlformats.org/drawingml/2006/table">
            <a:tbl>
              <a:tblPr firstRow="1" bandRow="1">
                <a:tableStyleId>{5C22544A-7EE6-4342-B048-85BDC9FD1C3A}</a:tableStyleId>
              </a:tblPr>
              <a:tblGrid>
                <a:gridCol w="3291840"/>
                <a:gridCol w="2743200"/>
                <a:gridCol w="2834640"/>
                <a:gridCol w="2286000"/>
              </a:tblGrid>
              <a:tr h="310896">
                <a:tc>
                  <a:txBody>
                    <a:bodyPr/>
                    <a:lstStyle/>
                    <a:p>
                      <a:r>
                        <a:rPr sz="1050" b="1">
                          <a:solidFill>
                            <a:srgbClr val="FFFFFF"/>
                          </a:solidFill>
                          <a:latin typeface="Calibri"/>
                        </a:rPr>
                        <a:t>Caller presents →</a:t>
                      </a:r>
                    </a:p>
                  </a:txBody>
                  <a:tcPr marL="54864" marR="54864">
                    <a:solidFill>
                      <a:srgbClr val="1A1A2E"/>
                    </a:solidFill>
                  </a:tcPr>
                </a:tc>
                <a:tc>
                  <a:txBody>
                    <a:bodyPr/>
                    <a:lstStyle/>
                    <a:p>
                      <a:r>
                        <a:rPr sz="1050" b="1">
                          <a:solidFill>
                            <a:srgbClr val="FFFFFF"/>
                          </a:solidFill>
                          <a:latin typeface="Calibri"/>
                        </a:rPr>
                        <a:t>token_exchange endpoint</a:t>
                      </a:r>
                    </a:p>
                  </a:txBody>
                  <a:tcPr marL="54864" marR="54864">
                    <a:solidFill>
                      <a:srgbClr val="1A1A2E"/>
                    </a:solidFill>
                  </a:tcPr>
                </a:tc>
                <a:tc>
                  <a:txBody>
                    <a:bodyPr/>
                    <a:lstStyle/>
                    <a:p>
                      <a:r>
                        <a:rPr sz="1050" b="1">
                          <a:solidFill>
                            <a:srgbClr val="FFFFFF"/>
                          </a:solidFill>
                          <a:latin typeface="Calibri"/>
                        </a:rPr>
                        <a:t>token_forward endpoint</a:t>
                      </a:r>
                    </a:p>
                  </a:txBody>
                  <a:tcPr marL="54864" marR="54864">
                    <a:solidFill>
                      <a:srgbClr val="1A1A2E"/>
                    </a:solidFill>
                  </a:tcPr>
                </a:tc>
                <a:tc>
                  <a:txBody>
                    <a:bodyPr/>
                    <a:lstStyle/>
                    <a:p>
                      <a:r>
                        <a:rPr sz="1050" b="1">
                          <a:solidFill>
                            <a:srgbClr val="FFFFFF"/>
                          </a:solidFill>
                          <a:latin typeface="Calibri"/>
                        </a:rPr>
                        <a:t>gateway_identity endpoint</a:t>
                      </a:r>
                    </a:p>
                  </a:txBody>
                  <a:tcPr marL="54864" marR="54864">
                    <a:solidFill>
                      <a:srgbClr val="1A1A2E"/>
                    </a:solidFill>
                  </a:tcPr>
                </a:tc>
              </a:tr>
              <a:tr h="310896">
                <a:tc>
                  <a:txBody>
                    <a:bodyPr/>
                    <a:lstStyle/>
                    <a:p>
                      <a:r>
                        <a:rPr sz="950">
                          <a:solidFill>
                            <a:srgbClr val="2B2B3C"/>
                          </a:solidFill>
                          <a:latin typeface="Calibri"/>
                        </a:rPr>
                        <a:t>OIDC JWT — machine (client_credentials)</a:t>
                      </a:r>
                    </a:p>
                  </a:txBody>
                  <a:tcPr marL="54864" marR="54864" marT="18288" marB="18288">
                    <a:solidFill>
                      <a:srgbClr val="FFFFFF"/>
                    </a:solidFill>
                  </a:tcPr>
                </a:tc>
                <a:tc>
                  <a:txBody>
                    <a:bodyPr/>
                    <a:lstStyle/>
                    <a:p>
                      <a:r>
                        <a:rPr sz="950">
                          <a:solidFill>
                            <a:srgbClr val="2B2B3C"/>
                          </a:solidFill>
                          <a:latin typeface="Calibri"/>
                        </a:rPr>
                        <a:t>ACCEPTED</a:t>
                      </a:r>
                    </a:p>
                  </a:txBody>
                  <a:tcPr marL="54864" marR="54864" marT="18288" marB="18288">
                    <a:solidFill>
                      <a:srgbClr val="FFFFFF"/>
                    </a:solidFill>
                  </a:tcPr>
                </a:tc>
                <a:tc>
                  <a:txBody>
                    <a:bodyPr/>
                    <a:lstStyle/>
                    <a:p>
                      <a:r>
                        <a:rPr sz="950">
                          <a:solidFill>
                            <a:srgbClr val="2B2B3C"/>
                          </a:solidFill>
                          <a:latin typeface="Calibri"/>
                        </a:rPr>
                        <a:t>ACCEPTED</a:t>
                      </a:r>
                    </a:p>
                  </a:txBody>
                  <a:tcPr marL="54864" marR="54864" marT="18288" marB="18288">
                    <a:solidFill>
                      <a:srgbClr val="FFFFFF"/>
                    </a:solidFill>
                  </a:tcPr>
                </a:tc>
                <a:tc>
                  <a:txBody>
                    <a:bodyPr/>
                    <a:lstStyle/>
                    <a:p>
                      <a:r>
                        <a:rPr sz="950">
                          <a:solidFill>
                            <a:srgbClr val="2B2B3C"/>
                          </a:solidFill>
                          <a:latin typeface="Calibri"/>
                        </a:rPr>
                        <a:t>ACCEPTED</a:t>
                      </a:r>
                    </a:p>
                  </a:txBody>
                  <a:tcPr marL="54864" marR="54864" marT="18288" marB="18288">
                    <a:solidFill>
                      <a:srgbClr val="FFFFFF"/>
                    </a:solidFill>
                  </a:tcPr>
                </a:tc>
              </a:tr>
              <a:tr h="310896">
                <a:tc>
                  <a:txBody>
                    <a:bodyPr/>
                    <a:lstStyle/>
                    <a:p>
                      <a:r>
                        <a:rPr sz="950">
                          <a:solidFill>
                            <a:srgbClr val="2B2B3C"/>
                          </a:solidFill>
                          <a:latin typeface="Calibri"/>
                        </a:rPr>
                        <a:t>OIDC JWT — delegated, carries an actor</a:t>
                      </a:r>
                    </a:p>
                  </a:txBody>
                  <a:tcPr marL="54864" marR="54864" marT="18288" marB="18288">
                    <a:solidFill>
                      <a:srgbClr val="F4F5F7"/>
                    </a:solidFill>
                  </a:tcPr>
                </a:tc>
                <a:tc>
                  <a:txBody>
                    <a:bodyPr/>
                    <a:lstStyle/>
                    <a:p>
                      <a:r>
                        <a:rPr sz="950">
                          <a:solidFill>
                            <a:srgbClr val="2B2B3C"/>
                          </a:solidFill>
                          <a:latin typeface="Calibri"/>
                        </a:rPr>
                        <a:t>ACCEPTED</a:t>
                      </a:r>
                    </a:p>
                  </a:txBody>
                  <a:tcPr marL="54864" marR="54864" marT="18288" marB="18288">
                    <a:solidFill>
                      <a:srgbClr val="F4F5F7"/>
                    </a:solidFill>
                  </a:tcPr>
                </a:tc>
                <a:tc>
                  <a:txBody>
                    <a:bodyPr/>
                    <a:lstStyle/>
                    <a:p>
                      <a:r>
                        <a:rPr sz="950">
                          <a:solidFill>
                            <a:srgbClr val="2B2B3C"/>
                          </a:solidFill>
                          <a:latin typeface="Calibri"/>
                        </a:rPr>
                        <a:t>ACCEPTED</a:t>
                      </a:r>
                    </a:p>
                  </a:txBody>
                  <a:tcPr marL="54864" marR="54864" marT="18288" marB="18288">
                    <a:solidFill>
                      <a:srgbClr val="F4F5F7"/>
                    </a:solidFill>
                  </a:tcPr>
                </a:tc>
                <a:tc>
                  <a:txBody>
                    <a:bodyPr/>
                    <a:lstStyle/>
                    <a:p>
                      <a:r>
                        <a:rPr sz="950">
                          <a:solidFill>
                            <a:srgbClr val="2B2B3C"/>
                          </a:solidFill>
                          <a:latin typeface="Calibri"/>
                        </a:rPr>
                        <a:t>ACCEPTED</a:t>
                      </a:r>
                    </a:p>
                  </a:txBody>
                  <a:tcPr marL="54864" marR="54864" marT="18288" marB="18288">
                    <a:solidFill>
                      <a:srgbClr val="F4F5F7"/>
                    </a:solidFill>
                  </a:tcPr>
                </a:tc>
              </a:tr>
              <a:tr h="310896">
                <a:tc>
                  <a:txBody>
                    <a:bodyPr/>
                    <a:lstStyle/>
                    <a:p>
                      <a:r>
                        <a:rPr sz="950">
                          <a:solidFill>
                            <a:srgbClr val="2B2B3C"/>
                          </a:solidFill>
                          <a:latin typeface="Calibri"/>
                        </a:rPr>
                        <a:t>OIDC JWT — plain user, no actor</a:t>
                      </a:r>
                    </a:p>
                  </a:txBody>
                  <a:tcPr marL="54864" marR="54864" marT="18288" marB="18288">
                    <a:solidFill>
                      <a:srgbClr val="FFFFFF"/>
                    </a:solidFill>
                  </a:tcPr>
                </a:tc>
                <a:tc>
                  <a:txBody>
                    <a:bodyPr/>
                    <a:lstStyle/>
                    <a:p>
                      <a:r>
                        <a:rPr sz="950">
                          <a:solidFill>
                            <a:srgbClr val="2B2B3C"/>
                          </a:solidFill>
                          <a:latin typeface="Calibri"/>
                        </a:rPr>
                        <a:t>403  not_exchangeable</a:t>
                      </a:r>
                    </a:p>
                  </a:txBody>
                  <a:tcPr marL="54864" marR="54864" marT="18288" marB="18288">
                    <a:solidFill>
                      <a:srgbClr val="FFFFFF"/>
                    </a:solidFill>
                  </a:tcPr>
                </a:tc>
                <a:tc>
                  <a:txBody>
                    <a:bodyPr/>
                    <a:lstStyle/>
                    <a:p>
                      <a:r>
                        <a:rPr sz="950">
                          <a:solidFill>
                            <a:srgbClr val="2B2B3C"/>
                          </a:solidFill>
                          <a:latin typeface="Calibri"/>
                        </a:rPr>
                        <a:t>ACCEPTED</a:t>
                      </a:r>
                    </a:p>
                  </a:txBody>
                  <a:tcPr marL="54864" marR="54864" marT="18288" marB="18288">
                    <a:solidFill>
                      <a:srgbClr val="FFFFFF"/>
                    </a:solidFill>
                  </a:tcPr>
                </a:tc>
                <a:tc>
                  <a:txBody>
                    <a:bodyPr/>
                    <a:lstStyle/>
                    <a:p>
                      <a:r>
                        <a:rPr sz="950">
                          <a:solidFill>
                            <a:srgbClr val="2B2B3C"/>
                          </a:solidFill>
                          <a:latin typeface="Calibri"/>
                        </a:rPr>
                        <a:t>ACCEPTED</a:t>
                      </a:r>
                    </a:p>
                  </a:txBody>
                  <a:tcPr marL="54864" marR="54864" marT="18288" marB="18288">
                    <a:solidFill>
                      <a:srgbClr val="FFFFFF"/>
                    </a:solidFill>
                  </a:tcPr>
                </a:tc>
              </a:tr>
              <a:tr h="310896">
                <a:tc>
                  <a:txBody>
                    <a:bodyPr/>
                    <a:lstStyle/>
                    <a:p>
                      <a:r>
                        <a:rPr sz="950">
                          <a:solidFill>
                            <a:srgbClr val="2B2B3C"/>
                          </a:solidFill>
                          <a:latin typeface="Calibri"/>
                        </a:rPr>
                        <a:t>API key — X-API-Key or Bearer lum_…</a:t>
                      </a:r>
                    </a:p>
                  </a:txBody>
                  <a:tcPr marL="54864" marR="54864" marT="18288" marB="18288">
                    <a:solidFill>
                      <a:srgbClr val="F4F5F7"/>
                    </a:solidFill>
                  </a:tcPr>
                </a:tc>
                <a:tc>
                  <a:txBody>
                    <a:bodyPr/>
                    <a:lstStyle/>
                    <a:p>
                      <a:r>
                        <a:rPr sz="950">
                          <a:solidFill>
                            <a:srgbClr val="2B2B3C"/>
                          </a:solidFill>
                          <a:latin typeface="Calibri"/>
                        </a:rPr>
                        <a:t>403  api_key_not_exchangeable</a:t>
                      </a:r>
                    </a:p>
                  </a:txBody>
                  <a:tcPr marL="54864" marR="54864" marT="18288" marB="18288">
                    <a:solidFill>
                      <a:srgbClr val="F4F5F7"/>
                    </a:solidFill>
                  </a:tcPr>
                </a:tc>
                <a:tc>
                  <a:txBody>
                    <a:bodyPr/>
                    <a:lstStyle/>
                    <a:p>
                      <a:r>
                        <a:rPr sz="950">
                          <a:solidFill>
                            <a:srgbClr val="2B2B3C"/>
                          </a:solidFill>
                          <a:latin typeface="Calibri"/>
                        </a:rPr>
                        <a:t>403  platform_minted_not_forwardable</a:t>
                      </a:r>
                    </a:p>
                  </a:txBody>
                  <a:tcPr marL="54864" marR="54864" marT="18288" marB="18288">
                    <a:solidFill>
                      <a:srgbClr val="F4F5F7"/>
                    </a:solidFill>
                  </a:tcPr>
                </a:tc>
                <a:tc>
                  <a:txBody>
                    <a:bodyPr/>
                    <a:lstStyle/>
                    <a:p>
                      <a:r>
                        <a:rPr sz="950">
                          <a:solidFill>
                            <a:srgbClr val="2B2B3C"/>
                          </a:solidFill>
                          <a:latin typeface="Calibri"/>
                        </a:rPr>
                        <a:t>ACCEPTED — key is stripped</a:t>
                      </a:r>
                    </a:p>
                  </a:txBody>
                  <a:tcPr marL="54864" marR="54864" marT="18288" marB="18288">
                    <a:solidFill>
                      <a:srgbClr val="F4F5F7"/>
                    </a:solidFill>
                  </a:tcPr>
                </a:tc>
              </a:tr>
              <a:tr h="310896">
                <a:tc>
                  <a:txBody>
                    <a:bodyPr/>
                    <a:lstStyle/>
                    <a:p>
                      <a:r>
                        <a:rPr sz="950">
                          <a:solidFill>
                            <a:srgbClr val="2B2B3C"/>
                          </a:solidFill>
                          <a:latin typeface="Calibri"/>
                        </a:rPr>
                        <a:t>Delegated token — Bearer lud_at_…</a:t>
                      </a:r>
                    </a:p>
                  </a:txBody>
                  <a:tcPr marL="54864" marR="54864" marT="18288" marB="18288">
                    <a:solidFill>
                      <a:srgbClr val="FFFFFF"/>
                    </a:solidFill>
                  </a:tcPr>
                </a:tc>
                <a:tc>
                  <a:txBody>
                    <a:bodyPr/>
                    <a:lstStyle/>
                    <a:p>
                      <a:r>
                        <a:rPr sz="950">
                          <a:solidFill>
                            <a:srgbClr val="2B2B3C"/>
                          </a:solidFill>
                          <a:latin typeface="Calibri"/>
                        </a:rPr>
                        <a:t>ACCEPTED</a:t>
                      </a:r>
                    </a:p>
                  </a:txBody>
                  <a:tcPr marL="54864" marR="54864" marT="18288" marB="18288">
                    <a:solidFill>
                      <a:srgbClr val="FFFFFF"/>
                    </a:solidFill>
                  </a:tcPr>
                </a:tc>
                <a:tc>
                  <a:txBody>
                    <a:bodyPr/>
                    <a:lstStyle/>
                    <a:p>
                      <a:r>
                        <a:rPr sz="950">
                          <a:solidFill>
                            <a:srgbClr val="2B2B3C"/>
                          </a:solidFill>
                          <a:latin typeface="Calibri"/>
                        </a:rPr>
                        <a:t>403  platform_minted_not_forwardable</a:t>
                      </a:r>
                    </a:p>
                  </a:txBody>
                  <a:tcPr marL="54864" marR="54864" marT="18288" marB="18288">
                    <a:solidFill>
                      <a:srgbClr val="FFFFFF"/>
                    </a:solidFill>
                  </a:tcPr>
                </a:tc>
                <a:tc>
                  <a:txBody>
                    <a:bodyPr/>
                    <a:lstStyle/>
                    <a:p>
                      <a:r>
                        <a:rPr sz="950">
                          <a:solidFill>
                            <a:srgbClr val="2B2B3C"/>
                          </a:solidFill>
                          <a:latin typeface="Calibri"/>
                        </a:rPr>
                        <a:t>ACCEPTED — token is stripped</a:t>
                      </a:r>
                    </a:p>
                  </a:txBody>
                  <a:tcPr marL="54864" marR="54864" marT="18288" marB="18288">
                    <a:solidFill>
                      <a:srgbClr val="FFFFFF"/>
                    </a:solidFill>
                  </a:tcPr>
                </a:tc>
              </a:tr>
            </a:tbl>
          </a:graphicData>
        </a:graphic>
      </p:graphicFrame>
      <p:sp>
        <p:nvSpPr>
          <p:cNvPr id="11" name="TextBox 10"/>
          <p:cNvSpPr txBox="1"/>
          <p:nvPr/>
        </p:nvSpPr>
        <p:spPr>
          <a:xfrm>
            <a:off x="502920" y="4023360"/>
            <a:ext cx="11155680" cy="365760"/>
          </a:xfrm>
          <a:prstGeom prst="rect">
            <a:avLst/>
          </a:prstGeom>
          <a:noFill/>
        </p:spPr>
        <p:txBody>
          <a:bodyPr wrap="square" anchor="t">
            <a:spAutoFit/>
          </a:bodyPr>
          <a:lstStyle/>
          <a:p>
            <a:pPr algn="l">
              <a:spcAft>
                <a:spcPts val="400"/>
              </a:spcAft>
            </a:pPr>
            <a:r>
              <a:rPr sz="1400" b="1">
                <a:solidFill>
                  <a:srgbClr val="2B2B3C"/>
                </a:solidFill>
                <a:latin typeface="Calibri"/>
              </a:rPr>
              <a:t>Two rules explain the whole table</a:t>
            </a:r>
          </a:p>
        </p:txBody>
      </p:sp>
      <p:sp>
        <p:nvSpPr>
          <p:cNvPr id="12" name="Rectangle 11"/>
          <p:cNvSpPr/>
          <p:nvPr/>
        </p:nvSpPr>
        <p:spPr>
          <a:xfrm>
            <a:off x="502920" y="4434840"/>
            <a:ext cx="5486400" cy="1600200"/>
          </a:xfrm>
          <a:prstGeom prst="rect">
            <a:avLst/>
          </a:prstGeom>
          <a:solidFill>
            <a:srgbClr val="DA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4434840"/>
            <a:ext cx="5486400" cy="762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54456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token_exchange spends the credential</a:t>
            </a:r>
          </a:p>
        </p:txBody>
      </p:sp>
      <p:sp>
        <p:nvSpPr>
          <p:cNvPr id="15" name="TextBox 14"/>
          <p:cNvSpPr txBox="1"/>
          <p:nvPr/>
        </p:nvSpPr>
        <p:spPr>
          <a:xfrm>
            <a:off x="640080" y="4965192"/>
            <a:ext cx="5212080" cy="978408"/>
          </a:xfrm>
          <a:prstGeom prst="rect">
            <a:avLst/>
          </a:prstGeom>
          <a:noFill/>
        </p:spPr>
        <p:txBody>
          <a:bodyPr wrap="square">
            <a:spAutoFit/>
          </a:bodyPr>
          <a:lstStyle/>
          <a:p>
            <a:pPr>
              <a:spcAft>
                <a:spcPts val="300"/>
              </a:spcAft>
            </a:pPr>
            <a:r>
              <a:rPr sz="950">
                <a:solidFill>
                  <a:srgbClr val="2B2B3C"/>
                </a:solidFill>
                <a:latin typeface="Calibri"/>
              </a:rPr>
              <a:t>• The caller's credential is the exchange SUBJECT, so only something the exchange can spend qualifies</a:t>
            </a:r>
          </a:p>
          <a:p>
            <a:pPr>
              <a:spcAft>
                <a:spcPts val="300"/>
              </a:spcAft>
            </a:pPr>
            <a:r>
              <a:rPr sz="950">
                <a:solidFill>
                  <a:srgbClr val="2B2B3C"/>
                </a:solidFill>
                <a:latin typeface="Calibri"/>
              </a:rPr>
              <a:t>• A platform API key is not an IdP token, so it can never be a subject</a:t>
            </a:r>
          </a:p>
          <a:p>
            <a:pPr>
              <a:spcAft>
                <a:spcPts val="300"/>
              </a:spcAft>
            </a:pPr>
            <a:r>
              <a:rPr sz="950">
                <a:solidFill>
                  <a:srgbClr val="2B2B3C"/>
                </a:solidFill>
                <a:latin typeface="Calibri"/>
              </a:rPr>
              <a:t>• Whether that identity may reach the target is the access policy's decision, made when the swapped token is minted</a:t>
            </a:r>
          </a:p>
        </p:txBody>
      </p:sp>
      <p:sp>
        <p:nvSpPr>
          <p:cNvPr id="16" name="Rectangle 15"/>
          <p:cNvSpPr/>
          <p:nvPr/>
        </p:nvSpPr>
        <p:spPr>
          <a:xfrm>
            <a:off x="6172200" y="4434840"/>
            <a:ext cx="5486400" cy="1600200"/>
          </a:xfrm>
          <a:prstGeom prst="rect">
            <a:avLst/>
          </a:prstGeom>
          <a:solidFill>
            <a:srgbClr val="D5E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72200" y="4434840"/>
            <a:ext cx="5486400" cy="76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60" y="454456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token_forward leaves the platform</a:t>
            </a:r>
          </a:p>
        </p:txBody>
      </p:sp>
      <p:sp>
        <p:nvSpPr>
          <p:cNvPr id="19" name="TextBox 18"/>
          <p:cNvSpPr txBox="1"/>
          <p:nvPr/>
        </p:nvSpPr>
        <p:spPr>
          <a:xfrm>
            <a:off x="6309360" y="4965192"/>
            <a:ext cx="5212080" cy="978408"/>
          </a:xfrm>
          <a:prstGeom prst="rect">
            <a:avLst/>
          </a:prstGeom>
          <a:noFill/>
        </p:spPr>
        <p:txBody>
          <a:bodyPr wrap="square">
            <a:spAutoFit/>
          </a:bodyPr>
          <a:lstStyle/>
          <a:p>
            <a:pPr>
              <a:spcAft>
                <a:spcPts val="300"/>
              </a:spcAft>
            </a:pPr>
            <a:r>
              <a:rPr sz="950">
                <a:solidFill>
                  <a:srgbClr val="2B2B3C"/>
                </a:solidFill>
                <a:latin typeface="Calibri"/>
              </a:rPr>
              <a:t>• Forward mode hands the caller's Authorization header to a backend the platform does not control</a:t>
            </a:r>
          </a:p>
          <a:p>
            <a:pPr>
              <a:spcAft>
                <a:spcPts val="300"/>
              </a:spcAft>
            </a:pPr>
            <a:r>
              <a:rPr sz="950">
                <a:solidFill>
                  <a:srgbClr val="2B2B3C"/>
                </a:solidFill>
                <a:latin typeface="Calibri"/>
              </a:rPr>
              <a:t>• A lum_ key or lud_at_ token is Luminate-issued AND Luminate-validated — your server cannot check either</a:t>
            </a:r>
          </a:p>
          <a:p>
            <a:pPr>
              <a:spcAft>
                <a:spcPts val="300"/>
              </a:spcAft>
            </a:pPr>
            <a:r>
              <a:rPr sz="950">
                <a:solidFill>
                  <a:srgbClr val="2B2B3C"/>
                </a:solidFill>
                <a:latin typeface="Calibri"/>
              </a:rPr>
              <a:t>• A replay of one acts as the caller, so only an IdP-signed JWT is forwardable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Authorization — The Boundary, Stated Plainly</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10</a:t>
            </a:r>
          </a:p>
        </p:txBody>
      </p:sp>
      <p:sp>
        <p:nvSpPr>
          <p:cNvPr id="9" name="Rectangle 8"/>
          <p:cNvSpPr/>
          <p:nvPr/>
        </p:nvSpPr>
        <p:spPr>
          <a:xfrm>
            <a:off x="502920" y="1280160"/>
            <a:ext cx="11155680" cy="658368"/>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10698480" cy="502920"/>
          </a:xfrm>
          <a:prstGeom prst="rect">
            <a:avLst/>
          </a:prstGeom>
          <a:noFill/>
        </p:spPr>
        <p:txBody>
          <a:bodyPr wrap="square" anchor="ctr">
            <a:spAutoFit/>
          </a:bodyPr>
          <a:lstStyle/>
          <a:p>
            <a:pPr algn="l">
              <a:spcAft>
                <a:spcPts val="400"/>
              </a:spcAft>
            </a:pPr>
            <a:r>
              <a:rPr sz="1500" b="1">
                <a:solidFill>
                  <a:srgbClr val="2B2B3C"/>
                </a:solidFill>
                <a:latin typeface="Calibri"/>
              </a:rPr>
              <a:t>An access policy on an MCP server grants EVERY tool that server exposes — now and in future. The platform authorizes at server granularity, not tool granularity.</a:t>
            </a:r>
          </a:p>
        </p:txBody>
      </p:sp>
      <p:graphicFrame>
        <p:nvGraphicFramePr>
          <p:cNvPr id="11" name="Table 10"/>
          <p:cNvGraphicFramePr>
            <a:graphicFrameLocks noGrp="1"/>
          </p:cNvGraphicFramePr>
          <p:nvPr/>
        </p:nvGraphicFramePr>
        <p:xfrm>
          <a:off x="502920" y="2148840"/>
          <a:ext cx="11155679" cy="1554480"/>
        </p:xfrm>
        <a:graphic>
          <a:graphicData uri="http://schemas.openxmlformats.org/drawingml/2006/table">
            <a:tbl>
              <a:tblPr firstRow="1" bandRow="1">
                <a:tableStyleId>{5C22544A-7EE6-4342-B048-85BDC9FD1C3A}</a:tableStyleId>
              </a:tblPr>
              <a:tblGrid>
                <a:gridCol w="3200400"/>
                <a:gridCol w="7955279"/>
              </a:tblGrid>
              <a:tr h="310896">
                <a:tc>
                  <a:txBody>
                    <a:bodyPr/>
                    <a:lstStyle/>
                    <a:p>
                      <a:r>
                        <a:rPr sz="1050" b="1">
                          <a:solidFill>
                            <a:srgbClr val="FFFFFF"/>
                          </a:solidFill>
                          <a:latin typeface="Calibri"/>
                        </a:rPr>
                        <a:t>Claim</a:t>
                      </a:r>
                    </a:p>
                  </a:txBody>
                  <a:tcPr marL="54864" marR="54864">
                    <a:solidFill>
                      <a:srgbClr val="1A1A2E"/>
                    </a:solidFill>
                  </a:tcPr>
                </a:tc>
                <a:tc>
                  <a:txBody>
                    <a:bodyPr/>
                    <a:lstStyle/>
                    <a:p>
                      <a:r>
                        <a:rPr sz="1050" b="1">
                          <a:solidFill>
                            <a:srgbClr val="FFFFFF"/>
                          </a:solidFill>
                          <a:latin typeface="Calibri"/>
                        </a:rPr>
                        <a:t>Evidence (Luminate origin/main @ 10d6ee89)</a:t>
                      </a:r>
                    </a:p>
                  </a:txBody>
                  <a:tcPr marL="54864" marR="54864">
                    <a:solidFill>
                      <a:srgbClr val="1A1A2E"/>
                    </a:solidFill>
                  </a:tcPr>
                </a:tc>
              </a:tr>
              <a:tr h="310896">
                <a:tc>
                  <a:txBody>
                    <a:bodyPr/>
                    <a:lstStyle/>
                    <a:p>
                      <a:r>
                        <a:rPr sz="950">
                          <a:solidFill>
                            <a:srgbClr val="2B2B3C"/>
                          </a:solidFill>
                          <a:latin typeface="Calibri"/>
                        </a:rPr>
                        <a:t>No tool target type exists</a:t>
                      </a:r>
                    </a:p>
                  </a:txBody>
                  <a:tcPr marL="54864" marR="54864" marT="18288" marB="18288">
                    <a:solidFill>
                      <a:srgbClr val="FFFFFF"/>
                    </a:solidFill>
                  </a:tcPr>
                </a:tc>
                <a:tc>
                  <a:txBody>
                    <a:bodyPr/>
                    <a:lstStyle/>
                    <a:p>
                      <a:r>
                        <a:rPr sz="950">
                          <a:solidFill>
                            <a:srgbClr val="2B2B3C"/>
                          </a:solidFill>
                          <a:latin typeface="Calibri"/>
                        </a:rPr>
                        <a:t>AccessPolicyTargetType = mcp_server, agent, model, location, environment. None is a tool</a:t>
                      </a:r>
                    </a:p>
                  </a:txBody>
                  <a:tcPr marL="54864" marR="54864" marT="18288" marB="18288">
                    <a:solidFill>
                      <a:srgbClr val="FFFFFF"/>
                    </a:solidFill>
                  </a:tcPr>
                </a:tc>
              </a:tr>
              <a:tr h="310896">
                <a:tc>
                  <a:txBody>
                    <a:bodyPr/>
                    <a:lstStyle/>
                    <a:p>
                      <a:r>
                        <a:rPr sz="950">
                          <a:solidFill>
                            <a:srgbClr val="2B2B3C"/>
                          </a:solidFill>
                          <a:latin typeface="Calibri"/>
                        </a:rPr>
                        <a:t>allowed_tool_ids is inert</a:t>
                      </a:r>
                    </a:p>
                  </a:txBody>
                  <a:tcPr marL="54864" marR="54864" marT="18288" marB="18288">
                    <a:solidFill>
                      <a:srgbClr val="F4F5F7"/>
                    </a:solidFill>
                  </a:tcPr>
                </a:tc>
                <a:tc>
                  <a:txBody>
                    <a:bodyPr/>
                    <a:lstStyle/>
                    <a:p>
                      <a:r>
                        <a:rPr sz="950">
                          <a:solidFill>
                            <a:srgbClr val="2B2B3C"/>
                          </a:solidFill>
                          <a:latin typeface="Calibri"/>
                        </a:rPr>
                        <a:t>The column exists and is serialized; NO runtime consumer in the gateway, the policy engine, or any Rego package</a:t>
                      </a:r>
                    </a:p>
                  </a:txBody>
                  <a:tcPr marL="54864" marR="54864" marT="18288" marB="18288">
                    <a:solidFill>
                      <a:srgbClr val="F4F5F7"/>
                    </a:solidFill>
                  </a:tcPr>
                </a:tc>
              </a:tr>
              <a:tr h="310896">
                <a:tc>
                  <a:txBody>
                    <a:bodyPr/>
                    <a:lstStyle/>
                    <a:p>
                      <a:r>
                        <a:rPr sz="950">
                          <a:solidFill>
                            <a:srgbClr val="2B2B3C"/>
                          </a:solidFill>
                          <a:latin typeface="Calibri"/>
                        </a:rPr>
                        <a:t>The tool name is not in the decision</a:t>
                      </a:r>
                    </a:p>
                  </a:txBody>
                  <a:tcPr marL="54864" marR="54864" marT="18288" marB="18288">
                    <a:solidFill>
                      <a:srgbClr val="FFFFFF"/>
                    </a:solidFill>
                  </a:tcPr>
                </a:tc>
                <a:tc>
                  <a:txBody>
                    <a:bodyPr/>
                    <a:lstStyle/>
                    <a:p>
                      <a:r>
                        <a:rPr sz="950">
                          <a:solidFill>
                            <a:srgbClr val="2B2B3C"/>
                          </a:solidFill>
                          <a:latin typeface="Calibri"/>
                        </a:rPr>
                        <a:t>The authorization request carries the endpoint name; the JSON-RPC method is parsed AFTER the decision, for telemetry</a:t>
                      </a:r>
                    </a:p>
                  </a:txBody>
                  <a:tcPr marL="54864" marR="54864" marT="18288" marB="18288">
                    <a:solidFill>
                      <a:srgbClr val="FFFFFF"/>
                    </a:solidFill>
                  </a:tcPr>
                </a:tc>
              </a:tr>
              <a:tr h="310896">
                <a:tc>
                  <a:txBody>
                    <a:bodyPr/>
                    <a:lstStyle/>
                    <a:p>
                      <a:r>
                        <a:rPr sz="950">
                          <a:solidFill>
                            <a:srgbClr val="2B2B3C"/>
                          </a:solidFill>
                          <a:latin typeface="Calibri"/>
                        </a:rPr>
                        <a:t>MCPTool.access_level is documentation</a:t>
                      </a:r>
                    </a:p>
                  </a:txBody>
                  <a:tcPr marL="54864" marR="54864" marT="18288" marB="18288">
                    <a:solidFill>
                      <a:srgbClr val="F4F5F7"/>
                    </a:solidFill>
                  </a:tcPr>
                </a:tc>
                <a:tc>
                  <a:txBody>
                    <a:bodyPr/>
                    <a:lstStyle/>
                    <a:p>
                      <a:r>
                        <a:rPr sz="950">
                          <a:solidFill>
                            <a:srgbClr val="2B2B3C"/>
                          </a:solidFill>
                          <a:latin typeface="Calibri"/>
                        </a:rPr>
                        <a:t>admin / read / write is a catalogue label — nothing refuses a write tool to a read-only grant</a:t>
                      </a:r>
                    </a:p>
                  </a:txBody>
                  <a:tcPr marL="54864" marR="54864" marT="18288" marB="18288">
                    <a:solidFill>
                      <a:srgbClr val="F4F5F7"/>
                    </a:solidFill>
                  </a:tcPr>
                </a:tc>
              </a:tr>
            </a:tbl>
          </a:graphicData>
        </a:graphic>
      </p:graphicFrame>
      <p:sp>
        <p:nvSpPr>
          <p:cNvPr id="12" name="TextBox 11"/>
          <p:cNvSpPr txBox="1"/>
          <p:nvPr/>
        </p:nvSpPr>
        <p:spPr>
          <a:xfrm>
            <a:off x="502920" y="3703320"/>
            <a:ext cx="11155680" cy="365760"/>
          </a:xfrm>
          <a:prstGeom prst="rect">
            <a:avLst/>
          </a:prstGeom>
          <a:noFill/>
        </p:spPr>
        <p:txBody>
          <a:bodyPr wrap="square" anchor="t">
            <a:spAutoFit/>
          </a:bodyPr>
          <a:lstStyle/>
          <a:p>
            <a:pPr algn="l">
              <a:spcAft>
                <a:spcPts val="400"/>
              </a:spcAft>
            </a:pPr>
            <a:r>
              <a:rPr sz="1400" b="1">
                <a:solidFill>
                  <a:srgbClr val="2B2B3C"/>
                </a:solidFill>
                <a:latin typeface="Calibri"/>
              </a:rPr>
              <a:t>The compensating architecture — this is the substance of DD-3</a:t>
            </a:r>
          </a:p>
        </p:txBody>
      </p:sp>
      <p:sp>
        <p:nvSpPr>
          <p:cNvPr id="13" name="Rectangle 12"/>
          <p:cNvSpPr/>
          <p:nvPr/>
        </p:nvSpPr>
        <p:spPr>
          <a:xfrm>
            <a:off x="502920" y="4114800"/>
            <a:ext cx="5486400" cy="1920240"/>
          </a:xfrm>
          <a:prstGeom prst="rect">
            <a:avLst/>
          </a:prstGeom>
          <a:solidFill>
            <a:srgbClr val="D5E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4114800"/>
            <a:ext cx="5486400" cy="76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22452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MSR-15 · One server per trust boundary  (preferred)</a:t>
            </a:r>
          </a:p>
        </p:txBody>
      </p:sp>
      <p:sp>
        <p:nvSpPr>
          <p:cNvPr id="16" name="TextBox 15"/>
          <p:cNvSpPr txBox="1"/>
          <p:nvPr/>
        </p:nvSpPr>
        <p:spPr>
          <a:xfrm>
            <a:off x="640080" y="4645152"/>
            <a:ext cx="5212080" cy="1298448"/>
          </a:xfrm>
          <a:prstGeom prst="rect">
            <a:avLst/>
          </a:prstGeom>
          <a:noFill/>
        </p:spPr>
        <p:txBody>
          <a:bodyPr wrap="square">
            <a:spAutoFit/>
          </a:bodyPr>
          <a:lstStyle/>
          <a:p>
            <a:pPr>
              <a:spcAft>
                <a:spcPts val="300"/>
              </a:spcAft>
            </a:pPr>
            <a:r>
              <a:rPr sz="950">
                <a:solidFill>
                  <a:srgbClr val="2B2B3C"/>
                </a:solidFill>
                <a:latin typeface="Calibri"/>
              </a:rPr>
              <a:t>• Design the endpoint the way you would design a database role</a:t>
            </a:r>
          </a:p>
          <a:p>
            <a:pPr>
              <a:spcAft>
                <a:spcPts val="300"/>
              </a:spcAft>
            </a:pPr>
            <a:r>
              <a:rPr sz="950">
                <a:solidFill>
                  <a:srgbClr val="2B2B3C"/>
                </a:solidFill>
                <a:latin typeface="Calibri"/>
              </a:rPr>
              <a:t>• Split on: read vs write · classification tier · system of record · anything you would withdraw independently in an incident</a:t>
            </a:r>
          </a:p>
          <a:p>
            <a:pPr>
              <a:spcAft>
                <a:spcPts val="300"/>
              </a:spcAft>
            </a:pPr>
            <a:r>
              <a:rPr sz="950">
                <a:solidFill>
                  <a:srgbClr val="2B2B3C"/>
                </a:solidFill>
                <a:latin typeface="Calibri"/>
              </a:rPr>
              <a:t>• Costs one catalogue entry and one deployment row; buys a real platform-enforced grant boundary</a:t>
            </a:r>
          </a:p>
          <a:p>
            <a:pPr>
              <a:spcAft>
                <a:spcPts val="300"/>
              </a:spcAft>
            </a:pPr>
            <a:r>
              <a:rPr sz="950">
                <a:solidFill>
                  <a:srgbClr val="2B2B3C"/>
                </a:solidFill>
                <a:latin typeface="Calibri"/>
              </a:rPr>
              <a:t>• Reversible in a way a shared endpoint is not — narrowing later is a migration</a:t>
            </a:r>
          </a:p>
        </p:txBody>
      </p:sp>
      <p:sp>
        <p:nvSpPr>
          <p:cNvPr id="17" name="Rectangle 16"/>
          <p:cNvSpPr/>
          <p:nvPr/>
        </p:nvSpPr>
        <p:spPr>
          <a:xfrm>
            <a:off x="6172200" y="4114800"/>
            <a:ext cx="5486400" cy="192024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4114800"/>
            <a:ext cx="5486400" cy="762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422452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MSR-16 · Server-side tool authorization  (fallback)</a:t>
            </a:r>
          </a:p>
        </p:txBody>
      </p:sp>
      <p:sp>
        <p:nvSpPr>
          <p:cNvPr id="20" name="TextBox 19"/>
          <p:cNvSpPr txBox="1"/>
          <p:nvPr/>
        </p:nvSpPr>
        <p:spPr>
          <a:xfrm>
            <a:off x="6309360" y="4645152"/>
            <a:ext cx="5212080" cy="1298448"/>
          </a:xfrm>
          <a:prstGeom prst="rect">
            <a:avLst/>
          </a:prstGeom>
          <a:noFill/>
        </p:spPr>
        <p:txBody>
          <a:bodyPr wrap="square">
            <a:spAutoFit/>
          </a:bodyPr>
          <a:lstStyle/>
          <a:p>
            <a:pPr>
              <a:spcAft>
                <a:spcPts val="300"/>
              </a:spcAft>
            </a:pPr>
            <a:r>
              <a:rPr sz="950">
                <a:solidFill>
                  <a:srgbClr val="2B2B3C"/>
                </a:solidFill>
                <a:latin typeface="Calibri"/>
              </a:rPr>
              <a:t>• Where the split cannot be made, the server authorizes per tool from the identity it receives</a:t>
            </a:r>
          </a:p>
          <a:p>
            <a:pPr>
              <a:spcAft>
                <a:spcPts val="300"/>
              </a:spcAft>
            </a:pPr>
            <a:r>
              <a:rPr sz="950">
                <a:solidFill>
                  <a:srgbClr val="2B2B3C"/>
                </a:solidFill>
                <a:latin typeface="Calibri"/>
              </a:rPr>
              <a:t>• Only possible in delegated_exchange or token_forward — a gateway_identity server has no identity to authorize</a:t>
            </a:r>
          </a:p>
          <a:p>
            <a:pPr>
              <a:spcAft>
                <a:spcPts val="300"/>
              </a:spcAft>
            </a:pPr>
            <a:r>
              <a:rPr sz="950">
                <a:solidFill>
                  <a:srgbClr val="2B2B3C"/>
                </a:solidFill>
                <a:latin typeface="Calibri"/>
              </a:rPr>
              <a:t>• That is the strongest practical argument against gateway_identity for anything with a write tool</a:t>
            </a:r>
          </a:p>
          <a:p>
            <a:pPr>
              <a:spcAft>
                <a:spcPts val="300"/>
              </a:spcAft>
            </a:pPr>
            <a:r>
              <a:rPr sz="950">
                <a:solidFill>
                  <a:srgbClr val="2B2B3C"/>
                </a:solidFill>
                <a:latin typeface="Calibri"/>
              </a:rPr>
              <a:t>• The control then sits on the server and is assessed there, not on ACP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The ISRA Control Set — 25 Controls, Each With Evidence</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11</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50" b="1">
                <a:solidFill>
                  <a:srgbClr val="2B2B3C"/>
                </a:solidFill>
                <a:latin typeface="Calibri"/>
              </a:rPr>
              <a:t>Every control has a type, an enforcement point, retrievable evidence and an owner. A control that cannot be evidenced is not a control.</a:t>
            </a:r>
          </a:p>
        </p:txBody>
      </p:sp>
      <p:graphicFrame>
        <p:nvGraphicFramePr>
          <p:cNvPr id="10" name="Table 9"/>
          <p:cNvGraphicFramePr>
            <a:graphicFrameLocks noGrp="1"/>
          </p:cNvGraphicFramePr>
          <p:nvPr/>
        </p:nvGraphicFramePr>
        <p:xfrm>
          <a:off x="502920" y="1828800"/>
          <a:ext cx="11155680" cy="3108960"/>
        </p:xfrm>
        <a:graphic>
          <a:graphicData uri="http://schemas.openxmlformats.org/drawingml/2006/table">
            <a:tbl>
              <a:tblPr firstRow="1" bandRow="1">
                <a:tableStyleId>{5C22544A-7EE6-4342-B048-85BDC9FD1C3A}</a:tableStyleId>
              </a:tblPr>
              <a:tblGrid>
                <a:gridCol w="3017520"/>
                <a:gridCol w="1371600"/>
                <a:gridCol w="2834640"/>
                <a:gridCol w="3931920"/>
              </a:tblGrid>
              <a:tr h="310896">
                <a:tc>
                  <a:txBody>
                    <a:bodyPr/>
                    <a:lstStyle/>
                    <a:p>
                      <a:r>
                        <a:rPr sz="1000" b="1">
                          <a:solidFill>
                            <a:srgbClr val="FFFFFF"/>
                          </a:solidFill>
                          <a:latin typeface="Calibri"/>
                        </a:rPr>
                        <a:t>Group</a:t>
                      </a:r>
                    </a:p>
                  </a:txBody>
                  <a:tcPr marL="54864" marR="54864">
                    <a:solidFill>
                      <a:srgbClr val="1A1A2E"/>
                    </a:solidFill>
                  </a:tcPr>
                </a:tc>
                <a:tc>
                  <a:txBody>
                    <a:bodyPr/>
                    <a:lstStyle/>
                    <a:p>
                      <a:r>
                        <a:rPr sz="1000" b="1">
                          <a:solidFill>
                            <a:srgbClr val="FFFFFF"/>
                          </a:solidFill>
                          <a:latin typeface="Calibri"/>
                        </a:rPr>
                        <a:t>Controls</a:t>
                      </a:r>
                    </a:p>
                  </a:txBody>
                  <a:tcPr marL="54864" marR="54864">
                    <a:solidFill>
                      <a:srgbClr val="1A1A2E"/>
                    </a:solidFill>
                  </a:tcPr>
                </a:tc>
                <a:tc>
                  <a:txBody>
                    <a:bodyPr/>
                    <a:lstStyle/>
                    <a:p>
                      <a:r>
                        <a:rPr sz="1000" b="1">
                          <a:solidFill>
                            <a:srgbClr val="FFFFFF"/>
                          </a:solidFill>
                          <a:latin typeface="Calibri"/>
                        </a:rPr>
                        <a:t>Enforcement point</a:t>
                      </a:r>
                    </a:p>
                  </a:txBody>
                  <a:tcPr marL="54864" marR="54864">
                    <a:solidFill>
                      <a:srgbClr val="1A1A2E"/>
                    </a:solidFill>
                  </a:tcPr>
                </a:tc>
                <a:tc>
                  <a:txBody>
                    <a:bodyPr/>
                    <a:lstStyle/>
                    <a:p>
                      <a:r>
                        <a:rPr sz="1000" b="1">
                          <a:solidFill>
                            <a:srgbClr val="FFFFFF"/>
                          </a:solidFill>
                          <a:latin typeface="Calibri"/>
                        </a:rPr>
                        <a:t>Evidence an assessor retrieves</a:t>
                      </a:r>
                    </a:p>
                  </a:txBody>
                  <a:tcPr marL="54864" marR="54864">
                    <a:solidFill>
                      <a:srgbClr val="1A1A2E"/>
                    </a:solidFill>
                  </a:tcPr>
                </a:tc>
              </a:tr>
              <a:tr h="310896">
                <a:tc>
                  <a:txBody>
                    <a:bodyPr/>
                    <a:lstStyle/>
                    <a:p>
                      <a:r>
                        <a:rPr sz="900">
                          <a:solidFill>
                            <a:srgbClr val="2B2B3C"/>
                          </a:solidFill>
                          <a:latin typeface="Calibri"/>
                        </a:rPr>
                        <a:t>Authentication &amp; credential eligibility</a:t>
                      </a:r>
                    </a:p>
                  </a:txBody>
                  <a:tcPr marL="54864" marR="54864" marT="18288" marB="18288">
                    <a:solidFill>
                      <a:srgbClr val="FFFFFF"/>
                    </a:solidFill>
                  </a:tcPr>
                </a:tc>
                <a:tc>
                  <a:txBody>
                    <a:bodyPr/>
                    <a:lstStyle/>
                    <a:p>
                      <a:r>
                        <a:rPr sz="900">
                          <a:solidFill>
                            <a:srgbClr val="2B2B3C"/>
                          </a:solidFill>
                          <a:latin typeface="Calibri"/>
                        </a:rPr>
                        <a:t>C-1, C-2</a:t>
                      </a:r>
                    </a:p>
                  </a:txBody>
                  <a:tcPr marL="54864" marR="54864" marT="18288" marB="18288">
                    <a:solidFill>
                      <a:srgbClr val="FFFFFF"/>
                    </a:solidFill>
                  </a:tcPr>
                </a:tc>
                <a:tc>
                  <a:txBody>
                    <a:bodyPr/>
                    <a:lstStyle/>
                    <a:p>
                      <a:r>
                        <a:rPr sz="900">
                          <a:solidFill>
                            <a:srgbClr val="2B2B3C"/>
                          </a:solidFill>
                          <a:latin typeface="Calibri"/>
                        </a:rPr>
                        <a:t>Gateway (JWKS / portal)</a:t>
                      </a:r>
                    </a:p>
                  </a:txBody>
                  <a:tcPr marL="54864" marR="54864" marT="18288" marB="18288">
                    <a:solidFill>
                      <a:srgbClr val="FFFFFF"/>
                    </a:solidFill>
                  </a:tcPr>
                </a:tc>
                <a:tc>
                  <a:txBody>
                    <a:bodyPr/>
                    <a:lstStyle/>
                    <a:p>
                      <a:r>
                        <a:rPr sz="900">
                          <a:solidFill>
                            <a:srgbClr val="2B2B3C"/>
                          </a:solidFill>
                          <a:latin typeface="Calibri"/>
                        </a:rPr>
                        <a:t>401 and 403 with the specific refusal reason on a negative test</a:t>
                      </a:r>
                    </a:p>
                  </a:txBody>
                  <a:tcPr marL="54864" marR="54864" marT="18288" marB="18288">
                    <a:solidFill>
                      <a:srgbClr val="FFFFFF"/>
                    </a:solidFill>
                  </a:tcPr>
                </a:tc>
              </a:tr>
              <a:tr h="310896">
                <a:tc>
                  <a:txBody>
                    <a:bodyPr/>
                    <a:lstStyle/>
                    <a:p>
                      <a:r>
                        <a:rPr sz="900">
                          <a:solidFill>
                            <a:srgbClr val="2B2B3C"/>
                          </a:solidFill>
                          <a:latin typeface="Calibri"/>
                        </a:rPr>
                        <a:t>Authorization</a:t>
                      </a:r>
                    </a:p>
                  </a:txBody>
                  <a:tcPr marL="54864" marR="54864" marT="18288" marB="18288">
                    <a:solidFill>
                      <a:srgbClr val="F4F5F7"/>
                    </a:solidFill>
                  </a:tcPr>
                </a:tc>
                <a:tc>
                  <a:txBody>
                    <a:bodyPr/>
                    <a:lstStyle/>
                    <a:p>
                      <a:r>
                        <a:rPr sz="900">
                          <a:solidFill>
                            <a:srgbClr val="2B2B3C"/>
                          </a:solidFill>
                          <a:latin typeface="Calibri"/>
                        </a:rPr>
                        <a:t>C-3, C-4, C-5</a:t>
                      </a:r>
                    </a:p>
                  </a:txBody>
                  <a:tcPr marL="54864" marR="54864" marT="18288" marB="18288">
                    <a:solidFill>
                      <a:srgbClr val="F4F5F7"/>
                    </a:solidFill>
                  </a:tcPr>
                </a:tc>
                <a:tc>
                  <a:txBody>
                    <a:bodyPr/>
                    <a:lstStyle/>
                    <a:p>
                      <a:r>
                        <a:rPr sz="900">
                          <a:solidFill>
                            <a:srgbClr val="2B2B3C"/>
                          </a:solidFill>
                          <a:latin typeface="Calibri"/>
                        </a:rPr>
                        <a:t>Portal access decision; server-side or split endpoints</a:t>
                      </a:r>
                    </a:p>
                  </a:txBody>
                  <a:tcPr marL="54864" marR="54864" marT="18288" marB="18288">
                    <a:solidFill>
                      <a:srgbClr val="F4F5F7"/>
                    </a:solidFill>
                  </a:tcPr>
                </a:tc>
                <a:tc>
                  <a:txBody>
                    <a:bodyPr/>
                    <a:lstStyle/>
                    <a:p>
                      <a:r>
                        <a:rPr sz="900">
                          <a:solidFill>
                            <a:srgbClr val="2B2B3C"/>
                          </a:solidFill>
                          <a:latin typeface="Calibri"/>
                        </a:rPr>
                        <a:t>The policy record; a per-tool negative test</a:t>
                      </a:r>
                    </a:p>
                  </a:txBody>
                  <a:tcPr marL="54864" marR="54864" marT="18288" marB="18288">
                    <a:solidFill>
                      <a:srgbClr val="F4F5F7"/>
                    </a:solidFill>
                  </a:tcPr>
                </a:tc>
              </a:tr>
              <a:tr h="310896">
                <a:tc>
                  <a:txBody>
                    <a:bodyPr/>
                    <a:lstStyle/>
                    <a:p>
                      <a:r>
                        <a:rPr sz="900">
                          <a:solidFill>
                            <a:srgbClr val="2B2B3C"/>
                          </a:solidFill>
                          <a:latin typeface="Calibri"/>
                        </a:rPr>
                        <a:t>Network &amp; transport</a:t>
                      </a:r>
                    </a:p>
                  </a:txBody>
                  <a:tcPr marL="54864" marR="54864" marT="18288" marB="18288">
                    <a:solidFill>
                      <a:srgbClr val="FFFFFF"/>
                    </a:solidFill>
                  </a:tcPr>
                </a:tc>
                <a:tc>
                  <a:txBody>
                    <a:bodyPr/>
                    <a:lstStyle/>
                    <a:p>
                      <a:r>
                        <a:rPr sz="900">
                          <a:solidFill>
                            <a:srgbClr val="2B2B3C"/>
                          </a:solidFill>
                          <a:latin typeface="Calibri"/>
                        </a:rPr>
                        <a:t>C-6, C-7</a:t>
                      </a:r>
                    </a:p>
                  </a:txBody>
                  <a:tcPr marL="54864" marR="54864" marT="18288" marB="18288">
                    <a:solidFill>
                      <a:srgbClr val="FFFFFF"/>
                    </a:solidFill>
                  </a:tcPr>
                </a:tc>
                <a:tc>
                  <a:txBody>
                    <a:bodyPr/>
                    <a:lstStyle/>
                    <a:p>
                      <a:r>
                        <a:rPr sz="900">
                          <a:solidFill>
                            <a:srgbClr val="2B2B3C"/>
                          </a:solidFill>
                          <a:latin typeface="Calibri"/>
                        </a:rPr>
                        <a:t>NetworkPolicy / SG / private endpoint; TLS</a:t>
                      </a:r>
                    </a:p>
                  </a:txBody>
                  <a:tcPr marL="54864" marR="54864" marT="18288" marB="18288">
                    <a:solidFill>
                      <a:srgbClr val="FFFFFF"/>
                    </a:solidFill>
                  </a:tcPr>
                </a:tc>
                <a:tc>
                  <a:txBody>
                    <a:bodyPr/>
                    <a:lstStyle/>
                    <a:p>
                      <a:r>
                        <a:rPr sz="900">
                          <a:solidFill>
                            <a:srgbClr val="2B2B3C"/>
                          </a:solidFill>
                          <a:latin typeface="Calibri"/>
                        </a:rPr>
                        <a:t>Negative test from a non-gateway workload; CA count in the gateway pod</a:t>
                      </a:r>
                    </a:p>
                  </a:txBody>
                  <a:tcPr marL="54864" marR="54864" marT="18288" marB="18288">
                    <a:solidFill>
                      <a:srgbClr val="FFFFFF"/>
                    </a:solidFill>
                  </a:tcPr>
                </a:tc>
              </a:tr>
              <a:tr h="310896">
                <a:tc>
                  <a:txBody>
                    <a:bodyPr/>
                    <a:lstStyle/>
                    <a:p>
                      <a:r>
                        <a:rPr sz="900">
                          <a:solidFill>
                            <a:srgbClr val="2B2B3C"/>
                          </a:solidFill>
                          <a:latin typeface="Calibri"/>
                        </a:rPr>
                        <a:t>Credential containment</a:t>
                      </a:r>
                    </a:p>
                  </a:txBody>
                  <a:tcPr marL="54864" marR="54864" marT="18288" marB="18288">
                    <a:solidFill>
                      <a:srgbClr val="F4F5F7"/>
                    </a:solidFill>
                  </a:tcPr>
                </a:tc>
                <a:tc>
                  <a:txBody>
                    <a:bodyPr/>
                    <a:lstStyle/>
                    <a:p>
                      <a:r>
                        <a:rPr sz="900">
                          <a:solidFill>
                            <a:srgbClr val="2B2B3C"/>
                          </a:solidFill>
                          <a:latin typeface="Calibri"/>
                        </a:rPr>
                        <a:t>C-8, C-9, C-10</a:t>
                      </a:r>
                    </a:p>
                  </a:txBody>
                  <a:tcPr marL="54864" marR="54864" marT="18288" marB="18288">
                    <a:solidFill>
                      <a:srgbClr val="F4F5F7"/>
                    </a:solidFill>
                  </a:tcPr>
                </a:tc>
                <a:tc>
                  <a:txBody>
                    <a:bodyPr/>
                    <a:lstStyle/>
                    <a:p>
                      <a:r>
                        <a:rPr sz="900">
                          <a:solidFill>
                            <a:srgbClr val="2B2B3C"/>
                          </a:solidFill>
                          <a:latin typeface="Calibri"/>
                        </a:rPr>
                        <a:t>Gateway refusal paths; portal token exchange</a:t>
                      </a:r>
                    </a:p>
                  </a:txBody>
                  <a:tcPr marL="54864" marR="54864" marT="18288" marB="18288">
                    <a:solidFill>
                      <a:srgbClr val="F4F5F7"/>
                    </a:solidFill>
                  </a:tcPr>
                </a:tc>
                <a:tc>
                  <a:txBody>
                    <a:bodyPr/>
                    <a:lstStyle/>
                    <a:p>
                      <a:r>
                        <a:rPr sz="900">
                          <a:solidFill>
                            <a:srgbClr val="2B2B3C"/>
                          </a:solidFill>
                          <a:latin typeface="Calibri"/>
                        </a:rPr>
                        <a:t>403 platform_minted_not_forwardable; refusal of a foreign-deployment token</a:t>
                      </a:r>
                    </a:p>
                  </a:txBody>
                  <a:tcPr marL="54864" marR="54864" marT="18288" marB="18288">
                    <a:solidFill>
                      <a:srgbClr val="F4F5F7"/>
                    </a:solidFill>
                  </a:tcPr>
                </a:tc>
              </a:tr>
              <a:tr h="310896">
                <a:tc>
                  <a:txBody>
                    <a:bodyPr/>
                    <a:lstStyle/>
                    <a:p>
                      <a:r>
                        <a:rPr sz="900">
                          <a:solidFill>
                            <a:srgbClr val="2B2B3C"/>
                          </a:solidFill>
                          <a:latin typeface="Calibri"/>
                        </a:rPr>
                        <a:t>Content control</a:t>
                      </a:r>
                    </a:p>
                  </a:txBody>
                  <a:tcPr marL="54864" marR="54864" marT="18288" marB="18288">
                    <a:solidFill>
                      <a:srgbClr val="FFFFFF"/>
                    </a:solidFill>
                  </a:tcPr>
                </a:tc>
                <a:tc>
                  <a:txBody>
                    <a:bodyPr/>
                    <a:lstStyle/>
                    <a:p>
                      <a:r>
                        <a:rPr sz="900">
                          <a:solidFill>
                            <a:srgbClr val="2B2B3C"/>
                          </a:solidFill>
                          <a:latin typeface="Calibri"/>
                        </a:rPr>
                        <a:t>C-11, C-12</a:t>
                      </a:r>
                    </a:p>
                  </a:txBody>
                  <a:tcPr marL="54864" marR="54864" marT="18288" marB="18288">
                    <a:solidFill>
                      <a:srgbClr val="FFFFFF"/>
                    </a:solidFill>
                  </a:tcPr>
                </a:tc>
                <a:tc>
                  <a:txBody>
                    <a:bodyPr/>
                    <a:lstStyle/>
                    <a:p>
                      <a:r>
                        <a:rPr sz="900">
                          <a:solidFill>
                            <a:srgbClr val="2B2B3C"/>
                          </a:solidFill>
                          <a:latin typeface="Calibri"/>
                        </a:rPr>
                        <a:t>Guardrails on mcp_server; server-side output bound</a:t>
                      </a:r>
                    </a:p>
                  </a:txBody>
                  <a:tcPr marL="54864" marR="54864" marT="18288" marB="18288">
                    <a:solidFill>
                      <a:srgbClr val="FFFFFF"/>
                    </a:solidFill>
                  </a:tcPr>
                </a:tc>
                <a:tc>
                  <a:txBody>
                    <a:bodyPr/>
                    <a:lstStyle/>
                    <a:p>
                      <a:r>
                        <a:rPr sz="900">
                          <a:solidFill>
                            <a:srgbClr val="2B2B3C"/>
                          </a:solidFill>
                          <a:latin typeface="Calibri"/>
                        </a:rPr>
                        <a:t>Guardrail binding; a positive detection test</a:t>
                      </a:r>
                    </a:p>
                  </a:txBody>
                  <a:tcPr marL="54864" marR="54864" marT="18288" marB="18288">
                    <a:solidFill>
                      <a:srgbClr val="FFFFFF"/>
                    </a:solidFill>
                  </a:tcPr>
                </a:tc>
              </a:tr>
              <a:tr h="310896">
                <a:tc>
                  <a:txBody>
                    <a:bodyPr/>
                    <a:lstStyle/>
                    <a:p>
                      <a:r>
                        <a:rPr sz="900">
                          <a:solidFill>
                            <a:srgbClr val="2B2B3C"/>
                          </a:solidFill>
                          <a:latin typeface="Calibri"/>
                        </a:rPr>
                        <a:t>Supply chain</a:t>
                      </a:r>
                    </a:p>
                  </a:txBody>
                  <a:tcPr marL="54864" marR="54864" marT="18288" marB="18288">
                    <a:solidFill>
                      <a:srgbClr val="F4F5F7"/>
                    </a:solidFill>
                  </a:tcPr>
                </a:tc>
                <a:tc>
                  <a:txBody>
                    <a:bodyPr/>
                    <a:lstStyle/>
                    <a:p>
                      <a:r>
                        <a:rPr sz="900">
                          <a:solidFill>
                            <a:srgbClr val="2B2B3C"/>
                          </a:solidFill>
                          <a:latin typeface="Calibri"/>
                        </a:rPr>
                        <a:t>C-13 … C-17</a:t>
                      </a:r>
                    </a:p>
                  </a:txBody>
                  <a:tcPr marL="54864" marR="54864" marT="18288" marB="18288">
                    <a:solidFill>
                      <a:srgbClr val="F4F5F7"/>
                    </a:solidFill>
                  </a:tcPr>
                </a:tc>
                <a:tc>
                  <a:txBody>
                    <a:bodyPr/>
                    <a:lstStyle/>
                    <a:p>
                      <a:r>
                        <a:rPr sz="900">
                          <a:solidFill>
                            <a:srgbClr val="2B2B3C"/>
                          </a:solidFill>
                          <a:latin typeface="Calibri"/>
                        </a:rPr>
                        <a:t>Checkmarx, Snyk, SonarQube, registry, Vault</a:t>
                      </a:r>
                    </a:p>
                  </a:txBody>
                  <a:tcPr marL="54864" marR="54864" marT="18288" marB="18288">
                    <a:solidFill>
                      <a:srgbClr val="F4F5F7"/>
                    </a:solidFill>
                  </a:tcPr>
                </a:tc>
                <a:tc>
                  <a:txBody>
                    <a:bodyPr/>
                    <a:lstStyle/>
                    <a:p>
                      <a:r>
                        <a:rPr sz="900">
                          <a:solidFill>
                            <a:srgbClr val="2B2B3C"/>
                          </a:solidFill>
                          <a:latin typeface="Calibri"/>
                        </a:rPr>
                        <a:t>Scan id, SBOM, quality gate, digest match, secret source</a:t>
                      </a:r>
                    </a:p>
                  </a:txBody>
                  <a:tcPr marL="54864" marR="54864" marT="18288" marB="18288">
                    <a:solidFill>
                      <a:srgbClr val="F4F5F7"/>
                    </a:solidFill>
                  </a:tcPr>
                </a:tc>
              </a:tr>
              <a:tr h="310896">
                <a:tc>
                  <a:txBody>
                    <a:bodyPr/>
                    <a:lstStyle/>
                    <a:p>
                      <a:r>
                        <a:rPr sz="900">
                          <a:solidFill>
                            <a:srgbClr val="2B2B3C"/>
                          </a:solidFill>
                          <a:latin typeface="Calibri"/>
                        </a:rPr>
                        <a:t>Inventory &amp; change</a:t>
                      </a:r>
                    </a:p>
                  </a:txBody>
                  <a:tcPr marL="54864" marR="54864" marT="18288" marB="18288">
                    <a:solidFill>
                      <a:srgbClr val="FFFFFF"/>
                    </a:solidFill>
                  </a:tcPr>
                </a:tc>
                <a:tc>
                  <a:txBody>
                    <a:bodyPr/>
                    <a:lstStyle/>
                    <a:p>
                      <a:r>
                        <a:rPr sz="900">
                          <a:solidFill>
                            <a:srgbClr val="2B2B3C"/>
                          </a:solidFill>
                          <a:latin typeface="Calibri"/>
                        </a:rPr>
                        <a:t>C-18, C-19</a:t>
                      </a:r>
                    </a:p>
                  </a:txBody>
                  <a:tcPr marL="54864" marR="54864" marT="18288" marB="18288">
                    <a:solidFill>
                      <a:srgbClr val="FFFFFF"/>
                    </a:solidFill>
                  </a:tcPr>
                </a:tc>
                <a:tc>
                  <a:txBody>
                    <a:bodyPr/>
                    <a:lstStyle/>
                    <a:p>
                      <a:r>
                        <a:rPr sz="900">
                          <a:solidFill>
                            <a:srgbClr val="2B2B3C"/>
                          </a:solidFill>
                          <a:latin typeface="Calibri"/>
                        </a:rPr>
                        <a:t>Catalogue vs live tools/list; change process</a:t>
                      </a:r>
                    </a:p>
                  </a:txBody>
                  <a:tcPr marL="54864" marR="54864" marT="18288" marB="18288">
                    <a:solidFill>
                      <a:srgbClr val="FFFFFF"/>
                    </a:solidFill>
                  </a:tcPr>
                </a:tc>
                <a:tc>
                  <a:txBody>
                    <a:bodyPr/>
                    <a:lstStyle/>
                    <a:p>
                      <a:r>
                        <a:rPr sz="900">
                          <a:solidFill>
                            <a:srgbClr val="2B2B3C"/>
                          </a:solidFill>
                          <a:latin typeface="Calibri"/>
                        </a:rPr>
                        <a:t>Release-time diff; change record</a:t>
                      </a:r>
                    </a:p>
                  </a:txBody>
                  <a:tcPr marL="54864" marR="54864" marT="18288" marB="18288">
                    <a:solidFill>
                      <a:srgbClr val="FFFFFF"/>
                    </a:solidFill>
                  </a:tcPr>
                </a:tc>
              </a:tr>
              <a:tr h="310896">
                <a:tc>
                  <a:txBody>
                    <a:bodyPr/>
                    <a:lstStyle/>
                    <a:p>
                      <a:r>
                        <a:rPr sz="900">
                          <a:solidFill>
                            <a:srgbClr val="2B2B3C"/>
                          </a:solidFill>
                          <a:latin typeface="Calibri"/>
                        </a:rPr>
                        <a:t>Audit &amp; attribution</a:t>
                      </a:r>
                    </a:p>
                  </a:txBody>
                  <a:tcPr marL="54864" marR="54864" marT="18288" marB="18288">
                    <a:solidFill>
                      <a:srgbClr val="F4F5F7"/>
                    </a:solidFill>
                  </a:tcPr>
                </a:tc>
                <a:tc>
                  <a:txBody>
                    <a:bodyPr/>
                    <a:lstStyle/>
                    <a:p>
                      <a:r>
                        <a:rPr sz="900">
                          <a:solidFill>
                            <a:srgbClr val="2B2B3C"/>
                          </a:solidFill>
                          <a:latin typeface="Calibri"/>
                        </a:rPr>
                        <a:t>C-20, C-21, C-22</a:t>
                      </a:r>
                    </a:p>
                  </a:txBody>
                  <a:tcPr marL="54864" marR="54864" marT="18288" marB="18288">
                    <a:solidFill>
                      <a:srgbClr val="F4F5F7"/>
                    </a:solidFill>
                  </a:tcPr>
                </a:tc>
                <a:tc>
                  <a:txBody>
                    <a:bodyPr/>
                    <a:lstStyle/>
                    <a:p>
                      <a:r>
                        <a:rPr sz="900">
                          <a:solidFill>
                            <a:srgbClr val="2B2B3C"/>
                          </a:solidFill>
                          <a:latin typeface="Calibri"/>
                        </a:rPr>
                        <a:t>Append-only audit trail; tracing headers</a:t>
                      </a:r>
                    </a:p>
                  </a:txBody>
                  <a:tcPr marL="54864" marR="54864" marT="18288" marB="18288">
                    <a:solidFill>
                      <a:srgbClr val="F4F5F7"/>
                    </a:solidFill>
                  </a:tcPr>
                </a:tc>
                <a:tc>
                  <a:txBody>
                    <a:bodyPr/>
                    <a:lstStyle/>
                    <a:p>
                      <a:r>
                        <a:rPr sz="900">
                          <a:solidFill>
                            <a:srgbClr val="2B2B3C"/>
                          </a:solidFill>
                          <a:latin typeface="Calibri"/>
                        </a:rPr>
                        <a:t>Authorize + access event pair per call; a trace naming caller, server and method</a:t>
                      </a:r>
                    </a:p>
                  </a:txBody>
                  <a:tcPr marL="54864" marR="54864" marT="18288" marB="18288">
                    <a:solidFill>
                      <a:srgbClr val="F4F5F7"/>
                    </a:solidFill>
                  </a:tcPr>
                </a:tc>
              </a:tr>
              <a:tr h="310896">
                <a:tc>
                  <a:txBody>
                    <a:bodyPr/>
                    <a:lstStyle/>
                    <a:p>
                      <a:r>
                        <a:rPr sz="900">
                          <a:solidFill>
                            <a:srgbClr val="2B2B3C"/>
                          </a:solidFill>
                          <a:latin typeface="Calibri"/>
                        </a:rPr>
                        <a:t>Withdrawal &amp; governance</a:t>
                      </a:r>
                    </a:p>
                  </a:txBody>
                  <a:tcPr marL="54864" marR="54864" marT="18288" marB="18288">
                    <a:solidFill>
                      <a:srgbClr val="FFFFFF"/>
                    </a:solidFill>
                  </a:tcPr>
                </a:tc>
                <a:tc>
                  <a:txBody>
                    <a:bodyPr/>
                    <a:lstStyle/>
                    <a:p>
                      <a:r>
                        <a:rPr sz="900">
                          <a:solidFill>
                            <a:srgbClr val="2B2B3C"/>
                          </a:solidFill>
                          <a:latin typeface="Calibri"/>
                        </a:rPr>
                        <a:t>C-23, C-24, C-25</a:t>
                      </a:r>
                    </a:p>
                  </a:txBody>
                  <a:tcPr marL="54864" marR="54864" marT="18288" marB="18288">
                    <a:solidFill>
                      <a:srgbClr val="FFFFFF"/>
                    </a:solidFill>
                  </a:tcPr>
                </a:tc>
                <a:tc>
                  <a:txBody>
                    <a:bodyPr/>
                    <a:lstStyle/>
                    <a:p>
                      <a:r>
                        <a:rPr sz="900">
                          <a:solidFill>
                            <a:srgbClr val="2B2B3C"/>
                          </a:solidFill>
                          <a:latin typeface="Calibri"/>
                        </a:rPr>
                        <a:t>Status / policy / governance suspension</a:t>
                      </a:r>
                    </a:p>
                  </a:txBody>
                  <a:tcPr marL="54864" marR="54864" marT="18288" marB="18288">
                    <a:solidFill>
                      <a:srgbClr val="FFFFFF"/>
                    </a:solidFill>
                  </a:tcPr>
                </a:tc>
                <a:tc>
                  <a:txBody>
                    <a:bodyPr/>
                    <a:lstStyle/>
                    <a:p>
                      <a:r>
                        <a:rPr sz="900">
                          <a:solidFill>
                            <a:srgbClr val="2B2B3C"/>
                          </a:solidFill>
                          <a:latin typeface="Calibri"/>
                        </a:rPr>
                        <a:t>MEASURED propagation time; recorded suspension preview; state and reason</a:t>
                      </a:r>
                    </a:p>
                  </a:txBody>
                  <a:tcPr marL="54864" marR="54864" marT="18288" marB="18288">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Build &amp; Supply Chain — And Why a Green Pipeline Is Not Evidence</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12</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00" b="1">
                <a:solidFill>
                  <a:srgbClr val="2B2B3C"/>
                </a:solidFill>
                <a:latin typeface="Calibri"/>
              </a:rPr>
              <a:t>MCP servers build on the approved Jenkins JTE path. The library defaults are already correct; what has drifted is how the ACP estate configures them.</a:t>
            </a:r>
          </a:p>
        </p:txBody>
      </p:sp>
      <p:graphicFrame>
        <p:nvGraphicFramePr>
          <p:cNvPr id="10" name="Table 9"/>
          <p:cNvGraphicFramePr>
            <a:graphicFrameLocks noGrp="1"/>
          </p:cNvGraphicFramePr>
          <p:nvPr/>
        </p:nvGraphicFramePr>
        <p:xfrm>
          <a:off x="502920" y="1874519"/>
          <a:ext cx="11155680" cy="1554480"/>
        </p:xfrm>
        <a:graphic>
          <a:graphicData uri="http://schemas.openxmlformats.org/drawingml/2006/table">
            <a:tbl>
              <a:tblPr firstRow="1" bandRow="1">
                <a:tableStyleId>{5C22544A-7EE6-4342-B048-85BDC9FD1C3A}</a:tableStyleId>
              </a:tblPr>
              <a:tblGrid>
                <a:gridCol w="2286000"/>
                <a:gridCol w="1828800"/>
                <a:gridCol w="2743200"/>
                <a:gridCol w="2103120"/>
                <a:gridCol w="2194560"/>
              </a:tblGrid>
              <a:tr h="310896">
                <a:tc>
                  <a:txBody>
                    <a:bodyPr/>
                    <a:lstStyle/>
                    <a:p>
                      <a:r>
                        <a:rPr sz="1000" b="1">
                          <a:solidFill>
                            <a:srgbClr val="FFFFFF"/>
                          </a:solidFill>
                          <a:latin typeface="Calibri"/>
                        </a:rPr>
                        <a:t>Gate</a:t>
                      </a:r>
                    </a:p>
                  </a:txBody>
                  <a:tcPr marL="54864" marR="54864">
                    <a:solidFill>
                      <a:srgbClr val="1A1A2E"/>
                    </a:solidFill>
                  </a:tcPr>
                </a:tc>
                <a:tc>
                  <a:txBody>
                    <a:bodyPr/>
                    <a:lstStyle/>
                    <a:p>
                      <a:r>
                        <a:rPr sz="1000" b="1">
                          <a:solidFill>
                            <a:srgbClr val="FFFFFF"/>
                          </a:solidFill>
                          <a:latin typeface="Calibri"/>
                        </a:rPr>
                        <a:t>JTE step</a:t>
                      </a:r>
                    </a:p>
                  </a:txBody>
                  <a:tcPr marL="54864" marR="54864">
                    <a:solidFill>
                      <a:srgbClr val="1A1A2E"/>
                    </a:solidFill>
                  </a:tcPr>
                </a:tc>
                <a:tc>
                  <a:txBody>
                    <a:bodyPr/>
                    <a:lstStyle/>
                    <a:p>
                      <a:r>
                        <a:rPr sz="1000" b="1">
                          <a:solidFill>
                            <a:srgbClr val="FFFFFF"/>
                          </a:solidFill>
                          <a:latin typeface="Calibri"/>
                        </a:rPr>
                        <a:t>Library default</a:t>
                      </a:r>
                    </a:p>
                  </a:txBody>
                  <a:tcPr marL="54864" marR="54864">
                    <a:solidFill>
                      <a:srgbClr val="1A1A2E"/>
                    </a:solidFill>
                  </a:tcPr>
                </a:tc>
                <a:tc>
                  <a:txBody>
                    <a:bodyPr/>
                    <a:lstStyle/>
                    <a:p>
                      <a:r>
                        <a:rPr sz="1000" b="1">
                          <a:solidFill>
                            <a:srgbClr val="FFFFFF"/>
                          </a:solidFill>
                          <a:latin typeface="Calibri"/>
                        </a:rPr>
                        <a:t>ACP estate today</a:t>
                      </a:r>
                    </a:p>
                  </a:txBody>
                  <a:tcPr marL="54864" marR="54864">
                    <a:solidFill>
                      <a:srgbClr val="1A1A2E"/>
                    </a:solidFill>
                  </a:tcPr>
                </a:tc>
                <a:tc>
                  <a:txBody>
                    <a:bodyPr/>
                    <a:lstStyle/>
                    <a:p>
                      <a:r>
                        <a:rPr sz="1000" b="1">
                          <a:solidFill>
                            <a:srgbClr val="FFFFFF"/>
                          </a:solidFill>
                          <a:latin typeface="Calibri"/>
                        </a:rPr>
                        <a:t>Required for an MCP server</a:t>
                      </a:r>
                    </a:p>
                  </a:txBody>
                  <a:tcPr marL="54864" marR="54864">
                    <a:solidFill>
                      <a:srgbClr val="1A1A2E"/>
                    </a:solidFill>
                  </a:tcPr>
                </a:tc>
              </a:tr>
              <a:tr h="310896">
                <a:tc>
                  <a:txBody>
                    <a:bodyPr/>
                    <a:lstStyle/>
                    <a:p>
                      <a:r>
                        <a:rPr sz="900">
                          <a:solidFill>
                            <a:srgbClr val="2B2B3C"/>
                          </a:solidFill>
                          <a:latin typeface="Calibri"/>
                        </a:rPr>
                        <a:t>SAST — Checkmarx</a:t>
                      </a:r>
                    </a:p>
                  </a:txBody>
                  <a:tcPr marL="54864" marR="54864" marT="18288" marB="18288">
                    <a:solidFill>
                      <a:srgbClr val="FFFFFF"/>
                    </a:solidFill>
                  </a:tcPr>
                </a:tc>
                <a:tc>
                  <a:txBody>
                    <a:bodyPr/>
                    <a:lstStyle/>
                    <a:p>
                      <a:r>
                        <a:rPr sz="900">
                          <a:solidFill>
                            <a:srgbClr val="2B2B3C"/>
                          </a:solidFill>
                          <a:latin typeface="Calibri"/>
                        </a:rPr>
                        <a:t>code_analysis()</a:t>
                      </a:r>
                    </a:p>
                  </a:txBody>
                  <a:tcPr marL="54864" marR="54864" marT="18288" marB="18288">
                    <a:solidFill>
                      <a:srgbClr val="FFFFFF"/>
                    </a:solidFill>
                  </a:tcPr>
                </a:tc>
                <a:tc>
                  <a:txBody>
                    <a:bodyPr/>
                    <a:lstStyle/>
                    <a:p>
                      <a:r>
                        <a:rPr sz="900">
                          <a:solidFill>
                            <a:srgbClr val="2B2B3C"/>
                          </a:solidFill>
                          <a:latin typeface="Calibri"/>
                        </a:rPr>
                        <a:t>enforce = TRUE, branches = [develop]</a:t>
                      </a:r>
                    </a:p>
                  </a:txBody>
                  <a:tcPr marL="54864" marR="54864" marT="18288" marB="18288">
                    <a:solidFill>
                      <a:srgbClr val="FFFFFF"/>
                    </a:solidFill>
                  </a:tcPr>
                </a:tc>
                <a:tc>
                  <a:txBody>
                    <a:bodyPr/>
                    <a:lstStyle/>
                    <a:p>
                      <a:r>
                        <a:rPr sz="900">
                          <a:solidFill>
                            <a:srgbClr val="2B2B3C"/>
                          </a:solidFill>
                          <a:latin typeface="Calibri"/>
                        </a:rPr>
                        <a:t>enforce = false, everywhere</a:t>
                      </a:r>
                    </a:p>
                  </a:txBody>
                  <a:tcPr marL="54864" marR="54864" marT="18288" marB="18288">
                    <a:solidFill>
                      <a:srgbClr val="FFFFFF"/>
                    </a:solidFill>
                  </a:tcPr>
                </a:tc>
                <a:tc>
                  <a:txBody>
                    <a:bodyPr/>
                    <a:lstStyle/>
                    <a:p>
                      <a:r>
                        <a:rPr sz="900">
                          <a:solidFill>
                            <a:srgbClr val="2B2B3C"/>
                          </a:solidFill>
                          <a:latin typeface="Calibri"/>
                        </a:rPr>
                        <a:t>enforce = true + branches set explicitly</a:t>
                      </a:r>
                    </a:p>
                  </a:txBody>
                  <a:tcPr marL="54864" marR="54864" marT="18288" marB="18288">
                    <a:solidFill>
                      <a:srgbClr val="FFFFFF"/>
                    </a:solidFill>
                  </a:tcPr>
                </a:tc>
              </a:tr>
              <a:tr h="310896">
                <a:tc>
                  <a:txBody>
                    <a:bodyPr/>
                    <a:lstStyle/>
                    <a:p>
                      <a:r>
                        <a:rPr sz="900">
                          <a:solidFill>
                            <a:srgbClr val="2B2B3C"/>
                          </a:solidFill>
                          <a:latin typeface="Calibri"/>
                        </a:rPr>
                        <a:t>SCA — Snyk</a:t>
                      </a:r>
                    </a:p>
                  </a:txBody>
                  <a:tcPr marL="54864" marR="54864" marT="18288" marB="18288">
                    <a:solidFill>
                      <a:srgbClr val="F4F5F7"/>
                    </a:solidFill>
                  </a:tcPr>
                </a:tc>
                <a:tc>
                  <a:txBody>
                    <a:bodyPr/>
                    <a:lstStyle/>
                    <a:p>
                      <a:r>
                        <a:rPr sz="900">
                          <a:solidFill>
                            <a:srgbClr val="2B2B3C"/>
                          </a:solidFill>
                          <a:latin typeface="Calibri"/>
                        </a:rPr>
                        <a:t>sca_scan()</a:t>
                      </a:r>
                    </a:p>
                  </a:txBody>
                  <a:tcPr marL="54864" marR="54864" marT="18288" marB="18288">
                    <a:solidFill>
                      <a:srgbClr val="F4F5F7"/>
                    </a:solidFill>
                  </a:tcPr>
                </a:tc>
                <a:tc>
                  <a:txBody>
                    <a:bodyPr/>
                    <a:lstStyle/>
                    <a:p>
                      <a:r>
                        <a:rPr sz="900">
                          <a:solidFill>
                            <a:srgbClr val="2B2B3C"/>
                          </a:solidFill>
                          <a:latin typeface="Calibri"/>
                        </a:rPr>
                        <a:t>run = TRUE, enforce = TRUE, severity = high</a:t>
                      </a:r>
                    </a:p>
                  </a:txBody>
                  <a:tcPr marL="54864" marR="54864" marT="18288" marB="18288">
                    <a:solidFill>
                      <a:srgbClr val="F4F5F7"/>
                    </a:solidFill>
                  </a:tcPr>
                </a:tc>
                <a:tc>
                  <a:txBody>
                    <a:bodyPr/>
                    <a:lstStyle/>
                    <a:p>
                      <a:r>
                        <a:rPr sz="900">
                          <a:solidFill>
                            <a:srgbClr val="2B2B3C"/>
                          </a:solidFill>
                          <a:latin typeface="Calibri"/>
                        </a:rPr>
                        <a:t>run = true, enforce = false</a:t>
                      </a:r>
                    </a:p>
                  </a:txBody>
                  <a:tcPr marL="54864" marR="54864" marT="18288" marB="18288">
                    <a:solidFill>
                      <a:srgbClr val="F4F5F7"/>
                    </a:solidFill>
                  </a:tcPr>
                </a:tc>
                <a:tc>
                  <a:txBody>
                    <a:bodyPr/>
                    <a:lstStyle/>
                    <a:p>
                      <a:r>
                        <a:rPr sz="900">
                          <a:solidFill>
                            <a:srgbClr val="2B2B3C"/>
                          </a:solidFill>
                          <a:latin typeface="Calibri"/>
                        </a:rPr>
                        <a:t>enforce = true, SBOM retained, APM tag set</a:t>
                      </a:r>
                    </a:p>
                  </a:txBody>
                  <a:tcPr marL="54864" marR="54864" marT="18288" marB="18288">
                    <a:solidFill>
                      <a:srgbClr val="F4F5F7"/>
                    </a:solidFill>
                  </a:tcPr>
                </a:tc>
              </a:tr>
              <a:tr h="310896">
                <a:tc>
                  <a:txBody>
                    <a:bodyPr/>
                    <a:lstStyle/>
                    <a:p>
                      <a:r>
                        <a:rPr sz="900">
                          <a:solidFill>
                            <a:srgbClr val="2B2B3C"/>
                          </a:solidFill>
                          <a:latin typeface="Calibri"/>
                        </a:rPr>
                        <a:t>Static analysis — SonarQube</a:t>
                      </a:r>
                    </a:p>
                  </a:txBody>
                  <a:tcPr marL="54864" marR="54864" marT="18288" marB="18288">
                    <a:solidFill>
                      <a:srgbClr val="FFFFFF"/>
                    </a:solidFill>
                  </a:tcPr>
                </a:tc>
                <a:tc>
                  <a:txBody>
                    <a:bodyPr/>
                    <a:lstStyle/>
                    <a:p>
                      <a:r>
                        <a:rPr sz="900">
                          <a:solidFill>
                            <a:srgbClr val="2B2B3C"/>
                          </a:solidFill>
                          <a:latin typeface="Calibri"/>
                        </a:rPr>
                        <a:t>static_code_analysis()</a:t>
                      </a:r>
                    </a:p>
                  </a:txBody>
                  <a:tcPr marL="54864" marR="54864" marT="18288" marB="18288">
                    <a:solidFill>
                      <a:srgbClr val="FFFFFF"/>
                    </a:solidFill>
                  </a:tcPr>
                </a:tc>
                <a:tc>
                  <a:txBody>
                    <a:bodyPr/>
                    <a:lstStyle/>
                    <a:p>
                      <a:r>
                        <a:rPr sz="900">
                          <a:solidFill>
                            <a:srgbClr val="2B2B3C"/>
                          </a:solidFill>
                          <a:latin typeface="Calibri"/>
                        </a:rPr>
                        <a:t>gate available</a:t>
                      </a:r>
                    </a:p>
                  </a:txBody>
                  <a:tcPr marL="54864" marR="54864" marT="18288" marB="18288">
                    <a:solidFill>
                      <a:srgbClr val="FFFFFF"/>
                    </a:solidFill>
                  </a:tcPr>
                </a:tc>
                <a:tc>
                  <a:txBody>
                    <a:bodyPr/>
                    <a:lstStyle/>
                    <a:p>
                      <a:r>
                        <a:rPr sz="900">
                          <a:solidFill>
                            <a:srgbClr val="2B2B3C"/>
                          </a:solidFill>
                          <a:latin typeface="Calibri"/>
                        </a:rPr>
                        <a:t>varies</a:t>
                      </a:r>
                    </a:p>
                  </a:txBody>
                  <a:tcPr marL="54864" marR="54864" marT="18288" marB="18288">
                    <a:solidFill>
                      <a:srgbClr val="FFFFFF"/>
                    </a:solidFill>
                  </a:tcPr>
                </a:tc>
                <a:tc>
                  <a:txBody>
                    <a:bodyPr/>
                    <a:lstStyle/>
                    <a:p>
                      <a:r>
                        <a:rPr sz="900">
                          <a:solidFill>
                            <a:srgbClr val="2B2B3C"/>
                          </a:solidFill>
                          <a:latin typeface="Calibri"/>
                        </a:rPr>
                        <a:t>gate enforced; exceptions owned and dated</a:t>
                      </a:r>
                    </a:p>
                  </a:txBody>
                  <a:tcPr marL="54864" marR="54864" marT="18288" marB="18288">
                    <a:solidFill>
                      <a:srgbClr val="FFFFFF"/>
                    </a:solidFill>
                  </a:tcPr>
                </a:tc>
              </a:tr>
              <a:tr h="310896">
                <a:tc>
                  <a:txBody>
                    <a:bodyPr/>
                    <a:lstStyle/>
                    <a:p>
                      <a:r>
                        <a:rPr sz="900">
                          <a:solidFill>
                            <a:srgbClr val="2B2B3C"/>
                          </a:solidFill>
                          <a:latin typeface="Calibri"/>
                        </a:rPr>
                        <a:t>Image</a:t>
                      </a:r>
                    </a:p>
                  </a:txBody>
                  <a:tcPr marL="54864" marR="54864" marT="18288" marB="18288">
                    <a:solidFill>
                      <a:srgbClr val="F4F5F7"/>
                    </a:solidFill>
                  </a:tcPr>
                </a:tc>
                <a:tc>
                  <a:txBody>
                    <a:bodyPr/>
                    <a:lstStyle/>
                    <a:p>
                      <a:r>
                        <a:rPr sz="900">
                          <a:solidFill>
                            <a:srgbClr val="2B2B3C"/>
                          </a:solidFill>
                          <a:latin typeface="Calibri"/>
                        </a:rPr>
                        <a:t>quay / ecr build</a:t>
                      </a:r>
                    </a:p>
                  </a:txBody>
                  <a:tcPr marL="54864" marR="54864" marT="18288" marB="18288">
                    <a:solidFill>
                      <a:srgbClr val="F4F5F7"/>
                    </a:solidFill>
                  </a:tcPr>
                </a:tc>
                <a:tc>
                  <a:txBody>
                    <a:bodyPr/>
                    <a:lstStyle/>
                    <a:p>
                      <a:r>
                        <a:rPr sz="900">
                          <a:solidFill>
                            <a:srgbClr val="2B2B3C"/>
                          </a:solidFill>
                          <a:latin typeface="Calibri"/>
                        </a:rPr>
                        <a:t>pipeline-built image</a:t>
                      </a:r>
                    </a:p>
                  </a:txBody>
                  <a:tcPr marL="54864" marR="54864" marT="18288" marB="18288">
                    <a:solidFill>
                      <a:srgbClr val="F4F5F7"/>
                    </a:solidFill>
                  </a:tcPr>
                </a:tc>
                <a:tc>
                  <a:txBody>
                    <a:bodyPr/>
                    <a:lstStyle/>
                    <a:p>
                      <a:r>
                        <a:rPr sz="900">
                          <a:solidFill>
                            <a:srgbClr val="2B2B3C"/>
                          </a:solidFill>
                          <a:latin typeface="Calibri"/>
                        </a:rPr>
                        <a:t>pipeline-built</a:t>
                      </a:r>
                    </a:p>
                  </a:txBody>
                  <a:tcPr marL="54864" marR="54864" marT="18288" marB="18288">
                    <a:solidFill>
                      <a:srgbClr val="F4F5F7"/>
                    </a:solidFill>
                  </a:tcPr>
                </a:tc>
                <a:tc>
                  <a:txBody>
                    <a:bodyPr/>
                    <a:lstStyle/>
                    <a:p>
                      <a:r>
                        <a:rPr sz="900">
                          <a:solidFill>
                            <a:srgbClr val="2B2B3C"/>
                          </a:solidFill>
                          <a:latin typeface="Calibri"/>
                        </a:rPr>
                        <a:t>immutable digest, non-root, never :latest</a:t>
                      </a:r>
                    </a:p>
                  </a:txBody>
                  <a:tcPr marL="54864" marR="54864" marT="18288" marB="18288">
                    <a:solidFill>
                      <a:srgbClr val="F4F5F7"/>
                    </a:solidFill>
                  </a:tcPr>
                </a:tc>
              </a:tr>
            </a:tbl>
          </a:graphicData>
        </a:graphic>
      </p:graphicFrame>
      <p:sp>
        <p:nvSpPr>
          <p:cNvPr id="11" name="Rectangle 10"/>
          <p:cNvSpPr/>
          <p:nvPr/>
        </p:nvSpPr>
        <p:spPr>
          <a:xfrm>
            <a:off x="502920" y="3794760"/>
            <a:ext cx="11155680" cy="960120"/>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886200"/>
            <a:ext cx="10698480" cy="822960"/>
          </a:xfrm>
          <a:prstGeom prst="rect">
            <a:avLst/>
          </a:prstGeom>
          <a:noFill/>
        </p:spPr>
        <p:txBody>
          <a:bodyPr wrap="square" anchor="t">
            <a:spAutoFit/>
          </a:bodyPr>
          <a:lstStyle/>
          <a:p>
            <a:pPr algn="l">
              <a:spcAft>
                <a:spcPts val="400"/>
              </a:spcAft>
            </a:pPr>
            <a:r>
              <a:rPr sz="1400" b="1">
                <a:solidFill>
                  <a:srgbClr val="2B2B3C"/>
                </a:solidFill>
                <a:latin typeface="Calibri"/>
              </a:rPr>
              <a:t>The Checkmarx step does not run a scan.</a:t>
            </a:r>
          </a:p>
          <a:p>
            <a:pPr algn="l">
              <a:spcAft>
                <a:spcPts val="400"/>
              </a:spcAft>
            </a:pPr>
            <a:r>
              <a:rPr sz="1150" b="0">
                <a:solidFill>
                  <a:srgbClr val="2B2B3C"/>
                </a:solidFill>
                <a:latin typeface="Calibri"/>
              </a:rPr>
              <a:t>It resolves the repository's latest MERGED PULL REQUEST, reads the scan Checkmarx already performed for it, and reports the verdict. With no merged PR it logs “New repository PR does not exist. Checkmarx scan is skipped.” and continues. The default branch pattern is [develop], so a repository on main matches nothing and the whole stage is skipped.</a:t>
            </a:r>
          </a:p>
        </p:txBody>
      </p:sp>
      <p:sp>
        <p:nvSpPr>
          <p:cNvPr id="13" name="TextBox 12"/>
          <p:cNvSpPr txBox="1"/>
          <p:nvPr/>
        </p:nvSpPr>
        <p:spPr>
          <a:xfrm>
            <a:off x="502920" y="4937760"/>
            <a:ext cx="11155680" cy="1097280"/>
          </a:xfrm>
          <a:prstGeom prst="rect">
            <a:avLst/>
          </a:prstGeom>
          <a:noFill/>
        </p:spPr>
        <p:txBody>
          <a:bodyPr wrap="square" anchor="t">
            <a:spAutoFit/>
          </a:bodyPr>
          <a:lstStyle/>
          <a:p>
            <a:pPr algn="l">
              <a:spcAft>
                <a:spcPts val="400"/>
              </a:spcAft>
            </a:pPr>
            <a:r>
              <a:rPr sz="1250" b="1">
                <a:solidFill>
                  <a:srgbClr val="2B2B3C"/>
                </a:solidFill>
                <a:latin typeface="Calibri"/>
              </a:rPr>
              <a:t>Three ways to pass without being scanned: no merged PR · branch mismatch · gate disabled.</a:t>
            </a:r>
          </a:p>
          <a:p>
            <a:pPr algn="l">
              <a:spcAft>
                <a:spcPts val="400"/>
              </a:spcAft>
            </a:pPr>
            <a:r>
              <a:rPr sz="1200" b="0">
                <a:solidFill>
                  <a:srgbClr val="606070"/>
                </a:solidFill>
                <a:latin typeface="Calibri"/>
              </a:rPr>
              <a:t>MSR-20 therefore requires the scan id and gate evaluation on the build — not the stage colour. This is design decision DD-8, and it is the reason the supply-chain block of the control set is written around retrievable artefacts rather than pipeline status.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Threat Model — What an MCP Server Changes</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13</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00" b="1">
                <a:solidFill>
                  <a:srgbClr val="2B2B3C"/>
                </a:solidFill>
                <a:latin typeface="Calibri"/>
              </a:rPr>
              <a:t>An MCP server is not an ordinary internal API. It is invoked by a non-deterministic caller, with arguments that caller composed, and its output re-enters that caller's reasoning.</a:t>
            </a:r>
          </a:p>
        </p:txBody>
      </p:sp>
      <p:graphicFrame>
        <p:nvGraphicFramePr>
          <p:cNvPr id="10" name="Table 9"/>
          <p:cNvGraphicFramePr>
            <a:graphicFrameLocks noGrp="1"/>
          </p:cNvGraphicFramePr>
          <p:nvPr/>
        </p:nvGraphicFramePr>
        <p:xfrm>
          <a:off x="502920" y="1874519"/>
          <a:ext cx="11155680" cy="3566160"/>
        </p:xfrm>
        <a:graphic>
          <a:graphicData uri="http://schemas.openxmlformats.org/drawingml/2006/table">
            <a:tbl>
              <a:tblPr firstRow="1" bandRow="1">
                <a:tableStyleId>{5C22544A-7EE6-4342-B048-85BDC9FD1C3A}</a:tableStyleId>
              </a:tblPr>
              <a:tblGrid>
                <a:gridCol w="502920"/>
                <a:gridCol w="5623560"/>
                <a:gridCol w="5029200"/>
              </a:tblGrid>
              <a:tr h="274320">
                <a:tc>
                  <a:txBody>
                    <a:bodyPr/>
                    <a:lstStyle/>
                    <a:p>
                      <a:r>
                        <a:rPr sz="950" b="1">
                          <a:solidFill>
                            <a:srgbClr val="FFFFFF"/>
                          </a:solidFill>
                          <a:latin typeface="Calibri"/>
                        </a:rPr>
                        <a:t>#</a:t>
                      </a:r>
                    </a:p>
                  </a:txBody>
                  <a:tcPr marL="54864" marR="54864">
                    <a:solidFill>
                      <a:srgbClr val="1A1A2E"/>
                    </a:solidFill>
                  </a:tcPr>
                </a:tc>
                <a:tc>
                  <a:txBody>
                    <a:bodyPr/>
                    <a:lstStyle/>
                    <a:p>
                      <a:r>
                        <a:rPr sz="950" b="1">
                          <a:solidFill>
                            <a:srgbClr val="FFFFFF"/>
                          </a:solidFill>
                          <a:latin typeface="Calibri"/>
                        </a:rPr>
                        <a:t>Threat</a:t>
                      </a:r>
                    </a:p>
                  </a:txBody>
                  <a:tcPr marL="54864" marR="54864">
                    <a:solidFill>
                      <a:srgbClr val="1A1A2E"/>
                    </a:solidFill>
                  </a:tcPr>
                </a:tc>
                <a:tc>
                  <a:txBody>
                    <a:bodyPr/>
                    <a:lstStyle/>
                    <a:p>
                      <a:r>
                        <a:rPr sz="950" b="1">
                          <a:solidFill>
                            <a:srgbClr val="FFFFFF"/>
                          </a:solidFill>
                          <a:latin typeface="Calibri"/>
                        </a:rPr>
                        <a:t>Control</a:t>
                      </a:r>
                    </a:p>
                  </a:txBody>
                  <a:tcPr marL="54864" marR="54864">
                    <a:solidFill>
                      <a:srgbClr val="1A1A2E"/>
                    </a:solidFill>
                  </a:tcPr>
                </a:tc>
              </a:tr>
              <a:tr h="274320">
                <a:tc>
                  <a:txBody>
                    <a:bodyPr/>
                    <a:lstStyle/>
                    <a:p>
                      <a:r>
                        <a:rPr sz="850">
                          <a:solidFill>
                            <a:srgbClr val="2B2B3C"/>
                          </a:solidFill>
                          <a:latin typeface="Calibri"/>
                        </a:rPr>
                        <a:t>T1</a:t>
                      </a:r>
                    </a:p>
                  </a:txBody>
                  <a:tcPr marL="54864" marR="54864" marT="18288" marB="18288">
                    <a:solidFill>
                      <a:srgbClr val="FFFFFF"/>
                    </a:solidFill>
                  </a:tcPr>
                </a:tc>
                <a:tc>
                  <a:txBody>
                    <a:bodyPr/>
                    <a:lstStyle/>
                    <a:p>
                      <a:r>
                        <a:rPr sz="850">
                          <a:solidFill>
                            <a:srgbClr val="2B2B3C"/>
                          </a:solidFill>
                          <a:latin typeface="Calibri"/>
                        </a:rPr>
                        <a:t>Confused deputy — an agent induced to call a tool it is entitled to, for a purpose it is not</a:t>
                      </a:r>
                    </a:p>
                  </a:txBody>
                  <a:tcPr marL="54864" marR="54864" marT="18288" marB="18288">
                    <a:solidFill>
                      <a:srgbClr val="FFFFFF"/>
                    </a:solidFill>
                  </a:tcPr>
                </a:tc>
                <a:tc>
                  <a:txBody>
                    <a:bodyPr/>
                    <a:lstStyle/>
                    <a:p>
                      <a:r>
                        <a:rPr sz="850">
                          <a:solidFill>
                            <a:srgbClr val="2B2B3C"/>
                          </a:solidFill>
                          <a:latin typeface="Calibri"/>
                        </a:rPr>
                        <a:t>DD-3 split · MSR-16 server-side authorization · MSR-27 classification</a:t>
                      </a:r>
                    </a:p>
                  </a:txBody>
                  <a:tcPr marL="54864" marR="54864" marT="18288" marB="18288">
                    <a:solidFill>
                      <a:srgbClr val="FFFFFF"/>
                    </a:solidFill>
                  </a:tcPr>
                </a:tc>
              </a:tr>
              <a:tr h="274320">
                <a:tc>
                  <a:txBody>
                    <a:bodyPr/>
                    <a:lstStyle/>
                    <a:p>
                      <a:r>
                        <a:rPr sz="850">
                          <a:solidFill>
                            <a:srgbClr val="2B2B3C"/>
                          </a:solidFill>
                          <a:latin typeface="Calibri"/>
                        </a:rPr>
                        <a:t>T2</a:t>
                      </a:r>
                    </a:p>
                  </a:txBody>
                  <a:tcPr marL="54864" marR="54864" marT="18288" marB="18288">
                    <a:solidFill>
                      <a:srgbClr val="F4F5F7"/>
                    </a:solidFill>
                  </a:tcPr>
                </a:tc>
                <a:tc>
                  <a:txBody>
                    <a:bodyPr/>
                    <a:lstStyle/>
                    <a:p>
                      <a:r>
                        <a:rPr sz="850">
                          <a:solidFill>
                            <a:srgbClr val="2B2B3C"/>
                          </a:solidFill>
                          <a:latin typeface="Calibri"/>
                        </a:rPr>
                        <a:t>Excessive agency — a tool added later is covered by an existing grant, with no approval</a:t>
                      </a:r>
                    </a:p>
                  </a:txBody>
                  <a:tcPr marL="54864" marR="54864" marT="18288" marB="18288">
                    <a:solidFill>
                      <a:srgbClr val="F4F5F7"/>
                    </a:solidFill>
                  </a:tcPr>
                </a:tc>
                <a:tc>
                  <a:txBody>
                    <a:bodyPr/>
                    <a:lstStyle/>
                    <a:p>
                      <a:r>
                        <a:rPr sz="850">
                          <a:solidFill>
                            <a:srgbClr val="2B2B3C"/>
                          </a:solidFill>
                          <a:latin typeface="Calibri"/>
                        </a:rPr>
                        <a:t>MSR-7 change control · MSR-6 catalogue diff at release</a:t>
                      </a:r>
                    </a:p>
                  </a:txBody>
                  <a:tcPr marL="54864" marR="54864" marT="18288" marB="18288">
                    <a:solidFill>
                      <a:srgbClr val="F4F5F7"/>
                    </a:solidFill>
                  </a:tcPr>
                </a:tc>
              </a:tr>
              <a:tr h="274320">
                <a:tc>
                  <a:txBody>
                    <a:bodyPr/>
                    <a:lstStyle/>
                    <a:p>
                      <a:r>
                        <a:rPr sz="850">
                          <a:solidFill>
                            <a:srgbClr val="2B2B3C"/>
                          </a:solidFill>
                          <a:latin typeface="Calibri"/>
                        </a:rPr>
                        <a:t>T3</a:t>
                      </a:r>
                    </a:p>
                  </a:txBody>
                  <a:tcPr marL="54864" marR="54864" marT="18288" marB="18288">
                    <a:solidFill>
                      <a:srgbClr val="FFFFFF"/>
                    </a:solidFill>
                  </a:tcPr>
                </a:tc>
                <a:tc>
                  <a:txBody>
                    <a:bodyPr/>
                    <a:lstStyle/>
                    <a:p>
                      <a:r>
                        <a:rPr sz="850">
                          <a:solidFill>
                            <a:srgbClr val="2B2B3C"/>
                          </a:solidFill>
                          <a:latin typeface="Calibri"/>
                        </a:rPr>
                        <a:t>Prompt injection via tool output — returned content instructs the model</a:t>
                      </a:r>
                    </a:p>
                  </a:txBody>
                  <a:tcPr marL="54864" marR="54864" marT="18288" marB="18288">
                    <a:solidFill>
                      <a:srgbClr val="FFFFFF"/>
                    </a:solidFill>
                  </a:tcPr>
                </a:tc>
                <a:tc>
                  <a:txBody>
                    <a:bodyPr/>
                    <a:lstStyle/>
                    <a:p>
                      <a:r>
                        <a:rPr sz="850">
                          <a:solidFill>
                            <a:srgbClr val="2B2B3C"/>
                          </a:solidFill>
                          <a:latin typeface="Calibri"/>
                        </a:rPr>
                        <a:t>MSR-18 bounded non-instructional output · response guardrails · DD-10</a:t>
                      </a:r>
                    </a:p>
                  </a:txBody>
                  <a:tcPr marL="54864" marR="54864" marT="18288" marB="18288">
                    <a:solidFill>
                      <a:srgbClr val="FFFFFF"/>
                    </a:solidFill>
                  </a:tcPr>
                </a:tc>
              </a:tr>
              <a:tr h="274320">
                <a:tc>
                  <a:txBody>
                    <a:bodyPr/>
                    <a:lstStyle/>
                    <a:p>
                      <a:r>
                        <a:rPr sz="850">
                          <a:solidFill>
                            <a:srgbClr val="2B2B3C"/>
                          </a:solidFill>
                          <a:latin typeface="Calibri"/>
                        </a:rPr>
                        <a:t>T4</a:t>
                      </a:r>
                    </a:p>
                  </a:txBody>
                  <a:tcPr marL="54864" marR="54864" marT="18288" marB="18288">
                    <a:solidFill>
                      <a:srgbClr val="F4F5F7"/>
                    </a:solidFill>
                  </a:tcPr>
                </a:tc>
                <a:tc>
                  <a:txBody>
                    <a:bodyPr/>
                    <a:lstStyle/>
                    <a:p>
                      <a:r>
                        <a:rPr sz="850">
                          <a:solidFill>
                            <a:srgbClr val="2B2B3C"/>
                          </a:solidFill>
                          <a:latin typeface="Calibri"/>
                        </a:rPr>
                        <a:t>Tool poisoning — a tool description written to steer model behaviour</a:t>
                      </a:r>
                    </a:p>
                  </a:txBody>
                  <a:tcPr marL="54864" marR="54864" marT="18288" marB="18288">
                    <a:solidFill>
                      <a:srgbClr val="F4F5F7"/>
                    </a:solidFill>
                  </a:tcPr>
                </a:tc>
                <a:tc>
                  <a:txBody>
                    <a:bodyPr/>
                    <a:lstStyle/>
                    <a:p>
                      <a:r>
                        <a:rPr sz="850">
                          <a:solidFill>
                            <a:srgbClr val="2B2B3C"/>
                          </a:solidFill>
                          <a:latin typeface="Calibri"/>
                        </a:rPr>
                        <a:t>MSR-8 review of names and descriptions</a:t>
                      </a:r>
                    </a:p>
                  </a:txBody>
                  <a:tcPr marL="54864" marR="54864" marT="18288" marB="18288">
                    <a:solidFill>
                      <a:srgbClr val="F4F5F7"/>
                    </a:solidFill>
                  </a:tcPr>
                </a:tc>
              </a:tr>
              <a:tr h="274320">
                <a:tc>
                  <a:txBody>
                    <a:bodyPr/>
                    <a:lstStyle/>
                    <a:p>
                      <a:r>
                        <a:rPr sz="850">
                          <a:solidFill>
                            <a:srgbClr val="2B2B3C"/>
                          </a:solidFill>
                          <a:latin typeface="Calibri"/>
                        </a:rPr>
                        <a:t>T5</a:t>
                      </a:r>
                    </a:p>
                  </a:txBody>
                  <a:tcPr marL="54864" marR="54864" marT="18288" marB="18288">
                    <a:solidFill>
                      <a:srgbClr val="FFFFFF"/>
                    </a:solidFill>
                  </a:tcPr>
                </a:tc>
                <a:tc>
                  <a:txBody>
                    <a:bodyPr/>
                    <a:lstStyle/>
                    <a:p>
                      <a:r>
                        <a:rPr sz="850">
                          <a:solidFill>
                            <a:srgbClr val="2B2B3C"/>
                          </a:solidFill>
                          <a:latin typeface="Calibri"/>
                        </a:rPr>
                        <a:t>Path bypass — a workload calls the backend directly, skipping the gateway</a:t>
                      </a:r>
                    </a:p>
                  </a:txBody>
                  <a:tcPr marL="54864" marR="54864" marT="18288" marB="18288">
                    <a:solidFill>
                      <a:srgbClr val="FFFFFF"/>
                    </a:solidFill>
                  </a:tcPr>
                </a:tc>
                <a:tc>
                  <a:txBody>
                    <a:bodyPr/>
                    <a:lstStyle/>
                    <a:p>
                      <a:r>
                        <a:rPr sz="850">
                          <a:solidFill>
                            <a:srgbClr val="2B2B3C"/>
                          </a:solidFill>
                          <a:latin typeface="Calibri"/>
                        </a:rPr>
                        <a:t>MSR-10 negative test · DD-1. A bypass emits NO audit event, so absence is the signal</a:t>
                      </a:r>
                    </a:p>
                  </a:txBody>
                  <a:tcPr marL="54864" marR="54864" marT="18288" marB="18288">
                    <a:solidFill>
                      <a:srgbClr val="FFFFFF"/>
                    </a:solidFill>
                  </a:tcPr>
                </a:tc>
              </a:tr>
              <a:tr h="274320">
                <a:tc>
                  <a:txBody>
                    <a:bodyPr/>
                    <a:lstStyle/>
                    <a:p>
                      <a:r>
                        <a:rPr sz="850">
                          <a:solidFill>
                            <a:srgbClr val="2B2B3C"/>
                          </a:solidFill>
                          <a:latin typeface="Calibri"/>
                        </a:rPr>
                        <a:t>T6</a:t>
                      </a:r>
                    </a:p>
                  </a:txBody>
                  <a:tcPr marL="54864" marR="54864" marT="18288" marB="18288">
                    <a:solidFill>
                      <a:srgbClr val="F4F5F7"/>
                    </a:solidFill>
                  </a:tcPr>
                </a:tc>
                <a:tc>
                  <a:txBody>
                    <a:bodyPr/>
                    <a:lstStyle/>
                    <a:p>
                      <a:r>
                        <a:rPr sz="850">
                          <a:solidFill>
                            <a:srgbClr val="2B2B3C"/>
                          </a:solidFill>
                          <a:latin typeface="Calibri"/>
                        </a:rPr>
                        <a:t>Credential leakage — a platform-minted credential forwarded to an uncontrolled backend</a:t>
                      </a:r>
                    </a:p>
                  </a:txBody>
                  <a:tcPr marL="54864" marR="54864" marT="18288" marB="18288">
                    <a:solidFill>
                      <a:srgbClr val="F4F5F7"/>
                    </a:solidFill>
                  </a:tcPr>
                </a:tc>
                <a:tc>
                  <a:txBody>
                    <a:bodyPr/>
                    <a:lstStyle/>
                    <a:p>
                      <a:r>
                        <a:rPr sz="850">
                          <a:solidFill>
                            <a:srgbClr val="2B2B3C"/>
                          </a:solidFill>
                          <a:latin typeface="Calibri"/>
                        </a:rPr>
                        <a:t>Enforced in the gateway; verified by negative test</a:t>
                      </a:r>
                    </a:p>
                  </a:txBody>
                  <a:tcPr marL="54864" marR="54864" marT="18288" marB="18288">
                    <a:solidFill>
                      <a:srgbClr val="F4F5F7"/>
                    </a:solidFill>
                  </a:tcPr>
                </a:tc>
              </a:tr>
              <a:tr h="274320">
                <a:tc>
                  <a:txBody>
                    <a:bodyPr/>
                    <a:lstStyle/>
                    <a:p>
                      <a:r>
                        <a:rPr sz="850">
                          <a:solidFill>
                            <a:srgbClr val="2B2B3C"/>
                          </a:solidFill>
                          <a:latin typeface="Calibri"/>
                        </a:rPr>
                        <a:t>T7</a:t>
                      </a:r>
                    </a:p>
                  </a:txBody>
                  <a:tcPr marL="54864" marR="54864" marT="18288" marB="18288">
                    <a:solidFill>
                      <a:srgbClr val="FFFFFF"/>
                    </a:solidFill>
                  </a:tcPr>
                </a:tc>
                <a:tc>
                  <a:txBody>
                    <a:bodyPr/>
                    <a:lstStyle/>
                    <a:p>
                      <a:r>
                        <a:rPr sz="850">
                          <a:solidFill>
                            <a:srgbClr val="2B2B3C"/>
                          </a:solidFill>
                          <a:latin typeface="Calibri"/>
                        </a:rPr>
                        <a:t>Cross-environment replay — a staging credential spent against production</a:t>
                      </a:r>
                    </a:p>
                  </a:txBody>
                  <a:tcPr marL="54864" marR="54864" marT="18288" marB="18288">
                    <a:solidFill>
                      <a:srgbClr val="FFFFFF"/>
                    </a:solidFill>
                  </a:tcPr>
                </a:tc>
                <a:tc>
                  <a:txBody>
                    <a:bodyPr/>
                    <a:lstStyle/>
                    <a:p>
                      <a:r>
                        <a:rPr sz="850">
                          <a:solidFill>
                            <a:srgbClr val="2B2B3C"/>
                          </a:solidFill>
                          <a:latin typeface="Calibri"/>
                        </a:rPr>
                        <a:t>Token audience is scoped to the deployment; MSR-12 requires the server to check it</a:t>
                      </a:r>
                    </a:p>
                  </a:txBody>
                  <a:tcPr marL="54864" marR="54864" marT="18288" marB="18288">
                    <a:solidFill>
                      <a:srgbClr val="FFFFFF"/>
                    </a:solidFill>
                  </a:tcPr>
                </a:tc>
              </a:tr>
              <a:tr h="274320">
                <a:tc>
                  <a:txBody>
                    <a:bodyPr/>
                    <a:lstStyle/>
                    <a:p>
                      <a:r>
                        <a:rPr sz="850">
                          <a:solidFill>
                            <a:srgbClr val="2B2B3C"/>
                          </a:solidFill>
                          <a:latin typeface="Calibri"/>
                        </a:rPr>
                        <a:t>T8</a:t>
                      </a:r>
                    </a:p>
                  </a:txBody>
                  <a:tcPr marL="54864" marR="54864" marT="18288" marB="18288">
                    <a:solidFill>
                      <a:srgbClr val="F4F5F7"/>
                    </a:solidFill>
                  </a:tcPr>
                </a:tc>
                <a:tc>
                  <a:txBody>
                    <a:bodyPr/>
                    <a:lstStyle/>
                    <a:p>
                      <a:r>
                        <a:rPr sz="850">
                          <a:solidFill>
                            <a:srgbClr val="2B2B3C"/>
                          </a:solidFill>
                          <a:latin typeface="Calibri"/>
                        </a:rPr>
                        <a:t>Silent unauthenticated serving — a delegated endpoint degraded to gateway identity</a:t>
                      </a:r>
                    </a:p>
                  </a:txBody>
                  <a:tcPr marL="54864" marR="54864" marT="18288" marB="18288">
                    <a:solidFill>
                      <a:srgbClr val="F4F5F7"/>
                    </a:solidFill>
                  </a:tcPr>
                </a:tc>
                <a:tc>
                  <a:txBody>
                    <a:bodyPr/>
                    <a:lstStyle/>
                    <a:p>
                      <a:r>
                        <a:rPr sz="850">
                          <a:solidFill>
                            <a:srgbClr val="2B2B3C"/>
                          </a:solidFill>
                          <a:latin typeface="Calibri"/>
                        </a:rPr>
                        <a:t>The gateway WITHHOLDS rather than downgrades</a:t>
                      </a:r>
                    </a:p>
                  </a:txBody>
                  <a:tcPr marL="54864" marR="54864" marT="18288" marB="18288">
                    <a:solidFill>
                      <a:srgbClr val="F4F5F7"/>
                    </a:solidFill>
                  </a:tcPr>
                </a:tc>
              </a:tr>
              <a:tr h="274320">
                <a:tc>
                  <a:txBody>
                    <a:bodyPr/>
                    <a:lstStyle/>
                    <a:p>
                      <a:r>
                        <a:rPr sz="850">
                          <a:solidFill>
                            <a:srgbClr val="2B2B3C"/>
                          </a:solidFill>
                          <a:latin typeface="Calibri"/>
                        </a:rPr>
                        <a:t>T9</a:t>
                      </a:r>
                    </a:p>
                  </a:txBody>
                  <a:tcPr marL="54864" marR="54864" marT="18288" marB="18288">
                    <a:solidFill>
                      <a:srgbClr val="FFFFFF"/>
                    </a:solidFill>
                  </a:tcPr>
                </a:tc>
                <a:tc>
                  <a:txBody>
                    <a:bodyPr/>
                    <a:lstStyle/>
                    <a:p>
                      <a:r>
                        <a:rPr sz="850">
                          <a:solidFill>
                            <a:srgbClr val="2B2B3C"/>
                          </a:solidFill>
                          <a:latin typeface="Calibri"/>
                        </a:rPr>
                        <a:t>Supply-chain compromise in a dependency or image</a:t>
                      </a:r>
                    </a:p>
                  </a:txBody>
                  <a:tcPr marL="54864" marR="54864" marT="18288" marB="18288">
                    <a:solidFill>
                      <a:srgbClr val="FFFFFF"/>
                    </a:solidFill>
                  </a:tcPr>
                </a:tc>
                <a:tc>
                  <a:txBody>
                    <a:bodyPr/>
                    <a:lstStyle/>
                    <a:p>
                      <a:r>
                        <a:rPr sz="850">
                          <a:solidFill>
                            <a:srgbClr val="2B2B3C"/>
                          </a:solidFill>
                          <a:latin typeface="Calibri"/>
                        </a:rPr>
                        <a:t>MSR-19 to MSR-23, evidenced per DD-8</a:t>
                      </a:r>
                    </a:p>
                  </a:txBody>
                  <a:tcPr marL="54864" marR="54864" marT="18288" marB="18288">
                    <a:solidFill>
                      <a:srgbClr val="FFFFFF"/>
                    </a:solidFill>
                  </a:tcPr>
                </a:tc>
              </a:tr>
              <a:tr h="274320">
                <a:tc>
                  <a:txBody>
                    <a:bodyPr/>
                    <a:lstStyle/>
                    <a:p>
                      <a:r>
                        <a:rPr sz="850">
                          <a:solidFill>
                            <a:srgbClr val="2B2B3C"/>
                          </a:solidFill>
                          <a:latin typeface="Calibri"/>
                        </a:rPr>
                        <a:t>T10</a:t>
                      </a:r>
                    </a:p>
                  </a:txBody>
                  <a:tcPr marL="54864" marR="54864" marT="18288" marB="18288">
                    <a:solidFill>
                      <a:srgbClr val="F4F5F7"/>
                    </a:solidFill>
                  </a:tcPr>
                </a:tc>
                <a:tc>
                  <a:txBody>
                    <a:bodyPr/>
                    <a:lstStyle/>
                    <a:p>
                      <a:r>
                        <a:rPr sz="850">
                          <a:solidFill>
                            <a:srgbClr val="2B2B3C"/>
                          </a:solidFill>
                          <a:latin typeface="Calibri"/>
                        </a:rPr>
                        <a:t>Data exfiltration through tool arguments</a:t>
                      </a:r>
                    </a:p>
                  </a:txBody>
                  <a:tcPr marL="54864" marR="54864" marT="18288" marB="18288">
                    <a:solidFill>
                      <a:srgbClr val="F4F5F7"/>
                    </a:solidFill>
                  </a:tcPr>
                </a:tc>
                <a:tc>
                  <a:txBody>
                    <a:bodyPr/>
                    <a:lstStyle/>
                    <a:p>
                      <a:r>
                        <a:rPr sz="850">
                          <a:solidFill>
                            <a:srgbClr val="2B2B3C"/>
                          </a:solidFill>
                          <a:latin typeface="Calibri"/>
                        </a:rPr>
                        <a:t>Request-direction PII guardrails · MSR-27 · MSR-28</a:t>
                      </a:r>
                    </a:p>
                  </a:txBody>
                  <a:tcPr marL="54864" marR="54864" marT="18288" marB="18288">
                    <a:solidFill>
                      <a:srgbClr val="F4F5F7"/>
                    </a:solidFill>
                  </a:tcPr>
                </a:tc>
              </a:tr>
              <a:tr h="274320">
                <a:tc>
                  <a:txBody>
                    <a:bodyPr/>
                    <a:lstStyle/>
                    <a:p>
                      <a:r>
                        <a:rPr sz="850">
                          <a:solidFill>
                            <a:srgbClr val="2B2B3C"/>
                          </a:solidFill>
                          <a:latin typeface="Calibri"/>
                        </a:rPr>
                        <a:t>T11</a:t>
                      </a:r>
                    </a:p>
                  </a:txBody>
                  <a:tcPr marL="54864" marR="54864" marT="18288" marB="18288">
                    <a:solidFill>
                      <a:srgbClr val="FFFFFF"/>
                    </a:solidFill>
                  </a:tcPr>
                </a:tc>
                <a:tc>
                  <a:txBody>
                    <a:bodyPr/>
                    <a:lstStyle/>
                    <a:p>
                      <a:r>
                        <a:rPr sz="850">
                          <a:solidFill>
                            <a:srgbClr val="2B2B3C"/>
                          </a:solidFill>
                          <a:latin typeface="Calibri"/>
                        </a:rPr>
                        <a:t>Inventory drift — the assessed tool set is not the served tool set</a:t>
                      </a:r>
                    </a:p>
                  </a:txBody>
                  <a:tcPr marL="54864" marR="54864" marT="18288" marB="18288">
                    <a:solidFill>
                      <a:srgbClr val="FFFFFF"/>
                    </a:solidFill>
                  </a:tcPr>
                </a:tc>
                <a:tc>
                  <a:txBody>
                    <a:bodyPr/>
                    <a:lstStyle/>
                    <a:p>
                      <a:r>
                        <a:rPr sz="850">
                          <a:solidFill>
                            <a:srgbClr val="2B2B3C"/>
                          </a:solidFill>
                          <a:latin typeface="Calibri"/>
                        </a:rPr>
                        <a:t>MSR-6 · DD-6</a:t>
                      </a:r>
                    </a:p>
                  </a:txBody>
                  <a:tcPr marL="54864" marR="54864" marT="18288" marB="18288">
                    <a:solidFill>
                      <a:srgbClr val="FFFFFF"/>
                    </a:solidFill>
                  </a:tcPr>
                </a:tc>
              </a:tr>
              <a:tr h="274320">
                <a:tc>
                  <a:txBody>
                    <a:bodyPr/>
                    <a:lstStyle/>
                    <a:p>
                      <a:r>
                        <a:rPr sz="850">
                          <a:solidFill>
                            <a:srgbClr val="2B2B3C"/>
                          </a:solidFill>
                          <a:latin typeface="Calibri"/>
                        </a:rPr>
                        <a:t>T12</a:t>
                      </a:r>
                    </a:p>
                  </a:txBody>
                  <a:tcPr marL="54864" marR="54864" marT="18288" marB="18288">
                    <a:solidFill>
                      <a:srgbClr val="F4F5F7"/>
                    </a:solidFill>
                  </a:tcPr>
                </a:tc>
                <a:tc>
                  <a:txBody>
                    <a:bodyPr/>
                    <a:lstStyle/>
                    <a:p>
                      <a:r>
                        <a:rPr sz="850">
                          <a:solidFill>
                            <a:srgbClr val="2B2B3C"/>
                          </a:solidFill>
                          <a:latin typeface="Calibri"/>
                        </a:rPr>
                        <a:t>Unbounded blast radius on withdrawal</a:t>
                      </a:r>
                    </a:p>
                  </a:txBody>
                  <a:tcPr marL="54864" marR="54864" marT="18288" marB="18288">
                    <a:solidFill>
                      <a:srgbClr val="F4F5F7"/>
                    </a:solidFill>
                  </a:tcPr>
                </a:tc>
                <a:tc>
                  <a:txBody>
                    <a:bodyPr/>
                    <a:lstStyle/>
                    <a:p>
                      <a:r>
                        <a:rPr sz="850">
                          <a:solidFill>
                            <a:srgbClr val="2B2B3C"/>
                          </a:solidFill>
                          <a:latin typeface="Calibri"/>
                        </a:rPr>
                        <a:t>Suspension preview names deployments and policies before commit</a:t>
                      </a:r>
                    </a:p>
                  </a:txBody>
                  <a:tcPr marL="54864" marR="54864" marT="18288" marB="18288">
                    <a:solidFill>
                      <a:srgbClr val="F4F5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Design Decisions</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14</a:t>
            </a:r>
          </a:p>
        </p:txBody>
      </p:sp>
      <p:graphicFrame>
        <p:nvGraphicFramePr>
          <p:cNvPr id="9" name="Table 8"/>
          <p:cNvGraphicFramePr>
            <a:graphicFrameLocks noGrp="1"/>
          </p:cNvGraphicFramePr>
          <p:nvPr/>
        </p:nvGraphicFramePr>
        <p:xfrm>
          <a:off x="502920" y="1417320"/>
          <a:ext cx="11155680" cy="3319272"/>
        </p:xfrm>
        <a:graphic>
          <a:graphicData uri="http://schemas.openxmlformats.org/drawingml/2006/table">
            <a:tbl>
              <a:tblPr firstRow="1" bandRow="1">
                <a:tableStyleId>{5C22544A-7EE6-4342-B048-85BDC9FD1C3A}</a:tableStyleId>
              </a:tblPr>
              <a:tblGrid>
                <a:gridCol w="685800"/>
                <a:gridCol w="5029200"/>
                <a:gridCol w="5440680"/>
              </a:tblGrid>
              <a:tr h="301752">
                <a:tc>
                  <a:txBody>
                    <a:bodyPr/>
                    <a:lstStyle/>
                    <a:p>
                      <a:r>
                        <a:rPr sz="1050" b="1">
                          <a:solidFill>
                            <a:srgbClr val="FFFFFF"/>
                          </a:solidFill>
                          <a:latin typeface="Calibri"/>
                        </a:rPr>
                        <a:t>#</a:t>
                      </a:r>
                    </a:p>
                  </a:txBody>
                  <a:tcPr marL="54864" marR="54864">
                    <a:solidFill>
                      <a:srgbClr val="1A1A2E"/>
                    </a:solidFill>
                  </a:tcPr>
                </a:tc>
                <a:tc>
                  <a:txBody>
                    <a:bodyPr/>
                    <a:lstStyle/>
                    <a:p>
                      <a:r>
                        <a:rPr sz="1050" b="1">
                          <a:solidFill>
                            <a:srgbClr val="FFFFFF"/>
                          </a:solidFill>
                          <a:latin typeface="Calibri"/>
                        </a:rPr>
                        <a:t>Decision</a:t>
                      </a:r>
                    </a:p>
                  </a:txBody>
                  <a:tcPr marL="54864" marR="54864">
                    <a:solidFill>
                      <a:srgbClr val="1A1A2E"/>
                    </a:solidFill>
                  </a:tcPr>
                </a:tc>
                <a:tc>
                  <a:txBody>
                    <a:bodyPr/>
                    <a:lstStyle/>
                    <a:p>
                      <a:r>
                        <a:rPr sz="1050" b="1">
                          <a:solidFill>
                            <a:srgbClr val="FFFFFF"/>
                          </a:solidFill>
                          <a:latin typeface="Calibri"/>
                        </a:rPr>
                        <a:t>Alternative rejected</a:t>
                      </a:r>
                    </a:p>
                  </a:txBody>
                  <a:tcPr marL="54864" marR="54864">
                    <a:solidFill>
                      <a:srgbClr val="1A1A2E"/>
                    </a:solidFill>
                  </a:tcPr>
                </a:tc>
              </a:tr>
              <a:tr h="301752">
                <a:tc>
                  <a:txBody>
                    <a:bodyPr/>
                    <a:lstStyle/>
                    <a:p>
                      <a:r>
                        <a:rPr sz="950">
                          <a:solidFill>
                            <a:srgbClr val="2B2B3C"/>
                          </a:solidFill>
                          <a:latin typeface="Calibri"/>
                        </a:rPr>
                        <a:t>DD-1</a:t>
                      </a:r>
                    </a:p>
                  </a:txBody>
                  <a:tcPr marL="54864" marR="54864" marT="18288" marB="18288">
                    <a:solidFill>
                      <a:srgbClr val="FFFFFF"/>
                    </a:solidFill>
                  </a:tcPr>
                </a:tc>
                <a:tc>
                  <a:txBody>
                    <a:bodyPr/>
                    <a:lstStyle/>
                    <a:p>
                      <a:r>
                        <a:rPr sz="950">
                          <a:solidFill>
                            <a:srgbClr val="2B2B3C"/>
                          </a:solidFill>
                          <a:latin typeface="Calibri"/>
                        </a:rPr>
                        <a:t>The gateway is the only path to a tool</a:t>
                      </a:r>
                    </a:p>
                  </a:txBody>
                  <a:tcPr marL="54864" marR="54864" marT="18288" marB="18288">
                    <a:solidFill>
                      <a:srgbClr val="FFFFFF"/>
                    </a:solidFill>
                  </a:tcPr>
                </a:tc>
                <a:tc>
                  <a:txBody>
                    <a:bodyPr/>
                    <a:lstStyle/>
                    <a:p>
                      <a:r>
                        <a:rPr sz="950">
                          <a:solidFill>
                            <a:srgbClr val="2B2B3C"/>
                          </a:solidFill>
                          <a:latin typeface="Calibri"/>
                        </a:rPr>
                        <a:t>Publishing the server for direct use — creates an ungoverned path</a:t>
                      </a:r>
                    </a:p>
                  </a:txBody>
                  <a:tcPr marL="54864" marR="54864" marT="18288" marB="18288">
                    <a:solidFill>
                      <a:srgbClr val="FFFFFF"/>
                    </a:solidFill>
                  </a:tcPr>
                </a:tc>
              </a:tr>
              <a:tr h="301752">
                <a:tc>
                  <a:txBody>
                    <a:bodyPr/>
                    <a:lstStyle/>
                    <a:p>
                      <a:r>
                        <a:rPr sz="950">
                          <a:solidFill>
                            <a:srgbClr val="2B2B3C"/>
                          </a:solidFill>
                          <a:latin typeface="Calibri"/>
                        </a:rPr>
                        <a:t>DD-2</a:t>
                      </a:r>
                    </a:p>
                  </a:txBody>
                  <a:tcPr marL="54864" marR="54864" marT="18288" marB="18288">
                    <a:solidFill>
                      <a:srgbClr val="FFF2CC"/>
                    </a:solidFill>
                  </a:tcPr>
                </a:tc>
                <a:tc>
                  <a:txBody>
                    <a:bodyPr/>
                    <a:lstStyle/>
                    <a:p>
                      <a:r>
                        <a:rPr sz="950">
                          <a:solidFill>
                            <a:srgbClr val="2B2B3C"/>
                          </a:solidFill>
                          <a:latin typeface="Calibri"/>
                        </a:rPr>
                        <a:t>The server, not the tool, is the unit of authorization</a:t>
                      </a:r>
                    </a:p>
                  </a:txBody>
                  <a:tcPr marL="54864" marR="54864" marT="18288" marB="18288">
                    <a:solidFill>
                      <a:srgbClr val="FFF2CC"/>
                    </a:solidFill>
                  </a:tcPr>
                </a:tc>
                <a:tc>
                  <a:txBody>
                    <a:bodyPr/>
                    <a:lstStyle/>
                    <a:p>
                      <a:r>
                        <a:rPr sz="950">
                          <a:solidFill>
                            <a:srgbClr val="2B2B3C"/>
                          </a:solidFill>
                          <a:latin typeface="Calibri"/>
                        </a:rPr>
                        <a:t>Relying on allowed_tool_ids or access_level — both inert at runtime</a:t>
                      </a:r>
                    </a:p>
                  </a:txBody>
                  <a:tcPr marL="54864" marR="54864" marT="18288" marB="18288">
                    <a:solidFill>
                      <a:srgbClr val="FFF2CC"/>
                    </a:solidFill>
                  </a:tcPr>
                </a:tc>
              </a:tr>
              <a:tr h="301752">
                <a:tc>
                  <a:txBody>
                    <a:bodyPr/>
                    <a:lstStyle/>
                    <a:p>
                      <a:r>
                        <a:rPr sz="950">
                          <a:solidFill>
                            <a:srgbClr val="2B2B3C"/>
                          </a:solidFill>
                          <a:latin typeface="Calibri"/>
                        </a:rPr>
                        <a:t>DD-3</a:t>
                      </a:r>
                    </a:p>
                  </a:txBody>
                  <a:tcPr marL="54864" marR="54864" marT="18288" marB="18288">
                    <a:solidFill>
                      <a:srgbClr val="FFF2CC"/>
                    </a:solidFill>
                  </a:tcPr>
                </a:tc>
                <a:tc>
                  <a:txBody>
                    <a:bodyPr/>
                    <a:lstStyle/>
                    <a:p>
                      <a:r>
                        <a:rPr sz="950">
                          <a:solidFill>
                            <a:srgbClr val="2B2B3C"/>
                          </a:solidFill>
                          <a:latin typeface="Calibri"/>
                        </a:rPr>
                        <a:t>One server per trust boundary — split read from write</a:t>
                      </a:r>
                    </a:p>
                  </a:txBody>
                  <a:tcPr marL="54864" marR="54864" marT="18288" marB="18288">
                    <a:solidFill>
                      <a:srgbClr val="FFF2CC"/>
                    </a:solidFill>
                  </a:tcPr>
                </a:tc>
                <a:tc>
                  <a:txBody>
                    <a:bodyPr/>
                    <a:lstStyle/>
                    <a:p>
                      <a:r>
                        <a:rPr sz="950">
                          <a:solidFill>
                            <a:srgbClr val="2B2B3C"/>
                          </a:solidFill>
                          <a:latin typeface="Calibri"/>
                        </a:rPr>
                        <a:t>One large server with server-side authorization only — the control moves off the platform</a:t>
                      </a:r>
                    </a:p>
                  </a:txBody>
                  <a:tcPr marL="54864" marR="54864" marT="18288" marB="18288">
                    <a:solidFill>
                      <a:srgbClr val="FFF2CC"/>
                    </a:solidFill>
                  </a:tcPr>
                </a:tc>
              </a:tr>
              <a:tr h="301752">
                <a:tc>
                  <a:txBody>
                    <a:bodyPr/>
                    <a:lstStyle/>
                    <a:p>
                      <a:r>
                        <a:rPr sz="950">
                          <a:solidFill>
                            <a:srgbClr val="2B2B3C"/>
                          </a:solidFill>
                          <a:latin typeface="Calibri"/>
                        </a:rPr>
                        <a:t>DD-4</a:t>
                      </a:r>
                    </a:p>
                  </a:txBody>
                  <a:tcPr marL="54864" marR="54864" marT="18288" marB="18288">
                    <a:solidFill>
                      <a:srgbClr val="F4F5F7"/>
                    </a:solidFill>
                  </a:tcPr>
                </a:tc>
                <a:tc>
                  <a:txBody>
                    <a:bodyPr/>
                    <a:lstStyle/>
                    <a:p>
                      <a:r>
                        <a:rPr sz="950">
                          <a:solidFill>
                            <a:srgbClr val="2B2B3C"/>
                          </a:solidFill>
                          <a:latin typeface="Calibri"/>
                        </a:rPr>
                        <a:t>delegated_exchange is the target mode; gateway_identity needs a recorded rationale</a:t>
                      </a:r>
                    </a:p>
                  </a:txBody>
                  <a:tcPr marL="54864" marR="54864" marT="18288" marB="18288">
                    <a:solidFill>
                      <a:srgbClr val="F4F5F7"/>
                    </a:solidFill>
                  </a:tcPr>
                </a:tc>
                <a:tc>
                  <a:txBody>
                    <a:bodyPr/>
                    <a:lstStyle/>
                    <a:p>
                      <a:r>
                        <a:rPr sz="950">
                          <a:solidFill>
                            <a:srgbClr val="2B2B3C"/>
                          </a:solidFill>
                          <a:latin typeface="Calibri"/>
                        </a:rPr>
                        <a:t>Leaving the estate default, which is where all four dev servers sit</a:t>
                      </a:r>
                    </a:p>
                  </a:txBody>
                  <a:tcPr marL="54864" marR="54864" marT="18288" marB="18288">
                    <a:solidFill>
                      <a:srgbClr val="F4F5F7"/>
                    </a:solidFill>
                  </a:tcPr>
                </a:tc>
              </a:tr>
              <a:tr h="301752">
                <a:tc>
                  <a:txBody>
                    <a:bodyPr/>
                    <a:lstStyle/>
                    <a:p>
                      <a:r>
                        <a:rPr sz="950">
                          <a:solidFill>
                            <a:srgbClr val="2B2B3C"/>
                          </a:solidFill>
                          <a:latin typeface="Calibri"/>
                        </a:rPr>
                        <a:t>DD-5</a:t>
                      </a:r>
                    </a:p>
                  </a:txBody>
                  <a:tcPr marL="54864" marR="54864" marT="18288" marB="18288">
                    <a:solidFill>
                      <a:srgbClr val="FFFFFF"/>
                    </a:solidFill>
                  </a:tcPr>
                </a:tc>
                <a:tc>
                  <a:txBody>
                    <a:bodyPr/>
                    <a:lstStyle/>
                    <a:p>
                      <a:r>
                        <a:rPr sz="950">
                          <a:solidFill>
                            <a:srgbClr val="2B2B3C"/>
                          </a:solidFill>
                          <a:latin typeface="Calibri"/>
                        </a:rPr>
                        <a:t>Third-party-fronted servers are not onboarded yet</a:t>
                      </a:r>
                    </a:p>
                  </a:txBody>
                  <a:tcPr marL="54864" marR="54864" marT="18288" marB="18288">
                    <a:solidFill>
                      <a:srgbClr val="FFFFFF"/>
                    </a:solidFill>
                  </a:tcPr>
                </a:tc>
                <a:tc>
                  <a:txBody>
                    <a:bodyPr/>
                    <a:lstStyle/>
                    <a:p>
                      <a:r>
                        <a:rPr sz="950">
                          <a:solidFill>
                            <a:srgbClr val="2B2B3C"/>
                          </a:solidFill>
                          <a:latin typeface="Calibri"/>
                        </a:rPr>
                        <a:t>Injecting a shared static credential out-of-band</a:t>
                      </a:r>
                    </a:p>
                  </a:txBody>
                  <a:tcPr marL="54864" marR="54864" marT="18288" marB="18288">
                    <a:solidFill>
                      <a:srgbClr val="FFFFFF"/>
                    </a:solidFill>
                  </a:tcPr>
                </a:tc>
              </a:tr>
              <a:tr h="301752">
                <a:tc>
                  <a:txBody>
                    <a:bodyPr/>
                    <a:lstStyle/>
                    <a:p>
                      <a:r>
                        <a:rPr sz="950">
                          <a:solidFill>
                            <a:srgbClr val="2B2B3C"/>
                          </a:solidFill>
                          <a:latin typeface="Calibri"/>
                        </a:rPr>
                        <a:t>DD-6</a:t>
                      </a:r>
                    </a:p>
                  </a:txBody>
                  <a:tcPr marL="54864" marR="54864" marT="18288" marB="18288">
                    <a:solidFill>
                      <a:srgbClr val="F4F5F7"/>
                    </a:solidFill>
                  </a:tcPr>
                </a:tc>
                <a:tc>
                  <a:txBody>
                    <a:bodyPr/>
                    <a:lstStyle/>
                    <a:p>
                      <a:r>
                        <a:rPr sz="950">
                          <a:solidFill>
                            <a:srgbClr val="2B2B3C"/>
                          </a:solidFill>
                          <a:latin typeface="Calibri"/>
                        </a:rPr>
                        <a:t>Tool records are a release-time obligation</a:t>
                      </a:r>
                    </a:p>
                  </a:txBody>
                  <a:tcPr marL="54864" marR="54864" marT="18288" marB="18288">
                    <a:solidFill>
                      <a:srgbClr val="F4F5F7"/>
                    </a:solidFill>
                  </a:tcPr>
                </a:tc>
                <a:tc>
                  <a:txBody>
                    <a:bodyPr/>
                    <a:lstStyle/>
                    <a:p>
                      <a:r>
                        <a:rPr sz="950">
                          <a:solidFill>
                            <a:srgbClr val="2B2B3C"/>
                          </a:solidFill>
                          <a:latin typeface="Calibri"/>
                        </a:rPr>
                        <a:t>Treating the catalogue as authoritative — it would make the ISRA inventory a fiction</a:t>
                      </a:r>
                    </a:p>
                  </a:txBody>
                  <a:tcPr marL="54864" marR="54864" marT="18288" marB="18288">
                    <a:solidFill>
                      <a:srgbClr val="F4F5F7"/>
                    </a:solidFill>
                  </a:tcPr>
                </a:tc>
              </a:tr>
              <a:tr h="301752">
                <a:tc>
                  <a:txBody>
                    <a:bodyPr/>
                    <a:lstStyle/>
                    <a:p>
                      <a:r>
                        <a:rPr sz="950">
                          <a:solidFill>
                            <a:srgbClr val="2B2B3C"/>
                          </a:solidFill>
                          <a:latin typeface="Calibri"/>
                        </a:rPr>
                        <a:t>DD-7</a:t>
                      </a:r>
                    </a:p>
                  </a:txBody>
                  <a:tcPr marL="54864" marR="54864" marT="18288" marB="18288">
                    <a:solidFill>
                      <a:srgbClr val="FFFFFF"/>
                    </a:solidFill>
                  </a:tcPr>
                </a:tc>
                <a:tc>
                  <a:txBody>
                    <a:bodyPr/>
                    <a:lstStyle/>
                    <a:p>
                      <a:r>
                        <a:rPr sz="950">
                          <a:solidFill>
                            <a:srgbClr val="2B2B3C"/>
                          </a:solidFill>
                          <a:latin typeface="Calibri"/>
                        </a:rPr>
                        <a:t>Scanning gates ship enabled on MCP server repositories</a:t>
                      </a:r>
                    </a:p>
                  </a:txBody>
                  <a:tcPr marL="54864" marR="54864" marT="18288" marB="18288">
                    <a:solidFill>
                      <a:srgbClr val="FFFFFF"/>
                    </a:solidFill>
                  </a:tcPr>
                </a:tc>
                <a:tc>
                  <a:txBody>
                    <a:bodyPr/>
                    <a:lstStyle/>
                    <a:p>
                      <a:r>
                        <a:rPr sz="950">
                          <a:solidFill>
                            <a:srgbClr val="2B2B3C"/>
                          </a:solidFill>
                          <a:latin typeface="Calibri"/>
                        </a:rPr>
                        <a:t>Following the existing ACP repositories' configuration</a:t>
                      </a:r>
                    </a:p>
                  </a:txBody>
                  <a:tcPr marL="54864" marR="54864" marT="18288" marB="18288">
                    <a:solidFill>
                      <a:srgbClr val="FFFFFF"/>
                    </a:solidFill>
                  </a:tcPr>
                </a:tc>
              </a:tr>
              <a:tr h="301752">
                <a:tc>
                  <a:txBody>
                    <a:bodyPr/>
                    <a:lstStyle/>
                    <a:p>
                      <a:r>
                        <a:rPr sz="950">
                          <a:solidFill>
                            <a:srgbClr val="2B2B3C"/>
                          </a:solidFill>
                          <a:latin typeface="Calibri"/>
                        </a:rPr>
                        <a:t>DD-8</a:t>
                      </a:r>
                    </a:p>
                  </a:txBody>
                  <a:tcPr marL="54864" marR="54864" marT="18288" marB="18288">
                    <a:solidFill>
                      <a:srgbClr val="F4F5F7"/>
                    </a:solidFill>
                  </a:tcPr>
                </a:tc>
                <a:tc>
                  <a:txBody>
                    <a:bodyPr/>
                    <a:lstStyle/>
                    <a:p>
                      <a:r>
                        <a:rPr sz="950">
                          <a:solidFill>
                            <a:srgbClr val="2B2B3C"/>
                          </a:solidFill>
                          <a:latin typeface="Calibri"/>
                        </a:rPr>
                        <a:t>Evidence, not stage colour — a control is met when its artefact is retrievable</a:t>
                      </a:r>
                    </a:p>
                  </a:txBody>
                  <a:tcPr marL="54864" marR="54864" marT="18288" marB="18288">
                    <a:solidFill>
                      <a:srgbClr val="F4F5F7"/>
                    </a:solidFill>
                  </a:tcPr>
                </a:tc>
                <a:tc>
                  <a:txBody>
                    <a:bodyPr/>
                    <a:lstStyle/>
                    <a:p>
                      <a:r>
                        <a:rPr sz="950">
                          <a:solidFill>
                            <a:srgbClr val="2B2B3C"/>
                          </a:solidFill>
                          <a:latin typeface="Calibri"/>
                        </a:rPr>
                        <a:t>Accepting build status as evidence</a:t>
                      </a:r>
                    </a:p>
                  </a:txBody>
                  <a:tcPr marL="54864" marR="54864" marT="18288" marB="18288">
                    <a:solidFill>
                      <a:srgbClr val="F4F5F7"/>
                    </a:solidFill>
                  </a:tcPr>
                </a:tc>
              </a:tr>
              <a:tr h="301752">
                <a:tc>
                  <a:txBody>
                    <a:bodyPr/>
                    <a:lstStyle/>
                    <a:p>
                      <a:r>
                        <a:rPr sz="950">
                          <a:solidFill>
                            <a:srgbClr val="2B2B3C"/>
                          </a:solidFill>
                          <a:latin typeface="Calibri"/>
                        </a:rPr>
                        <a:t>DD-9</a:t>
                      </a:r>
                    </a:p>
                  </a:txBody>
                  <a:tcPr marL="54864" marR="54864" marT="18288" marB="18288">
                    <a:solidFill>
                      <a:srgbClr val="FFFFFF"/>
                    </a:solidFill>
                  </a:tcPr>
                </a:tc>
                <a:tc>
                  <a:txBody>
                    <a:bodyPr/>
                    <a:lstStyle/>
                    <a:p>
                      <a:r>
                        <a:rPr sz="950">
                          <a:solidFill>
                            <a:srgbClr val="2B2B3C"/>
                          </a:solidFill>
                          <a:latin typeface="Calibri"/>
                        </a:rPr>
                        <a:t>Fail-closed availability is accepted — no local policy cache</a:t>
                      </a:r>
                    </a:p>
                  </a:txBody>
                  <a:tcPr marL="54864" marR="54864" marT="18288" marB="18288">
                    <a:solidFill>
                      <a:srgbClr val="FFFFFF"/>
                    </a:solidFill>
                  </a:tcPr>
                </a:tc>
                <a:tc>
                  <a:txBody>
                    <a:bodyPr/>
                    <a:lstStyle/>
                    <a:p>
                      <a:r>
                        <a:rPr sz="950">
                          <a:solidFill>
                            <a:srgbClr val="2B2B3C"/>
                          </a:solidFill>
                          <a:latin typeface="Calibri"/>
                        </a:rPr>
                        <a:t>A cached allow is an unrevoked allow</a:t>
                      </a:r>
                    </a:p>
                  </a:txBody>
                  <a:tcPr marL="54864" marR="54864" marT="18288" marB="18288">
                    <a:solidFill>
                      <a:srgbClr val="FFFFFF"/>
                    </a:solidFill>
                  </a:tcPr>
                </a:tc>
              </a:tr>
              <a:tr h="301752">
                <a:tc>
                  <a:txBody>
                    <a:bodyPr/>
                    <a:lstStyle/>
                    <a:p>
                      <a:r>
                        <a:rPr sz="950">
                          <a:solidFill>
                            <a:srgbClr val="2B2B3C"/>
                          </a:solidFill>
                          <a:latin typeface="Calibri"/>
                        </a:rPr>
                        <a:t>DD-10</a:t>
                      </a:r>
                    </a:p>
                  </a:txBody>
                  <a:tcPr marL="54864" marR="54864" marT="18288" marB="18288">
                    <a:solidFill>
                      <a:srgbClr val="F4F5F7"/>
                    </a:solidFill>
                  </a:tcPr>
                </a:tc>
                <a:tc>
                  <a:txBody>
                    <a:bodyPr/>
                    <a:lstStyle/>
                    <a:p>
                      <a:r>
                        <a:rPr sz="950">
                          <a:solidFill>
                            <a:srgbClr val="2B2B3C"/>
                          </a:solidFill>
                          <a:latin typeface="Calibri"/>
                        </a:rPr>
                        <a:t>Tool output is untrusted input</a:t>
                      </a:r>
                    </a:p>
                  </a:txBody>
                  <a:tcPr marL="54864" marR="54864" marT="18288" marB="18288">
                    <a:solidFill>
                      <a:srgbClr val="F4F5F7"/>
                    </a:solidFill>
                  </a:tcPr>
                </a:tc>
                <a:tc>
                  <a:txBody>
                    <a:bodyPr/>
                    <a:lstStyle/>
                    <a:p>
                      <a:r>
                        <a:rPr sz="950">
                          <a:solidFill>
                            <a:srgbClr val="2B2B3C"/>
                          </a:solidFill>
                          <a:latin typeface="Calibri"/>
                        </a:rPr>
                        <a:t>Trusting tool output because the tool is internal</a:t>
                      </a:r>
                    </a:p>
                  </a:txBody>
                  <a:tcPr marL="54864" marR="54864" marT="18288" marB="18288">
                    <a:solidFill>
                      <a:srgbClr val="F4F5F7"/>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Residual Risks — For Explicit Acceptance</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15</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50" b="1">
                <a:solidFill>
                  <a:srgbClr val="2B2B3C"/>
                </a:solidFill>
                <a:latin typeface="Calibri"/>
              </a:rPr>
              <a:t>None of these is mitigated by a control in the set. An assessment that does not name them is incomplete.</a:t>
            </a:r>
          </a:p>
        </p:txBody>
      </p:sp>
      <p:graphicFrame>
        <p:nvGraphicFramePr>
          <p:cNvPr id="10" name="Table 9"/>
          <p:cNvGraphicFramePr>
            <a:graphicFrameLocks noGrp="1"/>
          </p:cNvGraphicFramePr>
          <p:nvPr/>
        </p:nvGraphicFramePr>
        <p:xfrm>
          <a:off x="502920" y="1828800"/>
          <a:ext cx="11155680" cy="2715768"/>
        </p:xfrm>
        <a:graphic>
          <a:graphicData uri="http://schemas.openxmlformats.org/drawingml/2006/table">
            <a:tbl>
              <a:tblPr firstRow="1" bandRow="1">
                <a:tableStyleId>{5C22544A-7EE6-4342-B048-85BDC9FD1C3A}</a:tableStyleId>
              </a:tblPr>
              <a:tblGrid>
                <a:gridCol w="640080"/>
                <a:gridCol w="3108960"/>
                <a:gridCol w="3291840"/>
                <a:gridCol w="4114800"/>
              </a:tblGrid>
              <a:tr h="301752">
                <a:tc>
                  <a:txBody>
                    <a:bodyPr/>
                    <a:lstStyle/>
                    <a:p>
                      <a:r>
                        <a:rPr sz="950" b="1">
                          <a:solidFill>
                            <a:srgbClr val="FFFFFF"/>
                          </a:solidFill>
                          <a:latin typeface="Calibri"/>
                        </a:rPr>
                        <a:t>#</a:t>
                      </a:r>
                    </a:p>
                  </a:txBody>
                  <a:tcPr marL="54864" marR="54864">
                    <a:solidFill>
                      <a:srgbClr val="1A1A2E"/>
                    </a:solidFill>
                  </a:tcPr>
                </a:tc>
                <a:tc>
                  <a:txBody>
                    <a:bodyPr/>
                    <a:lstStyle/>
                    <a:p>
                      <a:r>
                        <a:rPr sz="950" b="1">
                          <a:solidFill>
                            <a:srgbClr val="FFFFFF"/>
                          </a:solidFill>
                          <a:latin typeface="Calibri"/>
                        </a:rPr>
                        <a:t>Residual risk</a:t>
                      </a:r>
                    </a:p>
                  </a:txBody>
                  <a:tcPr marL="54864" marR="54864">
                    <a:solidFill>
                      <a:srgbClr val="1A1A2E"/>
                    </a:solidFill>
                  </a:tcPr>
                </a:tc>
                <a:tc>
                  <a:txBody>
                    <a:bodyPr/>
                    <a:lstStyle/>
                    <a:p>
                      <a:r>
                        <a:rPr sz="950" b="1">
                          <a:solidFill>
                            <a:srgbClr val="FFFFFF"/>
                          </a:solidFill>
                          <a:latin typeface="Calibri"/>
                        </a:rPr>
                        <a:t>Why it remains</a:t>
                      </a:r>
                    </a:p>
                  </a:txBody>
                  <a:tcPr marL="54864" marR="54864">
                    <a:solidFill>
                      <a:srgbClr val="1A1A2E"/>
                    </a:solidFill>
                  </a:tcPr>
                </a:tc>
                <a:tc>
                  <a:txBody>
                    <a:bodyPr/>
                    <a:lstStyle/>
                    <a:p>
                      <a:r>
                        <a:rPr sz="950" b="1">
                          <a:solidFill>
                            <a:srgbClr val="FFFFFF"/>
                          </a:solidFill>
                          <a:latin typeface="Calibri"/>
                        </a:rPr>
                        <a:t>Compensating position</a:t>
                      </a:r>
                    </a:p>
                  </a:txBody>
                  <a:tcPr marL="54864" marR="54864">
                    <a:solidFill>
                      <a:srgbClr val="1A1A2E"/>
                    </a:solidFill>
                  </a:tcPr>
                </a:tc>
              </a:tr>
              <a:tr h="301752">
                <a:tc>
                  <a:txBody>
                    <a:bodyPr/>
                    <a:lstStyle/>
                    <a:p>
                      <a:r>
                        <a:rPr sz="850">
                          <a:solidFill>
                            <a:srgbClr val="2B2B3C"/>
                          </a:solidFill>
                          <a:latin typeface="Calibri"/>
                        </a:rPr>
                        <a:t>R-1</a:t>
                      </a:r>
                    </a:p>
                  </a:txBody>
                  <a:tcPr marL="54864" marR="54864" marT="18288" marB="18288">
                    <a:solidFill>
                      <a:srgbClr val="FFF2CC"/>
                    </a:solidFill>
                  </a:tcPr>
                </a:tc>
                <a:tc>
                  <a:txBody>
                    <a:bodyPr/>
                    <a:lstStyle/>
                    <a:p>
                      <a:r>
                        <a:rPr sz="850">
                          <a:solidFill>
                            <a:srgbClr val="2B2B3C"/>
                          </a:solidFill>
                          <a:latin typeface="Calibri"/>
                        </a:rPr>
                        <a:t>A grant covers every tool on the server, including tools added later</a:t>
                      </a:r>
                    </a:p>
                  </a:txBody>
                  <a:tcPr marL="54864" marR="54864" marT="18288" marB="18288">
                    <a:solidFill>
                      <a:srgbClr val="FFF2CC"/>
                    </a:solidFill>
                  </a:tcPr>
                </a:tc>
                <a:tc>
                  <a:txBody>
                    <a:bodyPr/>
                    <a:lstStyle/>
                    <a:p>
                      <a:r>
                        <a:rPr sz="850">
                          <a:solidFill>
                            <a:srgbClr val="2B2B3C"/>
                          </a:solidFill>
                          <a:latin typeface="Calibri"/>
                        </a:rPr>
                        <a:t>Tool-granular authorization is not implemented in the platform</a:t>
                      </a:r>
                    </a:p>
                  </a:txBody>
                  <a:tcPr marL="54864" marR="54864" marT="18288" marB="18288">
                    <a:solidFill>
                      <a:srgbClr val="FFF2CC"/>
                    </a:solidFill>
                  </a:tcPr>
                </a:tc>
                <a:tc>
                  <a:txBody>
                    <a:bodyPr/>
                    <a:lstStyle/>
                    <a:p>
                      <a:r>
                        <a:rPr sz="850">
                          <a:solidFill>
                            <a:srgbClr val="2B2B3C"/>
                          </a:solidFill>
                          <a:latin typeface="Calibri"/>
                        </a:rPr>
                        <a:t>DD-3 split · MSR-16 · MSR-7 change control. Consortium ask raised</a:t>
                      </a:r>
                    </a:p>
                  </a:txBody>
                  <a:tcPr marL="54864" marR="54864" marT="18288" marB="18288">
                    <a:solidFill>
                      <a:srgbClr val="FFF2CC"/>
                    </a:solidFill>
                  </a:tcPr>
                </a:tc>
              </a:tr>
              <a:tr h="301752">
                <a:tc>
                  <a:txBody>
                    <a:bodyPr/>
                    <a:lstStyle/>
                    <a:p>
                      <a:r>
                        <a:rPr sz="850">
                          <a:solidFill>
                            <a:srgbClr val="2B2B3C"/>
                          </a:solidFill>
                          <a:latin typeface="Calibri"/>
                        </a:rPr>
                        <a:t>R-2</a:t>
                      </a:r>
                    </a:p>
                  </a:txBody>
                  <a:tcPr marL="54864" marR="54864" marT="18288" marB="18288">
                    <a:solidFill>
                      <a:srgbClr val="F4F5F7"/>
                    </a:solidFill>
                  </a:tcPr>
                </a:tc>
                <a:tc>
                  <a:txBody>
                    <a:bodyPr/>
                    <a:lstStyle/>
                    <a:p>
                      <a:r>
                        <a:rPr sz="850">
                          <a:solidFill>
                            <a:srgbClr val="2B2B3C"/>
                          </a:solidFill>
                          <a:latin typeface="Calibri"/>
                        </a:rPr>
                        <a:t>The tool inventory is hand-maintained</a:t>
                      </a:r>
                    </a:p>
                  </a:txBody>
                  <a:tcPr marL="54864" marR="54864" marT="18288" marB="18288">
                    <a:solidFill>
                      <a:srgbClr val="F4F5F7"/>
                    </a:solidFill>
                  </a:tcPr>
                </a:tc>
                <a:tc>
                  <a:txBody>
                    <a:bodyPr/>
                    <a:lstStyle/>
                    <a:p>
                      <a:r>
                        <a:rPr sz="850">
                          <a:solidFill>
                            <a:srgbClr val="2B2B3C"/>
                          </a:solidFill>
                          <a:latin typeface="Calibri"/>
                        </a:rPr>
                        <a:t>No discovery on origin/main</a:t>
                      </a:r>
                    </a:p>
                  </a:txBody>
                  <a:tcPr marL="54864" marR="54864" marT="18288" marB="18288">
                    <a:solidFill>
                      <a:srgbClr val="F4F5F7"/>
                    </a:solidFill>
                  </a:tcPr>
                </a:tc>
                <a:tc>
                  <a:txBody>
                    <a:bodyPr/>
                    <a:lstStyle/>
                    <a:p>
                      <a:r>
                        <a:rPr sz="850">
                          <a:solidFill>
                            <a:srgbClr val="2B2B3C"/>
                          </a:solidFill>
                          <a:latin typeface="Calibri"/>
                        </a:rPr>
                        <a:t>MSR-6 release-time diff. Consortium ask raised</a:t>
                      </a:r>
                    </a:p>
                  </a:txBody>
                  <a:tcPr marL="54864" marR="54864" marT="18288" marB="18288">
                    <a:solidFill>
                      <a:srgbClr val="F4F5F7"/>
                    </a:solidFill>
                  </a:tcPr>
                </a:tc>
              </a:tr>
              <a:tr h="301752">
                <a:tc>
                  <a:txBody>
                    <a:bodyPr/>
                    <a:lstStyle/>
                    <a:p>
                      <a:r>
                        <a:rPr sz="850">
                          <a:solidFill>
                            <a:srgbClr val="2B2B3C"/>
                          </a:solidFill>
                          <a:latin typeface="Calibri"/>
                        </a:rPr>
                        <a:t>R-3</a:t>
                      </a:r>
                    </a:p>
                  </a:txBody>
                  <a:tcPr marL="54864" marR="54864" marT="18288" marB="18288">
                    <a:solidFill>
                      <a:srgbClr val="FFF2CC"/>
                    </a:solidFill>
                  </a:tcPr>
                </a:tc>
                <a:tc>
                  <a:txBody>
                    <a:bodyPr/>
                    <a:lstStyle/>
                    <a:p>
                      <a:r>
                        <a:rPr sz="850">
                          <a:solidFill>
                            <a:srgbClr val="2B2B3C"/>
                          </a:solidFill>
                          <a:latin typeface="Calibri"/>
                        </a:rPr>
                        <a:t>Prompt injection through tool output cannot be eliminated</a:t>
                      </a:r>
                    </a:p>
                  </a:txBody>
                  <a:tcPr marL="54864" marR="54864" marT="18288" marB="18288">
                    <a:solidFill>
                      <a:srgbClr val="FFF2CC"/>
                    </a:solidFill>
                  </a:tcPr>
                </a:tc>
                <a:tc>
                  <a:txBody>
                    <a:bodyPr/>
                    <a:lstStyle/>
                    <a:p>
                      <a:r>
                        <a:rPr sz="850">
                          <a:solidFill>
                            <a:srgbClr val="2B2B3C"/>
                          </a:solidFill>
                          <a:latin typeface="Calibri"/>
                        </a:rPr>
                        <a:t>A property of putting model-readable content in a model's context</a:t>
                      </a:r>
                    </a:p>
                  </a:txBody>
                  <a:tcPr marL="54864" marR="54864" marT="18288" marB="18288">
                    <a:solidFill>
                      <a:srgbClr val="FFF2CC"/>
                    </a:solidFill>
                  </a:tcPr>
                </a:tc>
                <a:tc>
                  <a:txBody>
                    <a:bodyPr/>
                    <a:lstStyle/>
                    <a:p>
                      <a:r>
                        <a:rPr sz="850">
                          <a:solidFill>
                            <a:srgbClr val="2B2B3C"/>
                          </a:solidFill>
                          <a:latin typeface="Calibri"/>
                        </a:rPr>
                        <a:t>Response guardrails, bounded output, least privilege on what the tool can do</a:t>
                      </a:r>
                    </a:p>
                  </a:txBody>
                  <a:tcPr marL="54864" marR="54864" marT="18288" marB="18288">
                    <a:solidFill>
                      <a:srgbClr val="FFF2CC"/>
                    </a:solidFill>
                  </a:tcPr>
                </a:tc>
              </a:tr>
              <a:tr h="301752">
                <a:tc>
                  <a:txBody>
                    <a:bodyPr/>
                    <a:lstStyle/>
                    <a:p>
                      <a:r>
                        <a:rPr sz="850">
                          <a:solidFill>
                            <a:srgbClr val="2B2B3C"/>
                          </a:solidFill>
                          <a:latin typeface="Calibri"/>
                        </a:rPr>
                        <a:t>R-4</a:t>
                      </a:r>
                    </a:p>
                  </a:txBody>
                  <a:tcPr marL="54864" marR="54864" marT="18288" marB="18288">
                    <a:solidFill>
                      <a:srgbClr val="F4F5F7"/>
                    </a:solidFill>
                  </a:tcPr>
                </a:tc>
                <a:tc>
                  <a:txBody>
                    <a:bodyPr/>
                    <a:lstStyle/>
                    <a:p>
                      <a:r>
                        <a:rPr sz="850">
                          <a:solidFill>
                            <a:srgbClr val="2B2B3C"/>
                          </a:solidFill>
                          <a:latin typeface="Calibri"/>
                        </a:rPr>
                        <a:t>The platform never probes server health</a:t>
                      </a:r>
                    </a:p>
                  </a:txBody>
                  <a:tcPr marL="54864" marR="54864" marT="18288" marB="18288">
                    <a:solidFill>
                      <a:srgbClr val="F4F5F7"/>
                    </a:solidFill>
                  </a:tcPr>
                </a:tc>
                <a:tc>
                  <a:txBody>
                    <a:bodyPr/>
                    <a:lstStyle/>
                    <a:p>
                      <a:r>
                        <a:rPr sz="850">
                          <a:solidFill>
                            <a:srgbClr val="2B2B3C"/>
                          </a:solidFill>
                          <a:latin typeface="Calibri"/>
                        </a:rPr>
                        <a:t>Not implemented</a:t>
                      </a:r>
                    </a:p>
                  </a:txBody>
                  <a:tcPr marL="54864" marR="54864" marT="18288" marB="18288">
                    <a:solidFill>
                      <a:srgbClr val="F4F5F7"/>
                    </a:solidFill>
                  </a:tcPr>
                </a:tc>
                <a:tc>
                  <a:txBody>
                    <a:bodyPr/>
                    <a:lstStyle/>
                    <a:p>
                      <a:r>
                        <a:rPr sz="850">
                          <a:solidFill>
                            <a:srgbClr val="2B2B3C"/>
                          </a:solidFill>
                          <a:latin typeface="Calibri"/>
                        </a:rPr>
                        <a:t>Hosting-platform probes + alerting on gateway 5xx per endpoint</a:t>
                      </a:r>
                    </a:p>
                  </a:txBody>
                  <a:tcPr marL="54864" marR="54864" marT="18288" marB="18288">
                    <a:solidFill>
                      <a:srgbClr val="F4F5F7"/>
                    </a:solidFill>
                  </a:tcPr>
                </a:tc>
              </a:tr>
              <a:tr h="301752">
                <a:tc>
                  <a:txBody>
                    <a:bodyPr/>
                    <a:lstStyle/>
                    <a:p>
                      <a:r>
                        <a:rPr sz="850">
                          <a:solidFill>
                            <a:srgbClr val="2B2B3C"/>
                          </a:solidFill>
                          <a:latin typeface="Calibri"/>
                        </a:rPr>
                        <a:t>R-5</a:t>
                      </a:r>
                    </a:p>
                  </a:txBody>
                  <a:tcPr marL="54864" marR="54864" marT="18288" marB="18288">
                    <a:solidFill>
                      <a:srgbClr val="FFFFFF"/>
                    </a:solidFill>
                  </a:tcPr>
                </a:tc>
                <a:tc>
                  <a:txBody>
                    <a:bodyPr/>
                    <a:lstStyle/>
                    <a:p>
                      <a:r>
                        <a:rPr sz="850">
                          <a:solidFill>
                            <a:srgbClr val="2B2B3C"/>
                          </a:solidFill>
                          <a:latin typeface="Calibri"/>
                        </a:rPr>
                        <a:t>Availability is bounded by the control plane</a:t>
                      </a:r>
                    </a:p>
                  </a:txBody>
                  <a:tcPr marL="54864" marR="54864" marT="18288" marB="18288">
                    <a:solidFill>
                      <a:srgbClr val="FFFFFF"/>
                    </a:solidFill>
                  </a:tcPr>
                </a:tc>
                <a:tc>
                  <a:txBody>
                    <a:bodyPr/>
                    <a:lstStyle/>
                    <a:p>
                      <a:r>
                        <a:rPr sz="850">
                          <a:solidFill>
                            <a:srgbClr val="2B2B3C"/>
                          </a:solidFill>
                          <a:latin typeface="Calibri"/>
                        </a:rPr>
                        <a:t>Deliberate — no policy cache, so a portal outage denies</a:t>
                      </a:r>
                    </a:p>
                  </a:txBody>
                  <a:tcPr marL="54864" marR="54864" marT="18288" marB="18288">
                    <a:solidFill>
                      <a:srgbClr val="FFFFFF"/>
                    </a:solidFill>
                  </a:tcPr>
                </a:tc>
                <a:tc>
                  <a:txBody>
                    <a:bodyPr/>
                    <a:lstStyle/>
                    <a:p>
                      <a:r>
                        <a:rPr sz="850">
                          <a:solidFill>
                            <a:srgbClr val="2B2B3C"/>
                          </a:solidFill>
                          <a:latin typeface="Calibri"/>
                        </a:rPr>
                        <a:t>Accepted per DD-9; gateway and portal redundancy</a:t>
                      </a:r>
                    </a:p>
                  </a:txBody>
                  <a:tcPr marL="54864" marR="54864" marT="18288" marB="18288">
                    <a:solidFill>
                      <a:srgbClr val="FFFFFF"/>
                    </a:solidFill>
                  </a:tcPr>
                </a:tc>
              </a:tr>
              <a:tr h="301752">
                <a:tc>
                  <a:txBody>
                    <a:bodyPr/>
                    <a:lstStyle/>
                    <a:p>
                      <a:r>
                        <a:rPr sz="850">
                          <a:solidFill>
                            <a:srgbClr val="2B2B3C"/>
                          </a:solidFill>
                          <a:latin typeface="Calibri"/>
                        </a:rPr>
                        <a:t>R-6</a:t>
                      </a:r>
                    </a:p>
                  </a:txBody>
                  <a:tcPr marL="54864" marR="54864" marT="18288" marB="18288">
                    <a:solidFill>
                      <a:srgbClr val="F4F5F7"/>
                    </a:solidFill>
                  </a:tcPr>
                </a:tc>
                <a:tc>
                  <a:txBody>
                    <a:bodyPr/>
                    <a:lstStyle/>
                    <a:p>
                      <a:r>
                        <a:rPr sz="850">
                          <a:solidFill>
                            <a:srgbClr val="2B2B3C"/>
                          </a:solidFill>
                          <a:latin typeface="Calibri"/>
                        </a:rPr>
                        <a:t>No per-server call quota or spend budget</a:t>
                      </a:r>
                    </a:p>
                  </a:txBody>
                  <a:tcPr marL="54864" marR="54864" marT="18288" marB="18288">
                    <a:solidFill>
                      <a:srgbClr val="F4F5F7"/>
                    </a:solidFill>
                  </a:tcPr>
                </a:tc>
                <a:tc>
                  <a:txBody>
                    <a:bodyPr/>
                    <a:lstStyle/>
                    <a:p>
                      <a:r>
                        <a:rPr sz="850">
                          <a:solidFill>
                            <a:srgbClr val="2B2B3C"/>
                          </a:solidFill>
                          <a:latin typeface="Calibri"/>
                        </a:rPr>
                        <a:t>Quota dimensions stop at requests and tokens; the gateway consumes none</a:t>
                      </a:r>
                    </a:p>
                  </a:txBody>
                  <a:tcPr marL="54864" marR="54864" marT="18288" marB="18288">
                    <a:solidFill>
                      <a:srgbClr val="F4F5F7"/>
                    </a:solidFill>
                  </a:tcPr>
                </a:tc>
                <a:tc>
                  <a:txBody>
                    <a:bodyPr/>
                    <a:lstStyle/>
                    <a:p>
                      <a:r>
                        <a:rPr sz="850">
                          <a:solidFill>
                            <a:srgbClr val="2B2B3C"/>
                          </a:solidFill>
                          <a:latin typeface="Calibri"/>
                        </a:rPr>
                        <a:t>Server-side rate limiting where a tool needs it</a:t>
                      </a:r>
                    </a:p>
                  </a:txBody>
                  <a:tcPr marL="54864" marR="54864" marT="18288" marB="18288">
                    <a:solidFill>
                      <a:srgbClr val="F4F5F7"/>
                    </a:solidFill>
                  </a:tcPr>
                </a:tc>
              </a:tr>
              <a:tr h="301752">
                <a:tc>
                  <a:txBody>
                    <a:bodyPr/>
                    <a:lstStyle/>
                    <a:p>
                      <a:r>
                        <a:rPr sz="850">
                          <a:solidFill>
                            <a:srgbClr val="2B2B3C"/>
                          </a:solidFill>
                          <a:latin typeface="Calibri"/>
                        </a:rPr>
                        <a:t>R-7</a:t>
                      </a:r>
                    </a:p>
                  </a:txBody>
                  <a:tcPr marL="54864" marR="54864" marT="18288" marB="18288">
                    <a:solidFill>
                      <a:srgbClr val="FFFFFF"/>
                    </a:solidFill>
                  </a:tcPr>
                </a:tc>
                <a:tc>
                  <a:txBody>
                    <a:bodyPr/>
                    <a:lstStyle/>
                    <a:p>
                      <a:r>
                        <a:rPr sz="850">
                          <a:solidFill>
                            <a:srgbClr val="2B2B3C"/>
                          </a:solidFill>
                          <a:latin typeface="Calibri"/>
                        </a:rPr>
                        <a:t>Third-party-fronted servers cannot be onboarded with a credential</a:t>
                      </a:r>
                    </a:p>
                  </a:txBody>
                  <a:tcPr marL="54864" marR="54864" marT="18288" marB="18288">
                    <a:solidFill>
                      <a:srgbClr val="FFFFFF"/>
                    </a:solidFill>
                  </a:tcPr>
                </a:tc>
                <a:tc>
                  <a:txBody>
                    <a:bodyPr/>
                    <a:lstStyle/>
                    <a:p>
                      <a:r>
                        <a:rPr sz="850">
                          <a:solidFill>
                            <a:srgbClr val="2B2B3C"/>
                          </a:solidFill>
                          <a:latin typeface="Calibri"/>
                        </a:rPr>
                        <a:t>The two relevant modes are unimplemented</a:t>
                      </a:r>
                    </a:p>
                  </a:txBody>
                  <a:tcPr marL="54864" marR="54864" marT="18288" marB="18288">
                    <a:solidFill>
                      <a:srgbClr val="FFFFFF"/>
                    </a:solidFill>
                  </a:tcPr>
                </a:tc>
                <a:tc>
                  <a:txBody>
                    <a:bodyPr/>
                    <a:lstStyle/>
                    <a:p>
                      <a:r>
                        <a:rPr sz="850">
                          <a:solidFill>
                            <a:srgbClr val="2B2B3C"/>
                          </a:solidFill>
                          <a:latin typeface="Calibri"/>
                        </a:rPr>
                        <a:t>DD-5 — not onboarded. Consortium ask raised</a:t>
                      </a:r>
                    </a:p>
                  </a:txBody>
                  <a:tcPr marL="54864" marR="54864" marT="18288" marB="18288">
                    <a:solidFill>
                      <a:srgbClr val="FFFFFF"/>
                    </a:solidFill>
                  </a:tcPr>
                </a:tc>
              </a:tr>
              <a:tr h="301752">
                <a:tc>
                  <a:txBody>
                    <a:bodyPr/>
                    <a:lstStyle/>
                    <a:p>
                      <a:r>
                        <a:rPr sz="850">
                          <a:solidFill>
                            <a:srgbClr val="2B2B3C"/>
                          </a:solidFill>
                          <a:latin typeface="Calibri"/>
                        </a:rPr>
                        <a:t>R-8</a:t>
                      </a:r>
                    </a:p>
                  </a:txBody>
                  <a:tcPr marL="54864" marR="54864" marT="18288" marB="18288">
                    <a:solidFill>
                      <a:srgbClr val="F4F5F7"/>
                    </a:solidFill>
                  </a:tcPr>
                </a:tc>
                <a:tc>
                  <a:txBody>
                    <a:bodyPr/>
                    <a:lstStyle/>
                    <a:p>
                      <a:r>
                        <a:rPr sz="850">
                          <a:solidFill>
                            <a:srgbClr val="2B2B3C"/>
                          </a:solidFill>
                          <a:latin typeface="Calibri"/>
                        </a:rPr>
                        <a:t>The governance axis is inert</a:t>
                      </a:r>
                    </a:p>
                  </a:txBody>
                  <a:tcPr marL="54864" marR="54864" marT="18288" marB="18288">
                    <a:solidFill>
                      <a:srgbClr val="F4F5F7"/>
                    </a:solidFill>
                  </a:tcPr>
                </a:tc>
                <a:tc>
                  <a:txBody>
                    <a:bodyPr/>
                    <a:lstStyle/>
                    <a:p>
                      <a:r>
                        <a:rPr sz="850">
                          <a:solidFill>
                            <a:srgbClr val="2B2B3C"/>
                          </a:solidFill>
                          <a:latin typeface="Calibri"/>
                        </a:rPr>
                        <a:t>Rulesets deployed, zero applicability rules</a:t>
                      </a:r>
                    </a:p>
                  </a:txBody>
                  <a:tcPr marL="54864" marR="54864" marT="18288" marB="18288">
                    <a:solidFill>
                      <a:srgbClr val="F4F5F7"/>
                    </a:solidFill>
                  </a:tcPr>
                </a:tc>
                <a:tc>
                  <a:txBody>
                    <a:bodyPr/>
                    <a:lstStyle/>
                    <a:p>
                      <a:r>
                        <a:rPr sz="850">
                          <a:solidFill>
                            <a:srgbClr val="2B2B3C"/>
                          </a:solidFill>
                          <a:latin typeface="Calibri"/>
                        </a:rPr>
                        <a:t>Tracked separately; not presented as an operating control yet</a:t>
                      </a:r>
                    </a:p>
                  </a:txBody>
                  <a:tcPr marL="54864" marR="54864" marT="18288" marB="18288">
                    <a:solidFill>
                      <a:srgbClr val="F4F5F7"/>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Gaps — And Who Owns Each</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16</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50" b="1">
                <a:solidFill>
                  <a:srgbClr val="2B2B3C"/>
                </a:solidFill>
                <a:latin typeface="Calibri"/>
              </a:rPr>
              <a:t>Three of the ten are entirely ours. They are also the three that most directly weaken an assurance submission, and they need no consortium change.</a:t>
            </a:r>
          </a:p>
        </p:txBody>
      </p:sp>
      <p:sp>
        <p:nvSpPr>
          <p:cNvPr id="10" name="Rectangle 9"/>
          <p:cNvSpPr/>
          <p:nvPr/>
        </p:nvSpPr>
        <p:spPr>
          <a:xfrm>
            <a:off x="502920" y="1828800"/>
            <a:ext cx="5486400" cy="4160520"/>
          </a:xfrm>
          <a:prstGeom prst="rect">
            <a:avLst/>
          </a:prstGeom>
          <a:solidFill>
            <a:srgbClr val="DA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828800"/>
            <a:ext cx="5486400" cy="76200"/>
          </a:xfrm>
          <a:prstGeom prst="rect">
            <a:avLst/>
          </a:prstGeom>
          <a:solidFill>
            <a:srgbClr val="0096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3852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Consortium — Luminate platform changes</a:t>
            </a:r>
          </a:p>
        </p:txBody>
      </p:sp>
      <p:sp>
        <p:nvSpPr>
          <p:cNvPr id="13" name="TextBox 12"/>
          <p:cNvSpPr txBox="1"/>
          <p:nvPr/>
        </p:nvSpPr>
        <p:spPr>
          <a:xfrm>
            <a:off x="640080" y="2359152"/>
            <a:ext cx="5212080" cy="3538728"/>
          </a:xfrm>
          <a:prstGeom prst="rect">
            <a:avLst/>
          </a:prstGeom>
          <a:noFill/>
        </p:spPr>
        <p:txBody>
          <a:bodyPr wrap="square">
            <a:spAutoFit/>
          </a:bodyPr>
          <a:lstStyle/>
          <a:p>
            <a:pPr>
              <a:spcAft>
                <a:spcPts val="300"/>
              </a:spcAft>
            </a:pPr>
            <a:r>
              <a:rPr sz="1050">
                <a:solidFill>
                  <a:srgbClr val="2B2B3C"/>
                </a:solidFill>
                <a:latin typeface="Calibri"/>
              </a:rPr>
              <a:t>• G-1  Tool-granular authorization does not exist  (HIGH — compensated architecturally)</a:t>
            </a:r>
          </a:p>
          <a:p>
            <a:pPr>
              <a:spcAft>
                <a:spcPts val="300"/>
              </a:spcAft>
            </a:pPr>
            <a:r>
              <a:rPr sz="1050">
                <a:solidFill>
                  <a:srgbClr val="2B2B3C"/>
                </a:solidFill>
                <a:latin typeface="Calibri"/>
              </a:rPr>
              <a:t>• G-2  No automatic tool discovery  (HIGH — compensated by process)</a:t>
            </a:r>
          </a:p>
          <a:p>
            <a:pPr>
              <a:spcAft>
                <a:spcPts val="300"/>
              </a:spcAft>
            </a:pPr>
            <a:r>
              <a:rPr sz="1050">
                <a:solidFill>
                  <a:srgbClr val="2B2B3C"/>
                </a:solidFill>
                <a:latin typeface="Calibri"/>
              </a:rPr>
              <a:t>• G-3  injected_credential / external_exchange unimplemented  (HIGH — no workaround)</a:t>
            </a:r>
          </a:p>
          <a:p>
            <a:pPr>
              <a:spcAft>
                <a:spcPts val="300"/>
              </a:spcAft>
            </a:pPr>
            <a:r>
              <a:rPr sz="1050">
                <a:solidFill>
                  <a:srgbClr val="2B2B3C"/>
                </a:solidFill>
                <a:latin typeface="Calibri"/>
              </a:rPr>
              <a:t>• G-5  No MCP server health probing  (Medium)</a:t>
            </a:r>
          </a:p>
          <a:p>
            <a:pPr>
              <a:spcAft>
                <a:spcPts val="300"/>
              </a:spcAft>
            </a:pPr>
            <a:r>
              <a:rPr sz="1050">
                <a:solidFill>
                  <a:srgbClr val="2B2B3C"/>
                </a:solidFill>
                <a:latin typeface="Calibri"/>
              </a:rPr>
              <a:t>• G-8  Quotas modelled but not enforced at the gateway  (Medium)</a:t>
            </a:r>
          </a:p>
          <a:p>
            <a:pPr>
              <a:spcAft>
                <a:spcPts val="300"/>
              </a:spcAft>
            </a:pPr>
            <a:r>
              <a:rPr sz="1050">
                <a:solidFill>
                  <a:srgbClr val="2B2B3C"/>
                </a:solidFill>
                <a:latin typeface="Calibri"/>
              </a:rPr>
              <a:t>• </a:t>
            </a:r>
          </a:p>
          <a:p>
            <a:pPr>
              <a:spcAft>
                <a:spcPts val="300"/>
              </a:spcAft>
            </a:pPr>
            <a:r>
              <a:rPr sz="1050">
                <a:solidFill>
                  <a:srgbClr val="2B2B3C"/>
                </a:solidFill>
                <a:latin typeface="Calibri"/>
              </a:rPr>
              <a:t>• Each already has a stated compensating control, so none of these blocks approval — they are raised in parallel, not sequenced ahead of delivery.</a:t>
            </a:r>
          </a:p>
        </p:txBody>
      </p:sp>
      <p:sp>
        <p:nvSpPr>
          <p:cNvPr id="14" name="Rectangle 13"/>
          <p:cNvSpPr/>
          <p:nvPr/>
        </p:nvSpPr>
        <p:spPr>
          <a:xfrm>
            <a:off x="6172200" y="1828800"/>
            <a:ext cx="5486400" cy="4160520"/>
          </a:xfrm>
          <a:prstGeom prst="rect">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72200" y="1828800"/>
            <a:ext cx="5486400" cy="762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938528"/>
            <a:ext cx="5212080" cy="365760"/>
          </a:xfrm>
          <a:prstGeom prst="rect">
            <a:avLst/>
          </a:prstGeom>
          <a:noFill/>
        </p:spPr>
        <p:txBody>
          <a:bodyPr wrap="square" anchor="t">
            <a:spAutoFit/>
          </a:bodyPr>
          <a:lstStyle/>
          <a:p>
            <a:pPr algn="l">
              <a:spcAft>
                <a:spcPts val="400"/>
              </a:spcAft>
            </a:pPr>
            <a:r>
              <a:rPr sz="1250" b="1">
                <a:solidFill>
                  <a:srgbClr val="2B2B3C"/>
                </a:solidFill>
                <a:latin typeface="Calibri"/>
              </a:rPr>
              <a:t>Sun Life — ours to close</a:t>
            </a:r>
          </a:p>
        </p:txBody>
      </p:sp>
      <p:sp>
        <p:nvSpPr>
          <p:cNvPr id="17" name="TextBox 16"/>
          <p:cNvSpPr txBox="1"/>
          <p:nvPr/>
        </p:nvSpPr>
        <p:spPr>
          <a:xfrm>
            <a:off x="6309360" y="2359152"/>
            <a:ext cx="5212080" cy="3538728"/>
          </a:xfrm>
          <a:prstGeom prst="rect">
            <a:avLst/>
          </a:prstGeom>
          <a:noFill/>
        </p:spPr>
        <p:txBody>
          <a:bodyPr wrap="square">
            <a:spAutoFit/>
          </a:bodyPr>
          <a:lstStyle/>
          <a:p>
            <a:pPr>
              <a:spcAft>
                <a:spcPts val="300"/>
              </a:spcAft>
            </a:pPr>
            <a:r>
              <a:rPr sz="1050">
                <a:solidFill>
                  <a:srgbClr val="2B2B3C"/>
                </a:solidFill>
                <a:latin typeface="Calibri"/>
              </a:rPr>
              <a:t>• G-6  Scanning gates disabled estate-wide  (HIGH)</a:t>
            </a:r>
          </a:p>
          <a:p>
            <a:pPr>
              <a:spcAft>
                <a:spcPts val="300"/>
              </a:spcAft>
            </a:pPr>
            <a:r>
              <a:rPr sz="1050">
                <a:solidFill>
                  <a:srgbClr val="2B2B3C"/>
                </a:solidFill>
                <a:latin typeface="Calibri"/>
              </a:rPr>
              <a:t>• G-7  The Checkmarx gate passes without scanning  (HIGH)</a:t>
            </a:r>
          </a:p>
          <a:p>
            <a:pPr>
              <a:spcAft>
                <a:spcPts val="300"/>
              </a:spcAft>
            </a:pPr>
            <a:r>
              <a:rPr sz="1050">
                <a:solidFill>
                  <a:srgbClr val="2B2B3C"/>
                </a:solidFill>
                <a:latin typeface="Calibri"/>
              </a:rPr>
              <a:t>• G-9  Governance rulesets deployed but inert — zero applicability rules  (Medium)</a:t>
            </a:r>
          </a:p>
          <a:p>
            <a:pPr>
              <a:spcAft>
                <a:spcPts val="300"/>
              </a:spcAft>
            </a:pPr>
            <a:r>
              <a:rPr sz="1050">
                <a:solidFill>
                  <a:srgbClr val="2B2B3C"/>
                </a:solidFill>
                <a:latin typeface="Calibri"/>
              </a:rPr>
              <a:t>• G-4  Kill-switch propagation has never been measured  (shared with consortium)</a:t>
            </a:r>
          </a:p>
          <a:p>
            <a:pPr>
              <a:spcAft>
                <a:spcPts val="300"/>
              </a:spcAft>
            </a:pPr>
            <a:r>
              <a:rPr sz="1050">
                <a:solidFill>
                  <a:srgbClr val="2B2B3C"/>
                </a:solidFill>
                <a:latin typeface="Calibri"/>
              </a:rPr>
              <a:t>• G-10  The AgentCore governed-route decision is open  (Medium)</a:t>
            </a:r>
          </a:p>
          <a:p>
            <a:pPr>
              <a:spcAft>
                <a:spcPts val="300"/>
              </a:spcAft>
            </a:pPr>
            <a:r>
              <a:rPr sz="1050">
                <a:solidFill>
                  <a:srgbClr val="2B2B3C"/>
                </a:solidFill>
                <a:latin typeface="Calibri"/>
              </a:rPr>
              <a:t>• </a:t>
            </a:r>
          </a:p>
          <a:p>
            <a:pPr>
              <a:spcAft>
                <a:spcPts val="300"/>
              </a:spcAft>
            </a:pPr>
            <a:r>
              <a:rPr sz="1050">
                <a:solidFill>
                  <a:srgbClr val="2B2B3C"/>
                </a:solidFill>
                <a:latin typeface="Calibri"/>
              </a:rPr>
              <a:t>• G-6 and G-7 are on the critical path into this submission: an ISRA cannot claim SAST and SCA coverage that the pipelines do not enforce.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109728"/>
            <a:ext cx="10972800" cy="320040"/>
          </a:xfrm>
          <a:prstGeom prst="rect">
            <a:avLst/>
          </a:prstGeom>
          <a:noFill/>
        </p:spPr>
        <p:txBody>
          <a:bodyPr wrap="square" anchor="t">
            <a:spAutoFit/>
          </a:bodyPr>
          <a:lstStyle/>
          <a:p>
            <a:pPr algn="l">
              <a:spcAft>
                <a:spcPts val="400"/>
              </a:spcAft>
            </a:pPr>
            <a:r>
              <a:rPr sz="1050" b="1">
                <a:solidFill>
                  <a:srgbClr val="FFB300"/>
                </a:solidFill>
                <a:latin typeface="Calibri"/>
              </a:rPr>
              <a:t>AGENTIC CONTROL PLANE · MCP SERVER PATTERNS</a:t>
            </a:r>
          </a:p>
        </p:txBody>
      </p:sp>
      <p:sp>
        <p:nvSpPr>
          <p:cNvPr id="6" name="TextBox 5"/>
          <p:cNvSpPr txBox="1"/>
          <p:nvPr/>
        </p:nvSpPr>
        <p:spPr>
          <a:xfrm>
            <a:off x="502920" y="384048"/>
            <a:ext cx="11247120" cy="640080"/>
          </a:xfrm>
          <a:prstGeom prst="rect">
            <a:avLst/>
          </a:prstGeom>
          <a:noFill/>
        </p:spPr>
        <p:txBody>
          <a:bodyPr wrap="square" anchor="ctr">
            <a:spAutoFit/>
          </a:bodyPr>
          <a:lstStyle/>
          <a:p>
            <a:pPr algn="l">
              <a:spcAft>
                <a:spcPts val="400"/>
              </a:spcAft>
            </a:pPr>
            <a:r>
              <a:rPr sz="2500" b="1">
                <a:solidFill>
                  <a:srgbClr val="FFFFFF"/>
                </a:solidFill>
                <a:latin typeface="Calibri"/>
              </a:rPr>
              <a:t>Delivery Plan</a:t>
            </a:r>
          </a:p>
        </p:txBody>
      </p:sp>
      <p:sp>
        <p:nvSpPr>
          <p:cNvPr id="7" name="TextBox 6"/>
          <p:cNvSpPr txBox="1"/>
          <p:nvPr/>
        </p:nvSpPr>
        <p:spPr>
          <a:xfrm>
            <a:off x="502920" y="6419088"/>
            <a:ext cx="10058400" cy="320040"/>
          </a:xfrm>
          <a:prstGeom prst="rect">
            <a:avLst/>
          </a:prstGeom>
          <a:noFill/>
        </p:spPr>
        <p:txBody>
          <a:bodyPr wrap="square" anchor="t">
            <a:spAutoFit/>
          </a:bodyPr>
          <a:lstStyle/>
          <a:p>
            <a:pPr algn="l">
              <a:spcAft>
                <a:spcPts val="400"/>
              </a:spcAft>
            </a:pPr>
            <a:r>
              <a:rPr sz="850" b="0">
                <a:solidFill>
                  <a:srgbClr val="606070"/>
                </a:solidFill>
                <a:latin typeface="Calibri"/>
              </a:rPr>
              <a:t>MCP Server Patterns — registration, deployment and utilization · ETAB / ATG / ISRA submission · EACPP-1176</a:t>
            </a:r>
          </a:p>
        </p:txBody>
      </p:sp>
      <p:sp>
        <p:nvSpPr>
          <p:cNvPr id="8" name="TextBox 7"/>
          <p:cNvSpPr txBox="1"/>
          <p:nvPr/>
        </p:nvSpPr>
        <p:spPr>
          <a:xfrm>
            <a:off x="11155680" y="6419088"/>
            <a:ext cx="731520" cy="320040"/>
          </a:xfrm>
          <a:prstGeom prst="rect">
            <a:avLst/>
          </a:prstGeom>
          <a:noFill/>
        </p:spPr>
        <p:txBody>
          <a:bodyPr wrap="square" anchor="t">
            <a:spAutoFit/>
          </a:bodyPr>
          <a:lstStyle/>
          <a:p>
            <a:pPr algn="r">
              <a:spcAft>
                <a:spcPts val="400"/>
              </a:spcAft>
            </a:pPr>
            <a:r>
              <a:rPr sz="900" b="1">
                <a:solidFill>
                  <a:srgbClr val="606070"/>
                </a:solidFill>
                <a:latin typeface="Calibri"/>
              </a:rPr>
              <a:t>17</a:t>
            </a:r>
          </a:p>
        </p:txBody>
      </p:sp>
      <p:sp>
        <p:nvSpPr>
          <p:cNvPr id="9" name="TextBox 8"/>
          <p:cNvSpPr txBox="1"/>
          <p:nvPr/>
        </p:nvSpPr>
        <p:spPr>
          <a:xfrm>
            <a:off x="502920" y="1298448"/>
            <a:ext cx="11155680" cy="502920"/>
          </a:xfrm>
          <a:prstGeom prst="rect">
            <a:avLst/>
          </a:prstGeom>
          <a:noFill/>
        </p:spPr>
        <p:txBody>
          <a:bodyPr wrap="square" anchor="t">
            <a:spAutoFit/>
          </a:bodyPr>
          <a:lstStyle/>
          <a:p>
            <a:pPr algn="l">
              <a:spcAft>
                <a:spcPts val="400"/>
              </a:spcAft>
            </a:pPr>
            <a:r>
              <a:rPr sz="1350" b="1">
                <a:solidFill>
                  <a:srgbClr val="2B2B3C"/>
                </a:solidFill>
                <a:latin typeface="Calibri"/>
              </a:rPr>
              <a:t>Five workstreams. W1 and W3 depend on nothing and start together; W3 is the critical path into the assurance work.</a:t>
            </a:r>
          </a:p>
        </p:txBody>
      </p:sp>
      <p:sp>
        <p:nvSpPr>
          <p:cNvPr id="10" name="Pentagon 9"/>
          <p:cNvSpPr/>
          <p:nvPr/>
        </p:nvSpPr>
        <p:spPr>
          <a:xfrm>
            <a:off x="502920" y="1828800"/>
            <a:ext cx="2172614" cy="1188720"/>
          </a:xfrm>
          <a:prstGeom prst="homePlate">
            <a:avLst/>
          </a:prstGeom>
          <a:solidFill>
            <a:srgbClr val="DA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1920240"/>
            <a:ext cx="1715414" cy="1005840"/>
          </a:xfrm>
          <a:prstGeom prst="rect">
            <a:avLst/>
          </a:prstGeom>
          <a:noFill/>
        </p:spPr>
        <p:txBody>
          <a:bodyPr wrap="square" anchor="ctr">
            <a:spAutoFit/>
          </a:bodyPr>
          <a:lstStyle/>
          <a:p>
            <a:pPr algn="l">
              <a:spcAft>
                <a:spcPts val="100"/>
              </a:spcAft>
            </a:pPr>
            <a:r>
              <a:rPr sz="850" b="1">
                <a:solidFill>
                  <a:srgbClr val="606070"/>
                </a:solidFill>
                <a:latin typeface="Calibri"/>
              </a:rPr>
              <a:t>W1</a:t>
            </a:r>
          </a:p>
          <a:p>
            <a:pPr algn="l">
              <a:spcAft>
                <a:spcPts val="100"/>
              </a:spcAft>
            </a:pPr>
            <a:r>
              <a:rPr sz="1400" b="1">
                <a:solidFill>
                  <a:srgbClr val="2B2B3C"/>
                </a:solidFill>
                <a:latin typeface="Calibri"/>
              </a:rPr>
              <a:t>Publish</a:t>
            </a:r>
          </a:p>
          <a:p>
            <a:pPr algn="l">
              <a:spcAft>
                <a:spcPts val="100"/>
              </a:spcAft>
            </a:pPr>
            <a:r>
              <a:rPr sz="1000" b="0">
                <a:solidFill>
                  <a:srgbClr val="2B2B3C"/>
                </a:solidFill>
                <a:latin typeface="Calibri"/>
              </a:rPr>
              <a:t>Profile, decision tree,
substrate annex, reference server</a:t>
            </a:r>
          </a:p>
        </p:txBody>
      </p:sp>
      <p:sp>
        <p:nvSpPr>
          <p:cNvPr id="12" name="Chevron 11"/>
          <p:cNvSpPr/>
          <p:nvPr/>
        </p:nvSpPr>
        <p:spPr>
          <a:xfrm>
            <a:off x="2748686" y="1828800"/>
            <a:ext cx="2172614" cy="1188720"/>
          </a:xfrm>
          <a:prstGeom prst="chevron">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04718" y="1920240"/>
            <a:ext cx="1715414" cy="1005840"/>
          </a:xfrm>
          <a:prstGeom prst="rect">
            <a:avLst/>
          </a:prstGeom>
          <a:noFill/>
        </p:spPr>
        <p:txBody>
          <a:bodyPr wrap="square" anchor="ctr">
            <a:spAutoFit/>
          </a:bodyPr>
          <a:lstStyle/>
          <a:p>
            <a:pPr algn="l">
              <a:spcAft>
                <a:spcPts val="100"/>
              </a:spcAft>
            </a:pPr>
            <a:r>
              <a:rPr sz="850" b="1">
                <a:solidFill>
                  <a:srgbClr val="606070"/>
                </a:solidFill>
                <a:latin typeface="Calibri"/>
              </a:rPr>
              <a:t>W2</a:t>
            </a:r>
          </a:p>
          <a:p>
            <a:pPr algn="l">
              <a:spcAft>
                <a:spcPts val="100"/>
              </a:spcAft>
            </a:pPr>
            <a:r>
              <a:rPr sz="1400" b="1">
                <a:solidFill>
                  <a:srgbClr val="2B2B3C"/>
                </a:solidFill>
                <a:latin typeface="Calibri"/>
              </a:rPr>
              <a:t>Fix the estate</a:t>
            </a:r>
          </a:p>
          <a:p>
            <a:pPr algn="l">
              <a:spcAft>
                <a:spcPts val="100"/>
              </a:spcAft>
            </a:pPr>
            <a:r>
              <a:rPr sz="1000" b="0">
                <a:solidFill>
                  <a:srgbClr val="2B2B3C"/>
                </a:solidFill>
                <a:latin typeface="Calibri"/>
              </a:rPr>
              <a:t>Assess the four servers,
record modes, evidence controls</a:t>
            </a:r>
          </a:p>
        </p:txBody>
      </p:sp>
      <p:sp>
        <p:nvSpPr>
          <p:cNvPr id="14" name="Chevron 13"/>
          <p:cNvSpPr/>
          <p:nvPr/>
        </p:nvSpPr>
        <p:spPr>
          <a:xfrm>
            <a:off x="4994452" y="1828800"/>
            <a:ext cx="2172614" cy="1188720"/>
          </a:xfrm>
          <a:prstGeom prst="chevron">
            <a:avLst/>
          </a:prstGeom>
          <a:solidFill>
            <a:srgbClr val="F8CE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50484" y="1920240"/>
            <a:ext cx="1715414" cy="1005840"/>
          </a:xfrm>
          <a:prstGeom prst="rect">
            <a:avLst/>
          </a:prstGeom>
          <a:noFill/>
        </p:spPr>
        <p:txBody>
          <a:bodyPr wrap="square" anchor="ctr">
            <a:spAutoFit/>
          </a:bodyPr>
          <a:lstStyle/>
          <a:p>
            <a:pPr algn="l">
              <a:spcAft>
                <a:spcPts val="100"/>
              </a:spcAft>
            </a:pPr>
            <a:r>
              <a:rPr sz="850" b="1">
                <a:solidFill>
                  <a:srgbClr val="606070"/>
                </a:solidFill>
                <a:latin typeface="Calibri"/>
              </a:rPr>
              <a:t>W3</a:t>
            </a:r>
          </a:p>
          <a:p>
            <a:pPr algn="l">
              <a:spcAft>
                <a:spcPts val="100"/>
              </a:spcAft>
            </a:pPr>
            <a:r>
              <a:rPr sz="1400" b="1">
                <a:solidFill>
                  <a:srgbClr val="2B2B3C"/>
                </a:solidFill>
                <a:latin typeface="Calibri"/>
              </a:rPr>
              <a:t>Supply chain</a:t>
            </a:r>
          </a:p>
          <a:p>
            <a:pPr algn="l">
              <a:spcAft>
                <a:spcPts val="100"/>
              </a:spcAft>
            </a:pPr>
            <a:r>
              <a:rPr sz="1000" b="0">
                <a:solidFill>
                  <a:srgbClr val="2B2B3C"/>
                </a:solidFill>
                <a:latin typeface="Calibri"/>
              </a:rPr>
              <a:t>Gates on, branches set,
real Checkmarx scans</a:t>
            </a:r>
          </a:p>
        </p:txBody>
      </p:sp>
      <p:sp>
        <p:nvSpPr>
          <p:cNvPr id="16" name="Chevron 15"/>
          <p:cNvSpPr/>
          <p:nvPr/>
        </p:nvSpPr>
        <p:spPr>
          <a:xfrm>
            <a:off x="7240219" y="1828800"/>
            <a:ext cx="2172614" cy="1188720"/>
          </a:xfrm>
          <a:prstGeom prst="chevron">
            <a:avLst/>
          </a:prstGeom>
          <a:solidFill>
            <a:srgbClr val="D5E8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6251" y="1920240"/>
            <a:ext cx="1715414" cy="1005840"/>
          </a:xfrm>
          <a:prstGeom prst="rect">
            <a:avLst/>
          </a:prstGeom>
          <a:noFill/>
        </p:spPr>
        <p:txBody>
          <a:bodyPr wrap="square" anchor="ctr">
            <a:spAutoFit/>
          </a:bodyPr>
          <a:lstStyle/>
          <a:p>
            <a:pPr algn="l">
              <a:spcAft>
                <a:spcPts val="100"/>
              </a:spcAft>
            </a:pPr>
            <a:r>
              <a:rPr sz="850" b="1">
                <a:solidFill>
                  <a:srgbClr val="606070"/>
                </a:solidFill>
                <a:latin typeface="Calibri"/>
              </a:rPr>
              <a:t>W4</a:t>
            </a:r>
          </a:p>
          <a:p>
            <a:pPr algn="l">
              <a:spcAft>
                <a:spcPts val="100"/>
              </a:spcAft>
            </a:pPr>
            <a:r>
              <a:rPr sz="1400" b="1">
                <a:solidFill>
                  <a:srgbClr val="2B2B3C"/>
                </a:solidFill>
                <a:latin typeface="Calibri"/>
              </a:rPr>
              <a:t>Assurance</a:t>
            </a:r>
          </a:p>
          <a:p>
            <a:pPr algn="l">
              <a:spcAft>
                <a:spcPts val="100"/>
              </a:spcAft>
            </a:pPr>
            <a:r>
              <a:rPr sz="1000" b="0">
                <a:solidFill>
                  <a:srgbClr val="2B2B3C"/>
                </a:solidFill>
                <a:latin typeface="Calibri"/>
              </a:rPr>
              <a:t>ETAB submission,
ISRA control set</a:t>
            </a:r>
          </a:p>
        </p:txBody>
      </p:sp>
      <p:sp>
        <p:nvSpPr>
          <p:cNvPr id="18" name="Chevron 17"/>
          <p:cNvSpPr/>
          <p:nvPr/>
        </p:nvSpPr>
        <p:spPr>
          <a:xfrm>
            <a:off x="9485985" y="1828800"/>
            <a:ext cx="2172614" cy="1188720"/>
          </a:xfrm>
          <a:prstGeom prst="chevron">
            <a:avLst/>
          </a:prstGeom>
          <a:solidFill>
            <a:srgbClr val="E1D5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742017" y="1920240"/>
            <a:ext cx="1715414" cy="1005840"/>
          </a:xfrm>
          <a:prstGeom prst="rect">
            <a:avLst/>
          </a:prstGeom>
          <a:noFill/>
        </p:spPr>
        <p:txBody>
          <a:bodyPr wrap="square" anchor="ctr">
            <a:spAutoFit/>
          </a:bodyPr>
          <a:lstStyle/>
          <a:p>
            <a:pPr algn="l">
              <a:spcAft>
                <a:spcPts val="100"/>
              </a:spcAft>
            </a:pPr>
            <a:r>
              <a:rPr sz="850" b="1">
                <a:solidFill>
                  <a:srgbClr val="606070"/>
                </a:solidFill>
                <a:latin typeface="Calibri"/>
              </a:rPr>
              <a:t>W5</a:t>
            </a:r>
          </a:p>
          <a:p>
            <a:pPr algn="l">
              <a:spcAft>
                <a:spcPts val="100"/>
              </a:spcAft>
            </a:pPr>
            <a:r>
              <a:rPr sz="1400" b="1">
                <a:solidFill>
                  <a:srgbClr val="2B2B3C"/>
                </a:solidFill>
                <a:latin typeface="Calibri"/>
              </a:rPr>
              <a:t>Asks</a:t>
            </a:r>
          </a:p>
          <a:p>
            <a:pPr algn="l">
              <a:spcAft>
                <a:spcPts val="100"/>
              </a:spcAft>
            </a:pPr>
            <a:r>
              <a:rPr sz="1000" b="0">
                <a:solidFill>
                  <a:srgbClr val="2B2B3C"/>
                </a:solidFill>
                <a:latin typeface="Calibri"/>
              </a:rPr>
              <a:t>Corrections and
consortium requests</a:t>
            </a:r>
          </a:p>
        </p:txBody>
      </p:sp>
      <p:sp>
        <p:nvSpPr>
          <p:cNvPr id="20" name="TextBox 19"/>
          <p:cNvSpPr txBox="1"/>
          <p:nvPr/>
        </p:nvSpPr>
        <p:spPr>
          <a:xfrm>
            <a:off x="502920" y="3337560"/>
            <a:ext cx="11155680" cy="365760"/>
          </a:xfrm>
          <a:prstGeom prst="rect">
            <a:avLst/>
          </a:prstGeom>
          <a:noFill/>
        </p:spPr>
        <p:txBody>
          <a:bodyPr wrap="square" anchor="t">
            <a:spAutoFit/>
          </a:bodyPr>
          <a:lstStyle/>
          <a:p>
            <a:pPr algn="l">
              <a:spcAft>
                <a:spcPts val="400"/>
              </a:spcAft>
            </a:pPr>
            <a:r>
              <a:rPr sz="1400" b="1">
                <a:solidFill>
                  <a:srgbClr val="2B2B3C"/>
                </a:solidFill>
                <a:latin typeface="Calibri"/>
              </a:rPr>
              <a:t>Sequencing and the critical path</a:t>
            </a:r>
          </a:p>
        </p:txBody>
      </p:sp>
      <p:graphicFrame>
        <p:nvGraphicFramePr>
          <p:cNvPr id="21" name="Table 20"/>
          <p:cNvGraphicFramePr>
            <a:graphicFrameLocks noGrp="1"/>
          </p:cNvGraphicFramePr>
          <p:nvPr/>
        </p:nvGraphicFramePr>
        <p:xfrm>
          <a:off x="502920" y="3749039"/>
          <a:ext cx="11155680" cy="1865376"/>
        </p:xfrm>
        <a:graphic>
          <a:graphicData uri="http://schemas.openxmlformats.org/drawingml/2006/table">
            <a:tbl>
              <a:tblPr firstRow="1" bandRow="1">
                <a:tableStyleId>{5C22544A-7EE6-4342-B048-85BDC9FD1C3A}</a:tableStyleId>
              </a:tblPr>
              <a:tblGrid>
                <a:gridCol w="2651760"/>
                <a:gridCol w="3657600"/>
                <a:gridCol w="1280160"/>
                <a:gridCol w="3566160"/>
              </a:tblGrid>
              <a:tr h="310896">
                <a:tc>
                  <a:txBody>
                    <a:bodyPr/>
                    <a:lstStyle/>
                    <a:p>
                      <a:r>
                        <a:rPr sz="1000" b="1">
                          <a:solidFill>
                            <a:srgbClr val="FFFFFF"/>
                          </a:solidFill>
                          <a:latin typeface="Calibri"/>
                        </a:rPr>
                        <a:t>Workstream</a:t>
                      </a:r>
                    </a:p>
                  </a:txBody>
                  <a:tcPr marL="54864" marR="54864">
                    <a:solidFill>
                      <a:srgbClr val="1A1A2E"/>
                    </a:solidFill>
                  </a:tcPr>
                </a:tc>
                <a:tc>
                  <a:txBody>
                    <a:bodyPr/>
                    <a:lstStyle/>
                    <a:p>
                      <a:r>
                        <a:rPr sz="1000" b="1">
                          <a:solidFill>
                            <a:srgbClr val="FFFFFF"/>
                          </a:solidFill>
                          <a:latin typeface="Calibri"/>
                        </a:rPr>
                        <a:t>First tasks</a:t>
                      </a:r>
                    </a:p>
                  </a:txBody>
                  <a:tcPr marL="54864" marR="54864">
                    <a:solidFill>
                      <a:srgbClr val="1A1A2E"/>
                    </a:solidFill>
                  </a:tcPr>
                </a:tc>
                <a:tc>
                  <a:txBody>
                    <a:bodyPr/>
                    <a:lstStyle/>
                    <a:p>
                      <a:r>
                        <a:rPr sz="1000" b="1">
                          <a:solidFill>
                            <a:srgbClr val="FFFFFF"/>
                          </a:solidFill>
                          <a:latin typeface="Calibri"/>
                        </a:rPr>
                        <a:t>Depends on</a:t>
                      </a:r>
                    </a:p>
                  </a:txBody>
                  <a:tcPr marL="54864" marR="54864">
                    <a:solidFill>
                      <a:srgbClr val="1A1A2E"/>
                    </a:solidFill>
                  </a:tcPr>
                </a:tc>
                <a:tc>
                  <a:txBody>
                    <a:bodyPr/>
                    <a:lstStyle/>
                    <a:p>
                      <a:r>
                        <a:rPr sz="1000" b="1">
                          <a:solidFill>
                            <a:srgbClr val="FFFFFF"/>
                          </a:solidFill>
                          <a:latin typeface="Calibri"/>
                        </a:rPr>
                        <a:t>Note</a:t>
                      </a:r>
                    </a:p>
                  </a:txBody>
                  <a:tcPr marL="54864" marR="54864">
                    <a:solidFill>
                      <a:srgbClr val="1A1A2E"/>
                    </a:solidFill>
                  </a:tcPr>
                </a:tc>
              </a:tr>
              <a:tr h="310896">
                <a:tc>
                  <a:txBody>
                    <a:bodyPr/>
                    <a:lstStyle/>
                    <a:p>
                      <a:r>
                        <a:rPr sz="900">
                          <a:solidFill>
                            <a:srgbClr val="2B2B3C"/>
                          </a:solidFill>
                          <a:latin typeface="Calibri"/>
                        </a:rPr>
                        <a:t>W1 · Publish the pattern</a:t>
                      </a:r>
                    </a:p>
                  </a:txBody>
                  <a:tcPr marL="54864" marR="54864" marT="18288" marB="18288">
                    <a:solidFill>
                      <a:srgbClr val="FFFFFF"/>
                    </a:solidFill>
                  </a:tcPr>
                </a:tc>
                <a:tc>
                  <a:txBody>
                    <a:bodyPr/>
                    <a:lstStyle/>
                    <a:p>
                      <a:r>
                        <a:rPr sz="900">
                          <a:solidFill>
                            <a:srgbClr val="2B2B3C"/>
                          </a:solidFill>
                          <a:latin typeface="Calibri"/>
                        </a:rPr>
                        <a:t>T1 profile · T2 substrate annex · T6 reference MCP server</a:t>
                      </a:r>
                    </a:p>
                  </a:txBody>
                  <a:tcPr marL="54864" marR="54864" marT="18288" marB="18288">
                    <a:solidFill>
                      <a:srgbClr val="FFFFFF"/>
                    </a:solidFill>
                  </a:tcPr>
                </a:tc>
                <a:tc>
                  <a:txBody>
                    <a:bodyPr/>
                    <a:lstStyle/>
                    <a:p>
                      <a:r>
                        <a:rPr sz="900">
                          <a:solidFill>
                            <a:srgbClr val="2B2B3C"/>
                          </a:solidFill>
                          <a:latin typeface="Calibri"/>
                        </a:rPr>
                        <a:t>Nothing</a:t>
                      </a:r>
                    </a:p>
                  </a:txBody>
                  <a:tcPr marL="54864" marR="54864" marT="18288" marB="18288">
                    <a:solidFill>
                      <a:srgbClr val="FFFFFF"/>
                    </a:solidFill>
                  </a:tcPr>
                </a:tc>
                <a:tc>
                  <a:txBody>
                    <a:bodyPr/>
                    <a:lstStyle/>
                    <a:p>
                      <a:r>
                        <a:rPr sz="900">
                          <a:solidFill>
                            <a:srgbClr val="2B2B3C"/>
                          </a:solidFill>
                          <a:latin typeface="Calibri"/>
                        </a:rPr>
                        <a:t>Start immediately — unblocks every onboarding team</a:t>
                      </a:r>
                    </a:p>
                  </a:txBody>
                  <a:tcPr marL="54864" marR="54864" marT="18288" marB="18288">
                    <a:solidFill>
                      <a:srgbClr val="FFFFFF"/>
                    </a:solidFill>
                  </a:tcPr>
                </a:tc>
              </a:tr>
              <a:tr h="310896">
                <a:tc>
                  <a:txBody>
                    <a:bodyPr/>
                    <a:lstStyle/>
                    <a:p>
                      <a:r>
                        <a:rPr sz="900">
                          <a:solidFill>
                            <a:srgbClr val="2B2B3C"/>
                          </a:solidFill>
                          <a:latin typeface="Calibri"/>
                        </a:rPr>
                        <a:t>W2 · Bring the estate up</a:t>
                      </a:r>
                    </a:p>
                  </a:txBody>
                  <a:tcPr marL="54864" marR="54864" marT="18288" marB="18288">
                    <a:solidFill>
                      <a:srgbClr val="F4F5F7"/>
                    </a:solidFill>
                  </a:tcPr>
                </a:tc>
                <a:tc>
                  <a:txBody>
                    <a:bodyPr/>
                    <a:lstStyle/>
                    <a:p>
                      <a:r>
                        <a:rPr sz="900">
                          <a:solidFill>
                            <a:srgbClr val="2B2B3C"/>
                          </a:solidFill>
                          <a:latin typeface="Calibri"/>
                        </a:rPr>
                        <a:t>T8 assess four servers · T9 record identity modes · T10 evidence network control</a:t>
                      </a:r>
                    </a:p>
                  </a:txBody>
                  <a:tcPr marL="54864" marR="54864" marT="18288" marB="18288">
                    <a:solidFill>
                      <a:srgbClr val="F4F5F7"/>
                    </a:solidFill>
                  </a:tcPr>
                </a:tc>
                <a:tc>
                  <a:txBody>
                    <a:bodyPr/>
                    <a:lstStyle/>
                    <a:p>
                      <a:r>
                        <a:rPr sz="900">
                          <a:solidFill>
                            <a:srgbClr val="2B2B3C"/>
                          </a:solidFill>
                          <a:latin typeface="Calibri"/>
                        </a:rPr>
                        <a:t>W1</a:t>
                      </a:r>
                    </a:p>
                  </a:txBody>
                  <a:tcPr marL="54864" marR="54864" marT="18288" marB="18288">
                    <a:solidFill>
                      <a:srgbClr val="F4F5F7"/>
                    </a:solidFill>
                  </a:tcPr>
                </a:tc>
                <a:tc>
                  <a:txBody>
                    <a:bodyPr/>
                    <a:lstStyle/>
                    <a:p>
                      <a:r>
                        <a:rPr sz="900">
                          <a:solidFill>
                            <a:srgbClr val="2B2B3C"/>
                          </a:solidFill>
                          <a:latin typeface="Calibri"/>
                        </a:rPr>
                        <a:t>T13 measures kill-switch propagation and can start now</a:t>
                      </a:r>
                    </a:p>
                  </a:txBody>
                  <a:tcPr marL="54864" marR="54864" marT="18288" marB="18288">
                    <a:solidFill>
                      <a:srgbClr val="F4F5F7"/>
                    </a:solidFill>
                  </a:tcPr>
                </a:tc>
              </a:tr>
              <a:tr h="310896">
                <a:tc>
                  <a:txBody>
                    <a:bodyPr/>
                    <a:lstStyle/>
                    <a:p>
                      <a:r>
                        <a:rPr sz="900">
                          <a:solidFill>
                            <a:srgbClr val="2B2B3C"/>
                          </a:solidFill>
                          <a:latin typeface="Calibri"/>
                        </a:rPr>
                        <a:t>W3 · Close the supply-chain gaps</a:t>
                      </a:r>
                    </a:p>
                  </a:txBody>
                  <a:tcPr marL="54864" marR="54864" marT="18288" marB="18288">
                    <a:solidFill>
                      <a:srgbClr val="FFFFFF"/>
                    </a:solidFill>
                  </a:tcPr>
                </a:tc>
                <a:tc>
                  <a:txBody>
                    <a:bodyPr/>
                    <a:lstStyle/>
                    <a:p>
                      <a:r>
                        <a:rPr sz="900">
                          <a:solidFill>
                            <a:srgbClr val="2B2B3C"/>
                          </a:solidFill>
                          <a:latin typeface="Calibri"/>
                        </a:rPr>
                        <a:t>T15 gates on · T16 branches_to_scan · T17 real Checkmarx scans</a:t>
                      </a:r>
                    </a:p>
                  </a:txBody>
                  <a:tcPr marL="54864" marR="54864" marT="18288" marB="18288">
                    <a:solidFill>
                      <a:srgbClr val="FFFFFF"/>
                    </a:solidFill>
                  </a:tcPr>
                </a:tc>
                <a:tc>
                  <a:txBody>
                    <a:bodyPr/>
                    <a:lstStyle/>
                    <a:p>
                      <a:r>
                        <a:rPr sz="900">
                          <a:solidFill>
                            <a:srgbClr val="2B2B3C"/>
                          </a:solidFill>
                          <a:latin typeface="Calibri"/>
                        </a:rPr>
                        <a:t>Nothing</a:t>
                      </a:r>
                    </a:p>
                  </a:txBody>
                  <a:tcPr marL="54864" marR="54864" marT="18288" marB="18288">
                    <a:solidFill>
                      <a:srgbClr val="FFFFFF"/>
                    </a:solidFill>
                  </a:tcPr>
                </a:tc>
                <a:tc>
                  <a:txBody>
                    <a:bodyPr/>
                    <a:lstStyle/>
                    <a:p>
                      <a:r>
                        <a:rPr sz="900">
                          <a:solidFill>
                            <a:srgbClr val="2B2B3C"/>
                          </a:solidFill>
                          <a:latin typeface="Calibri"/>
                        </a:rPr>
                        <a:t>CRITICAL PATH — no external blocker, and W4 cannot claim coverage without it</a:t>
                      </a:r>
                    </a:p>
                  </a:txBody>
                  <a:tcPr marL="54864" marR="54864" marT="18288" marB="18288">
                    <a:solidFill>
                      <a:srgbClr val="FFFFFF"/>
                    </a:solidFill>
                  </a:tcPr>
                </a:tc>
              </a:tr>
              <a:tr h="310896">
                <a:tc>
                  <a:txBody>
                    <a:bodyPr/>
                    <a:lstStyle/>
                    <a:p>
                      <a:r>
                        <a:rPr sz="900">
                          <a:solidFill>
                            <a:srgbClr val="2B2B3C"/>
                          </a:solidFill>
                          <a:latin typeface="Calibri"/>
                        </a:rPr>
                        <a:t>W4 · Assurance</a:t>
                      </a:r>
                    </a:p>
                  </a:txBody>
                  <a:tcPr marL="54864" marR="54864" marT="18288" marB="18288">
                    <a:solidFill>
                      <a:srgbClr val="F4F5F7"/>
                    </a:solidFill>
                  </a:tcPr>
                </a:tc>
                <a:tc>
                  <a:txBody>
                    <a:bodyPr/>
                    <a:lstStyle/>
                    <a:p>
                      <a:r>
                        <a:rPr sz="900">
                          <a:solidFill>
                            <a:srgbClr val="2B2B3C"/>
                          </a:solidFill>
                          <a:latin typeface="Calibri"/>
                        </a:rPr>
                        <a:t>T21 ETAB submission · T22 ISRA control set · T23 residual-risk acceptance</a:t>
                      </a:r>
                    </a:p>
                  </a:txBody>
                  <a:tcPr marL="54864" marR="54864" marT="18288" marB="18288">
                    <a:solidFill>
                      <a:srgbClr val="F4F5F7"/>
                    </a:solidFill>
                  </a:tcPr>
                </a:tc>
                <a:tc>
                  <a:txBody>
                    <a:bodyPr/>
                    <a:lstStyle/>
                    <a:p>
                      <a:r>
                        <a:rPr sz="900">
                          <a:solidFill>
                            <a:srgbClr val="2B2B3C"/>
                          </a:solidFill>
                          <a:latin typeface="Calibri"/>
                        </a:rPr>
                        <a:t>W1, W3</a:t>
                      </a:r>
                    </a:p>
                  </a:txBody>
                  <a:tcPr marL="54864" marR="54864" marT="18288" marB="18288">
                    <a:solidFill>
                      <a:srgbClr val="F4F5F7"/>
                    </a:solidFill>
                  </a:tcPr>
                </a:tc>
                <a:tc>
                  <a:txBody>
                    <a:bodyPr/>
                    <a:lstStyle/>
                    <a:p>
                      <a:r>
                        <a:rPr sz="900">
                          <a:solidFill>
                            <a:srgbClr val="2B2B3C"/>
                          </a:solidFill>
                          <a:latin typeface="Calibri"/>
                        </a:rPr>
                        <a:t>This deck is T21</a:t>
                      </a:r>
                    </a:p>
                  </a:txBody>
                  <a:tcPr marL="54864" marR="54864" marT="18288" marB="18288">
                    <a:solidFill>
                      <a:srgbClr val="F4F5F7"/>
                    </a:solidFill>
                  </a:tcPr>
                </a:tc>
              </a:tr>
              <a:tr h="310896">
                <a:tc>
                  <a:txBody>
                    <a:bodyPr/>
                    <a:lstStyle/>
                    <a:p>
                      <a:r>
                        <a:rPr sz="900">
                          <a:solidFill>
                            <a:srgbClr val="2B2B3C"/>
                          </a:solidFill>
                          <a:latin typeface="Calibri"/>
                        </a:rPr>
                        <a:t>W5 · Corrections and asks</a:t>
                      </a:r>
                    </a:p>
                  </a:txBody>
                  <a:tcPr marL="54864" marR="54864" marT="18288" marB="18288">
                    <a:solidFill>
                      <a:srgbClr val="FFFFFF"/>
                    </a:solidFill>
                  </a:tcPr>
                </a:tc>
                <a:tc>
                  <a:txBody>
                    <a:bodyPr/>
                    <a:lstStyle/>
                    <a:p>
                      <a:r>
                        <a:rPr sz="900">
                          <a:solidFill>
                            <a:srgbClr val="2B2B3C"/>
                          </a:solidFill>
                          <a:latin typeface="Calibri"/>
                        </a:rPr>
                        <a:t>T25 capability-map correction · T27-T32 consortium asks</a:t>
                      </a:r>
                    </a:p>
                  </a:txBody>
                  <a:tcPr marL="54864" marR="54864" marT="18288" marB="18288">
                    <a:solidFill>
                      <a:srgbClr val="FFFFFF"/>
                    </a:solidFill>
                  </a:tcPr>
                </a:tc>
                <a:tc>
                  <a:txBody>
                    <a:bodyPr/>
                    <a:lstStyle/>
                    <a:p>
                      <a:r>
                        <a:rPr sz="900">
                          <a:solidFill>
                            <a:srgbClr val="2B2B3C"/>
                          </a:solidFill>
                          <a:latin typeface="Calibri"/>
                        </a:rPr>
                        <a:t>Nothing</a:t>
                      </a:r>
                    </a:p>
                  </a:txBody>
                  <a:tcPr marL="54864" marR="54864" marT="18288" marB="18288">
                    <a:solidFill>
                      <a:srgbClr val="FFFFFF"/>
                    </a:solidFill>
                  </a:tcPr>
                </a:tc>
                <a:tc>
                  <a:txBody>
                    <a:bodyPr/>
                    <a:lstStyle/>
                    <a:p>
                      <a:r>
                        <a:rPr sz="900">
                          <a:solidFill>
                            <a:srgbClr val="2B2B3C"/>
                          </a:solidFill>
                          <a:latin typeface="Calibri"/>
                        </a:rPr>
                        <a:t>Long-lead; raised in parallel, blocks nothing</a:t>
                      </a:r>
                    </a:p>
                  </a:txBody>
                  <a:tcPr marL="54864" marR="54864" marT="18288" marB="18288">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50800"/>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698480" cy="548640"/>
          </a:xfrm>
          <a:prstGeom prst="rect">
            <a:avLst/>
          </a:prstGeom>
          <a:noFill/>
        </p:spPr>
        <p:txBody>
          <a:bodyPr wrap="square" anchor="t">
            <a:spAutoFit/>
          </a:bodyPr>
          <a:lstStyle/>
          <a:p>
            <a:pPr algn="l">
              <a:spcAft>
                <a:spcPts val="400"/>
              </a:spcAft>
            </a:pPr>
            <a:r>
              <a:rPr sz="1500" b="1">
                <a:solidFill>
                  <a:srgbClr val="FFB300"/>
                </a:solidFill>
                <a:latin typeface="Calibri"/>
              </a:rPr>
              <a:t>WHAT WE ARE ASKING ETAB TO APPROVE</a:t>
            </a:r>
          </a:p>
        </p:txBody>
      </p:sp>
      <p:sp>
        <p:nvSpPr>
          <p:cNvPr id="5" name="Rectangle 4"/>
          <p:cNvSpPr/>
          <p:nvPr/>
        </p:nvSpPr>
        <p:spPr>
          <a:xfrm>
            <a:off x="731520" y="1600200"/>
            <a:ext cx="566928" cy="566928"/>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64208"/>
            <a:ext cx="566928" cy="457200"/>
          </a:xfrm>
          <a:prstGeom prst="rect">
            <a:avLst/>
          </a:prstGeom>
          <a:noFill/>
        </p:spPr>
        <p:txBody>
          <a:bodyPr wrap="square" anchor="t">
            <a:spAutoFit/>
          </a:bodyPr>
          <a:lstStyle/>
          <a:p>
            <a:pPr algn="ctr">
              <a:spcAft>
                <a:spcPts val="400"/>
              </a:spcAft>
            </a:pPr>
            <a:r>
              <a:rPr sz="1900" b="1">
                <a:solidFill>
                  <a:srgbClr val="1A1A2E"/>
                </a:solidFill>
                <a:latin typeface="Calibri"/>
              </a:rPr>
              <a:t>1</a:t>
            </a:r>
          </a:p>
        </p:txBody>
      </p:sp>
      <p:sp>
        <p:nvSpPr>
          <p:cNvPr id="7" name="TextBox 6"/>
          <p:cNvSpPr txBox="1"/>
          <p:nvPr/>
        </p:nvSpPr>
        <p:spPr>
          <a:xfrm>
            <a:off x="1508760" y="1581912"/>
            <a:ext cx="9966960" cy="777240"/>
          </a:xfrm>
          <a:prstGeom prst="rect">
            <a:avLst/>
          </a:prstGeom>
          <a:noFill/>
        </p:spPr>
        <p:txBody>
          <a:bodyPr wrap="square" anchor="t">
            <a:spAutoFit/>
          </a:bodyPr>
          <a:lstStyle/>
          <a:p>
            <a:pPr algn="l">
              <a:spcAft>
                <a:spcPts val="200"/>
              </a:spcAft>
            </a:pPr>
            <a:r>
              <a:rPr sz="1600" b="1">
                <a:solidFill>
                  <a:srgbClr val="FFFFFF"/>
                </a:solidFill>
                <a:latin typeface="Calibri"/>
              </a:rPr>
              <a:t>The pattern</a:t>
            </a:r>
          </a:p>
          <a:p>
            <a:pPr algn="l">
              <a:spcAft>
                <a:spcPts val="200"/>
              </a:spcAft>
            </a:pPr>
            <a:r>
              <a:rPr sz="1200" b="0">
                <a:solidFill>
                  <a:srgbClr val="C9D3E0"/>
                </a:solidFill>
                <a:latin typeface="Calibri"/>
              </a:rPr>
              <a:t>MCP servers are consumed only through a Luminate gateway, on the substrates in this brief, with vendor-hosted deferred.</a:t>
            </a:r>
          </a:p>
        </p:txBody>
      </p:sp>
      <p:sp>
        <p:nvSpPr>
          <p:cNvPr id="8" name="Rectangle 7"/>
          <p:cNvSpPr/>
          <p:nvPr/>
        </p:nvSpPr>
        <p:spPr>
          <a:xfrm>
            <a:off x="731520" y="2624328"/>
            <a:ext cx="566928" cy="566928"/>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688336"/>
            <a:ext cx="566928" cy="457200"/>
          </a:xfrm>
          <a:prstGeom prst="rect">
            <a:avLst/>
          </a:prstGeom>
          <a:noFill/>
        </p:spPr>
        <p:txBody>
          <a:bodyPr wrap="square" anchor="t">
            <a:spAutoFit/>
          </a:bodyPr>
          <a:lstStyle/>
          <a:p>
            <a:pPr algn="ctr">
              <a:spcAft>
                <a:spcPts val="400"/>
              </a:spcAft>
            </a:pPr>
            <a:r>
              <a:rPr sz="1900" b="1">
                <a:solidFill>
                  <a:srgbClr val="1A1A2E"/>
                </a:solidFill>
                <a:latin typeface="Calibri"/>
              </a:rPr>
              <a:t>2</a:t>
            </a:r>
          </a:p>
        </p:txBody>
      </p:sp>
      <p:sp>
        <p:nvSpPr>
          <p:cNvPr id="10" name="TextBox 9"/>
          <p:cNvSpPr txBox="1"/>
          <p:nvPr/>
        </p:nvSpPr>
        <p:spPr>
          <a:xfrm>
            <a:off x="1508760" y="2606040"/>
            <a:ext cx="9966960" cy="777240"/>
          </a:xfrm>
          <a:prstGeom prst="rect">
            <a:avLst/>
          </a:prstGeom>
          <a:noFill/>
        </p:spPr>
        <p:txBody>
          <a:bodyPr wrap="square" anchor="t">
            <a:spAutoFit/>
          </a:bodyPr>
          <a:lstStyle/>
          <a:p>
            <a:pPr algn="l">
              <a:spcAft>
                <a:spcPts val="200"/>
              </a:spcAft>
            </a:pPr>
            <a:r>
              <a:rPr sz="1600" b="1">
                <a:solidFill>
                  <a:srgbClr val="FFFFFF"/>
                </a:solidFill>
                <a:latin typeface="Calibri"/>
              </a:rPr>
              <a:t>The conformance profile</a:t>
            </a:r>
          </a:p>
          <a:p>
            <a:pPr algn="l">
              <a:spcAft>
                <a:spcPts val="200"/>
              </a:spcAft>
            </a:pPr>
            <a:r>
              <a:rPr sz="1200" b="0">
                <a:solidFill>
                  <a:srgbClr val="C9D3E0"/>
                </a:solidFill>
                <a:latin typeface="Calibri"/>
              </a:rPr>
              <a:t>MSR-1 to MSR-30 as the bar for any MCP server that will be served, each with a stated verification method.</a:t>
            </a:r>
          </a:p>
        </p:txBody>
      </p:sp>
      <p:sp>
        <p:nvSpPr>
          <p:cNvPr id="11" name="Rectangle 10"/>
          <p:cNvSpPr/>
          <p:nvPr/>
        </p:nvSpPr>
        <p:spPr>
          <a:xfrm>
            <a:off x="731520" y="3648456"/>
            <a:ext cx="566928" cy="566928"/>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712464"/>
            <a:ext cx="566928" cy="457200"/>
          </a:xfrm>
          <a:prstGeom prst="rect">
            <a:avLst/>
          </a:prstGeom>
          <a:noFill/>
        </p:spPr>
        <p:txBody>
          <a:bodyPr wrap="square" anchor="t">
            <a:spAutoFit/>
          </a:bodyPr>
          <a:lstStyle/>
          <a:p>
            <a:pPr algn="ctr">
              <a:spcAft>
                <a:spcPts val="400"/>
              </a:spcAft>
            </a:pPr>
            <a:r>
              <a:rPr sz="1900" b="1">
                <a:solidFill>
                  <a:srgbClr val="1A1A2E"/>
                </a:solidFill>
                <a:latin typeface="Calibri"/>
              </a:rPr>
              <a:t>3</a:t>
            </a:r>
          </a:p>
        </p:txBody>
      </p:sp>
      <p:sp>
        <p:nvSpPr>
          <p:cNvPr id="13" name="TextBox 12"/>
          <p:cNvSpPr txBox="1"/>
          <p:nvPr/>
        </p:nvSpPr>
        <p:spPr>
          <a:xfrm>
            <a:off x="1508760" y="3630168"/>
            <a:ext cx="9966960" cy="777240"/>
          </a:xfrm>
          <a:prstGeom prst="rect">
            <a:avLst/>
          </a:prstGeom>
          <a:noFill/>
        </p:spPr>
        <p:txBody>
          <a:bodyPr wrap="square" anchor="t">
            <a:spAutoFit/>
          </a:bodyPr>
          <a:lstStyle/>
          <a:p>
            <a:pPr algn="l">
              <a:spcAft>
                <a:spcPts val="200"/>
              </a:spcAft>
            </a:pPr>
            <a:r>
              <a:rPr sz="1600" b="1">
                <a:solidFill>
                  <a:srgbClr val="FFFFFF"/>
                </a:solidFill>
                <a:latin typeface="Calibri"/>
              </a:rPr>
              <a:t>The design decisions</a:t>
            </a:r>
          </a:p>
          <a:p>
            <a:pPr algn="l">
              <a:spcAft>
                <a:spcPts val="200"/>
              </a:spcAft>
            </a:pPr>
            <a:r>
              <a:rPr sz="1200" b="0">
                <a:solidFill>
                  <a:srgbClr val="C9D3E0"/>
                </a:solidFill>
                <a:latin typeface="Calibri"/>
              </a:rPr>
              <a:t>In particular DD-2 and DD-3 — conceding that authorization is server-granular, and making the endpoint boundary the compensating architecture.</a:t>
            </a:r>
          </a:p>
        </p:txBody>
      </p:sp>
      <p:sp>
        <p:nvSpPr>
          <p:cNvPr id="14" name="Rectangle 13"/>
          <p:cNvSpPr/>
          <p:nvPr/>
        </p:nvSpPr>
        <p:spPr>
          <a:xfrm>
            <a:off x="731520" y="4672584"/>
            <a:ext cx="566928" cy="566928"/>
          </a:xfrm>
          <a:prstGeom prst="rect">
            <a:avLst/>
          </a:prstGeom>
          <a:solidFill>
            <a:srgbClr val="FFB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736592"/>
            <a:ext cx="566928" cy="457200"/>
          </a:xfrm>
          <a:prstGeom prst="rect">
            <a:avLst/>
          </a:prstGeom>
          <a:noFill/>
        </p:spPr>
        <p:txBody>
          <a:bodyPr wrap="square" anchor="t">
            <a:spAutoFit/>
          </a:bodyPr>
          <a:lstStyle/>
          <a:p>
            <a:pPr algn="ctr">
              <a:spcAft>
                <a:spcPts val="400"/>
              </a:spcAft>
            </a:pPr>
            <a:r>
              <a:rPr sz="1900" b="1">
                <a:solidFill>
                  <a:srgbClr val="1A1A2E"/>
                </a:solidFill>
                <a:latin typeface="Calibri"/>
              </a:rPr>
              <a:t>4</a:t>
            </a:r>
          </a:p>
        </p:txBody>
      </p:sp>
      <p:sp>
        <p:nvSpPr>
          <p:cNvPr id="16" name="TextBox 15"/>
          <p:cNvSpPr txBox="1"/>
          <p:nvPr/>
        </p:nvSpPr>
        <p:spPr>
          <a:xfrm>
            <a:off x="1508760" y="4654296"/>
            <a:ext cx="9966960" cy="777240"/>
          </a:xfrm>
          <a:prstGeom prst="rect">
            <a:avLst/>
          </a:prstGeom>
          <a:noFill/>
        </p:spPr>
        <p:txBody>
          <a:bodyPr wrap="square" anchor="t">
            <a:spAutoFit/>
          </a:bodyPr>
          <a:lstStyle/>
          <a:p>
            <a:pPr algn="l">
              <a:spcAft>
                <a:spcPts val="200"/>
              </a:spcAft>
            </a:pPr>
            <a:r>
              <a:rPr sz="1600" b="1">
                <a:solidFill>
                  <a:srgbClr val="FFFFFF"/>
                </a:solidFill>
                <a:latin typeface="Calibri"/>
              </a:rPr>
              <a:t>The residual risks</a:t>
            </a:r>
          </a:p>
          <a:p>
            <a:pPr algn="l">
              <a:spcAft>
                <a:spcPts val="200"/>
              </a:spcAft>
            </a:pPr>
            <a:r>
              <a:rPr sz="1200" b="0">
                <a:solidFill>
                  <a:srgbClr val="C9D3E0"/>
                </a:solidFill>
                <a:latin typeface="Calibri"/>
              </a:rPr>
              <a:t>Eight named risks accepted, with the consortium asks as the path to closing R-1, R-2, R-4 and R-7.</a:t>
            </a:r>
          </a:p>
        </p:txBody>
      </p:sp>
      <p:sp>
        <p:nvSpPr>
          <p:cNvPr id="17" name="Rectangle 16"/>
          <p:cNvSpPr/>
          <p:nvPr/>
        </p:nvSpPr>
        <p:spPr>
          <a:xfrm>
            <a:off x="731520" y="5806440"/>
            <a:ext cx="10698480" cy="25400"/>
          </a:xfrm>
          <a:prstGeom prst="rect">
            <a:avLst/>
          </a:prstGeom>
          <a:solidFill>
            <a:srgbClr val="6060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989320"/>
            <a:ext cx="10698480" cy="548640"/>
          </a:xfrm>
          <a:prstGeom prst="rect">
            <a:avLst/>
          </a:prstGeom>
          <a:noFill/>
        </p:spPr>
        <p:txBody>
          <a:bodyPr wrap="square" anchor="t">
            <a:spAutoFit/>
          </a:bodyPr>
          <a:lstStyle/>
          <a:p>
            <a:pPr algn="l">
              <a:spcAft>
                <a:spcPts val="400"/>
              </a:spcAft>
            </a:pPr>
            <a:r>
              <a:rPr sz="1100" b="0">
                <a:solidFill>
                  <a:srgbClr val="C9D3E0"/>
                </a:solidFill>
                <a:latin typeface="Calibri"/>
              </a:rPr>
              <a:t>Full spec, D0-D3: acp-product-specs / specs/mcp-server-patterns · Confluence T1KACP “MCP Server Patterns” · Jira EACPP-1176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