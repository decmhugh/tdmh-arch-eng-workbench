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51"/>
    <p:restoredTop sz="94660"/>
  </p:normalViewPr>
  <p:slideViewPr>
    <p:cSldViewPr snapToGrid="0" snapToObjects="1">
      <p:cViewPr varScale="1">
        <p:scale>
          <a:sx n="137" d="100"/>
          <a:sy n="137" d="100"/>
        </p:scale>
        <p:origin x="7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00000"/>
            <a:ext cx="12191695" cy="2300000"/>
          </a:xfrm>
          <a:prstGeom prst="rect">
            <a:avLst/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400000"/>
            <a:ext cx="12191695" cy="46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654000"/>
            <a:ext cx="12191695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0000" y="1500000"/>
            <a:ext cx="115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500" b="1">
                <a:solidFill>
                  <a:srgbClr val="FFB300"/>
                </a:solidFill>
                <a:latin typeface="Calibri"/>
              </a:defRPr>
            </a:pPr>
            <a:r>
              <a:t>INFORMATION SECURITY RISK IMPACT ASSESSMENT (ISRA)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2750000"/>
            <a:ext cx="1190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4200" b="1">
                <a:solidFill>
                  <a:srgbClr val="FFFFFF"/>
                </a:solidFill>
                <a:latin typeface="Calibri"/>
              </a:defRPr>
            </a:pPr>
            <a:r>
              <a:t>Hugging Face Model Mirror in Artifactory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700000"/>
            <a:ext cx="115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800" b="0">
                <a:solidFill>
                  <a:srgbClr val="C4C8D8"/>
                </a:solidFill>
                <a:latin typeface="Calibri"/>
              </a:defRPr>
            </a:pPr>
            <a:r>
              <a:t>Self-hosting approved open-weight models in EKS, served through the</a:t>
            </a:r>
            <a:br/>
            <a:r>
              <a:t>Agentic Control Plane model registry and AI Gateway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50000" y="5050000"/>
            <a:ext cx="2250000" cy="43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000" b="1">
                <a:solidFill>
                  <a:srgbClr val="36A8E0"/>
                </a:solidFill>
                <a:latin typeface="Calibri"/>
              </a:defRPr>
            </a:pPr>
            <a:r>
              <a:t>Enterprise Agentic Control Plane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20000" y="5050000"/>
            <a:ext cx="1700000" cy="430000"/>
          </a:xfrm>
          <a:prstGeom prst="roundRect">
            <a:avLst>
              <a:gd name="adj" fmla="val 6000"/>
            </a:avLst>
          </a:prstGeom>
          <a:solidFill>
            <a:srgbClr val="1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000" b="1">
                <a:solidFill>
                  <a:srgbClr val="5CD69A"/>
                </a:solidFill>
                <a:latin typeface="Calibri"/>
              </a:defRPr>
            </a:pPr>
            <a:r>
              <a:t>DevOps  ·  InfoSec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40000" y="5050000"/>
            <a:ext cx="2050000" cy="430000"/>
          </a:xfrm>
          <a:prstGeom prst="roundRect">
            <a:avLst>
              <a:gd name="adj" fmla="val 6000"/>
            </a:avLst>
          </a:prstGeom>
          <a:solidFill>
            <a:srgbClr val="352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000" b="1">
                <a:solidFill>
                  <a:srgbClr val="FFB300"/>
                </a:solidFill>
                <a:latin typeface="Calibri"/>
              </a:defRPr>
            </a:pPr>
            <a:r>
              <a:t>Draft for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0000" y="6300000"/>
            <a:ext cx="119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200" b="0">
                <a:solidFill>
                  <a:srgbClr val="8A90A8"/>
                </a:solidFill>
                <a:latin typeface="Calibri"/>
              </a:defRPr>
            </a:pPr>
            <a:r>
              <a:t>Prepared for InfoSec Risk Assessment  ·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000"/>
            <a:ext cx="120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Objective &amp; Business Context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1500000"/>
            <a:ext cx="7100000" cy="21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600" b="1">
                <a:solidFill>
                  <a:srgbClr val="36A8E0"/>
                </a:solidFill>
                <a:latin typeface="Calibri"/>
              </a:defRPr>
            </a:pPr>
            <a:r>
              <a:t>What we want to do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C4C8D8"/>
                </a:solidFill>
                <a:latin typeface="Calibri"/>
              </a:defRPr>
            </a:pPr>
            <a:r>
              <a:t>Stand up a curated, governed mirror of Hugging Face inside Artifactory so the Agentic Control Plane can pull vetted open-weight models and self-host them in EKS.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60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l">
              <a:lnSpc>
                <a:spcPct val="110000"/>
              </a:lnSpc>
              <a:spcAft>
                <a:spcPts val="300"/>
              </a:spcAft>
              <a:defRPr sz="1300" b="0">
                <a:solidFill>
                  <a:srgbClr val="C4C8D8"/>
                </a:solidFill>
                <a:latin typeface="Calibri"/>
              </a:defRPr>
            </a:pPr>
            <a:r>
              <a:t>Only models that pass GenAI Risk Triage are published to the ACP model registry and exposed to consumers via the AI Gateway.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0000" y="3650000"/>
            <a:ext cx="71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600" b="1">
                <a:solidFill>
                  <a:srgbClr val="36A8E0"/>
                </a:solidFill>
                <a:latin typeface="Calibri"/>
              </a:defRPr>
            </a:pPr>
            <a:r>
              <a:t>Why it matters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560000" y="4110000"/>
            <a:ext cx="120000" cy="12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000" y="4040000"/>
            <a:ext cx="68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Data residency &amp; sovereignty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100" b="0">
                <a:solidFill>
                  <a:srgbClr val="8A90A8"/>
                </a:solidFill>
                <a:latin typeface="Calibri"/>
              </a:defRPr>
            </a:pPr>
            <a:r>
              <a:t>Models run inside our EKS / VPC — prompts and inference data never leave Sun Life's boundary.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0000" y="4750000"/>
            <a:ext cx="120000" cy="12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0000" y="4680000"/>
            <a:ext cx="68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Supply-chain control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100" b="0">
                <a:solidFill>
                  <a:srgbClr val="8A90A8"/>
                </a:solidFill>
                <a:latin typeface="Calibri"/>
              </a:defRPr>
            </a:pPr>
            <a:r>
              <a:t>A single approved source of truth replaces ad-hoc downloads from the public internet.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0000" y="5390000"/>
            <a:ext cx="120000" cy="12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0000" y="5320000"/>
            <a:ext cx="68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Cost &amp; latency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100" b="0">
                <a:solidFill>
                  <a:srgbClr val="8A90A8"/>
                </a:solidFill>
                <a:latin typeface="Calibri"/>
              </a:defRPr>
            </a:pPr>
            <a:r>
              <a:t>Small local models avoid per-token vendor fees and reduce round-trip latency.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0000" y="6030000"/>
            <a:ext cx="120000" cy="12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0000" y="5960000"/>
            <a:ext cx="6800000" cy="5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Governance by design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100" b="0">
                <a:solidFill>
                  <a:srgbClr val="8A90A8"/>
                </a:solidFill>
                <a:latin typeface="Calibri"/>
              </a:defRPr>
            </a:pPr>
            <a:r>
              <a:t>Per-model risk triage, registry approval, and gateway policy enforcement.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50000" y="1500000"/>
            <a:ext cx="4720000" cy="20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50000" y="1560000"/>
            <a:ext cx="55000" cy="1930000"/>
          </a:xfrm>
          <a:prstGeom prst="rect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0000" y="1590000"/>
            <a:ext cx="4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Target Outcome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0000" y="1970000"/>
            <a:ext cx="4420000" cy="14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Approved open-weight models hosted in EKS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Discoverable in the ACP model registry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Brokered through the AI Gateway with policy,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guardrails, and full observability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Single vetted pull-through source via Artifactory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50000" y="3720000"/>
            <a:ext cx="4720000" cy="27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50000" y="3780000"/>
            <a:ext cx="55000" cy="263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0000" y="3810000"/>
            <a:ext cx="4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In Scope / Out of Scope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0000" y="4190000"/>
            <a:ext cx="4420000" cy="21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5CD69A"/>
                </a:solidFill>
                <a:latin typeface="Calibri"/>
              </a:defRPr>
            </a:pPr>
            <a:r>
              <a:t>IN  ·  HF model mirror in Artifactory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5CD69A"/>
                </a:solidFill>
                <a:latin typeface="Calibri"/>
              </a:defRPr>
            </a:pPr>
            <a:r>
              <a:t>IN  ·  Netskope unblock for Artifactory only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5CD69A"/>
                </a:solidFill>
                <a:latin typeface="Calibri"/>
              </a:defRPr>
            </a:pPr>
            <a:r>
              <a:t>IN  ·  Self-hosting in EKS (acp-data ns)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5CD69A"/>
                </a:solidFill>
                <a:latin typeface="Calibri"/>
              </a:defRPr>
            </a:pPr>
            <a:r>
              <a:t>IN  ·  Per-model GenAI Risk Triage gate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F16B6B"/>
                </a:solidFill>
                <a:latin typeface="Calibri"/>
              </a:defRPr>
            </a:pPr>
            <a:r>
              <a:t>OUT  ·  Broad internet access to huggingface.co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F16B6B"/>
                </a:solidFill>
                <a:latin typeface="Calibri"/>
              </a:defRPr>
            </a:pPr>
            <a:r>
              <a:t>OUT  ·  Training / fine-tuning on customer data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F16B6B"/>
                </a:solidFill>
                <a:latin typeface="Calibri"/>
              </a:defRPr>
            </a:pPr>
            <a:r>
              <a:t>OUT  ·  Un-triaged or arbitrary model pulls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8546" y="588948"/>
            <a:ext cx="120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Target Architecture &amp; Data Flow</a:t>
            </a:r>
            <a:r>
              <a:rPr lang="en-CA" dirty="0"/>
              <a:t> (in scope for ISRA)</a:t>
            </a:r>
            <a:endParaRPr dirty="0"/>
          </a:p>
        </p:txBody>
      </p:sp>
      <p:sp>
        <p:nvSpPr>
          <p:cNvPr id="5" name="Rectangle 4"/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0000" y="1520000"/>
            <a:ext cx="230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0000" y="161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t>PUBLIC 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420000"/>
            <a:ext cx="1980000" cy="950000"/>
          </a:xfrm>
          <a:prstGeom prst="roundRect">
            <a:avLst>
              <a:gd name="adj" fmla="val 6000"/>
            </a:avLst>
          </a:prstGeom>
          <a:solidFill>
            <a:srgbClr val="2A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60000" y="3530000"/>
            <a:ext cx="19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B38AE8"/>
                </a:solidFill>
                <a:latin typeface="Calibri"/>
              </a:defRPr>
            </a:pPr>
            <a:r>
              <a:rPr dirty="0" err="1"/>
              <a:t>huggingface.co</a:t>
            </a:r>
            <a:endParaRPr dirty="0"/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rPr dirty="0"/>
              <a:t>Open-weight model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rPr dirty="0"/>
              <a:t>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4570000"/>
            <a:ext cx="1980000" cy="620000"/>
          </a:xfrm>
          <a:prstGeom prst="roundRect">
            <a:avLst>
              <a:gd name="adj" fmla="val 6000"/>
            </a:avLst>
          </a:prstGeom>
          <a:solidFill>
            <a:srgbClr val="35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000" b="1">
                <a:solidFill>
                  <a:srgbClr val="F16B6B"/>
                </a:solidFill>
                <a:latin typeface="Calibri"/>
              </a:defRPr>
            </a:pPr>
            <a:r>
              <a:t>Netskope</a:t>
            </a:r>
            <a:br/>
            <a:r>
              <a:t>(blocked today)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0000" y="1520000"/>
            <a:ext cx="305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20000" y="1610000"/>
            <a:ext cx="3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t>SUN LIFE NETWORK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80000" y="2080000"/>
            <a:ext cx="2730000" cy="150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540000" y="2160000"/>
            <a:ext cx="2620000" cy="14234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36A8E0"/>
                </a:solidFill>
                <a:latin typeface="Calibri"/>
              </a:defRPr>
            </a:pPr>
            <a:r>
              <a:rPr dirty="0" err="1"/>
              <a:t>JFrog</a:t>
            </a:r>
            <a:r>
              <a:rPr dirty="0"/>
              <a:t> Artifactory</a:t>
            </a:r>
            <a:r>
              <a:rPr lang="en-CA" dirty="0"/>
              <a:t> (Dev)</a:t>
            </a:r>
            <a:endParaRPr dirty="0"/>
          </a:p>
          <a:p>
            <a:pPr algn="ctr">
              <a:spcAft>
                <a:spcPts val="300"/>
              </a:spcAft>
              <a:defRPr sz="1000" b="0">
                <a:solidFill>
                  <a:srgbClr val="8A90A8"/>
                </a:solidFill>
                <a:latin typeface="Calibri"/>
              </a:defRPr>
            </a:pPr>
            <a:r>
              <a:rPr dirty="0"/>
              <a:t>v7.104.15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rPr dirty="0"/>
              <a:t>HF / ML remote repo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rPr dirty="0"/>
              <a:t>pull-through cache + vetting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5CD69A"/>
                </a:solidFill>
                <a:latin typeface="Calibri"/>
              </a:defRPr>
            </a:pPr>
            <a:r>
              <a:rPr dirty="0"/>
              <a:t>Approved models only</a:t>
            </a:r>
            <a:br>
              <a:rPr lang="en-CA" dirty="0"/>
            </a:br>
            <a:br>
              <a:rPr lang="en-CA" dirty="0"/>
            </a:br>
            <a:r>
              <a:rPr lang="en-CA" dirty="0"/>
              <a:t>Restrict to Gemma 4 E2B</a:t>
            </a:r>
            <a:endParaRPr dirty="0"/>
          </a:p>
        </p:txBody>
      </p:sp>
      <p:sp>
        <p:nvSpPr>
          <p:cNvPr id="31" name="Right Arrow 30"/>
          <p:cNvSpPr/>
          <p:nvPr/>
        </p:nvSpPr>
        <p:spPr>
          <a:xfrm>
            <a:off x="2880000" y="2700000"/>
            <a:ext cx="420000" cy="300000"/>
          </a:xfrm>
          <a:prstGeom prst="rightArrow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6BA88A-D629-DC5A-A890-51707E1E4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B537EFA-9B1F-CF32-3D8A-6006FDF07A7B}"/>
              </a:ext>
            </a:extLst>
          </p:cNvPr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83E4E1F-455E-D7FC-849F-CF7C3A8A0AE9}"/>
              </a:ext>
            </a:extLst>
          </p:cNvPr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B0A926-B1DA-4230-D7AF-D14DA4004086}"/>
              </a:ext>
            </a:extLst>
          </p:cNvPr>
          <p:cNvSpPr txBox="1"/>
          <p:nvPr/>
        </p:nvSpPr>
        <p:spPr>
          <a:xfrm>
            <a:off x="560000" y="640000"/>
            <a:ext cx="12000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Target Architecture &amp; Data Flow</a:t>
            </a:r>
            <a:r>
              <a:rPr lang="en-CA" dirty="0"/>
              <a:t> (future)</a:t>
            </a:r>
            <a:endParaRPr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1E11C0-A80A-0B35-637B-D09B73337F48}"/>
              </a:ext>
            </a:extLst>
          </p:cNvPr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4D679E6-3395-DD30-AB03-E0E0DA8365DD}"/>
              </a:ext>
            </a:extLst>
          </p:cNvPr>
          <p:cNvSpPr/>
          <p:nvPr/>
        </p:nvSpPr>
        <p:spPr>
          <a:xfrm>
            <a:off x="560000" y="1520000"/>
            <a:ext cx="230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F43B1D-3CD1-10CB-2EB2-BAFD001FFA18}"/>
              </a:ext>
            </a:extLst>
          </p:cNvPr>
          <p:cNvSpPr txBox="1"/>
          <p:nvPr/>
        </p:nvSpPr>
        <p:spPr>
          <a:xfrm>
            <a:off x="560000" y="161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t>PUBLIC INTERNET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D3A79D7-AFB9-B108-8FF5-274ED9EEA1F8}"/>
              </a:ext>
            </a:extLst>
          </p:cNvPr>
          <p:cNvSpPr/>
          <p:nvPr/>
        </p:nvSpPr>
        <p:spPr>
          <a:xfrm>
            <a:off x="720000" y="3420000"/>
            <a:ext cx="1980000" cy="950000"/>
          </a:xfrm>
          <a:prstGeom prst="roundRect">
            <a:avLst>
              <a:gd name="adj" fmla="val 6000"/>
            </a:avLst>
          </a:prstGeom>
          <a:solidFill>
            <a:srgbClr val="2A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4B843C-A4DD-3D38-B80E-0715D4C1E6F6}"/>
              </a:ext>
            </a:extLst>
          </p:cNvPr>
          <p:cNvSpPr txBox="1"/>
          <p:nvPr/>
        </p:nvSpPr>
        <p:spPr>
          <a:xfrm>
            <a:off x="760000" y="3530000"/>
            <a:ext cx="1900000" cy="7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B38AE8"/>
                </a:solidFill>
                <a:latin typeface="Calibri"/>
              </a:defRPr>
            </a:pPr>
            <a:r>
              <a:t>huggingface.co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Open-weight model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repository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9E0D0DD-46F5-D189-9B24-F18EC0EC0A1E}"/>
              </a:ext>
            </a:extLst>
          </p:cNvPr>
          <p:cNvSpPr/>
          <p:nvPr/>
        </p:nvSpPr>
        <p:spPr>
          <a:xfrm>
            <a:off x="720000" y="4570000"/>
            <a:ext cx="1980000" cy="620000"/>
          </a:xfrm>
          <a:prstGeom prst="roundRect">
            <a:avLst>
              <a:gd name="adj" fmla="val 6000"/>
            </a:avLst>
          </a:prstGeom>
          <a:solidFill>
            <a:srgbClr val="35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000" b="1">
                <a:solidFill>
                  <a:srgbClr val="F16B6B"/>
                </a:solidFill>
                <a:latin typeface="Calibri"/>
              </a:defRPr>
            </a:pPr>
            <a:r>
              <a:t>Netskope</a:t>
            </a:r>
            <a:br/>
            <a:r>
              <a:t>(blocked today)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68655D55-6144-8DCF-4B2F-70FBE21D4281}"/>
              </a:ext>
            </a:extLst>
          </p:cNvPr>
          <p:cNvSpPr/>
          <p:nvPr/>
        </p:nvSpPr>
        <p:spPr>
          <a:xfrm>
            <a:off x="3320000" y="1520000"/>
            <a:ext cx="305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78280AF-44E2-559C-95BB-335FFBF802D3}"/>
              </a:ext>
            </a:extLst>
          </p:cNvPr>
          <p:cNvSpPr txBox="1"/>
          <p:nvPr/>
        </p:nvSpPr>
        <p:spPr>
          <a:xfrm>
            <a:off x="3320000" y="1610000"/>
            <a:ext cx="305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t>SUN LIFE NETWORK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E15B47B-001D-8113-6F95-AEAD16803A08}"/>
              </a:ext>
            </a:extLst>
          </p:cNvPr>
          <p:cNvSpPr/>
          <p:nvPr/>
        </p:nvSpPr>
        <p:spPr>
          <a:xfrm>
            <a:off x="3480000" y="2080000"/>
            <a:ext cx="2730000" cy="150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978B82-0AD8-D00D-8DBA-E4E29EB9767D}"/>
              </a:ext>
            </a:extLst>
          </p:cNvPr>
          <p:cNvSpPr txBox="1"/>
          <p:nvPr/>
        </p:nvSpPr>
        <p:spPr>
          <a:xfrm>
            <a:off x="3540000" y="2160000"/>
            <a:ext cx="2620000" cy="1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36A8E0"/>
                </a:solidFill>
                <a:latin typeface="Calibri"/>
              </a:defRPr>
            </a:pPr>
            <a:r>
              <a:t>JFrog Artifactory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8A90A8"/>
                </a:solidFill>
                <a:latin typeface="Calibri"/>
              </a:defRPr>
            </a:pPr>
            <a:r>
              <a:t>v7.104.15</a:t>
            </a:r>
          </a:p>
          <a:p>
            <a:pPr algn="ctr"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HF / ML remote repo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pull-through cache + vetting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5CD69A"/>
                </a:solidFill>
                <a:latin typeface="Calibri"/>
              </a:defRPr>
            </a:pPr>
            <a:r>
              <a:t>Approved models only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A667639-D109-358D-1279-FD02D330B80A}"/>
              </a:ext>
            </a:extLst>
          </p:cNvPr>
          <p:cNvSpPr/>
          <p:nvPr/>
        </p:nvSpPr>
        <p:spPr>
          <a:xfrm>
            <a:off x="3480000" y="3800000"/>
            <a:ext cx="2730000" cy="1150000"/>
          </a:xfrm>
          <a:prstGeom prst="roundRect">
            <a:avLst>
              <a:gd name="adj" fmla="val 6000"/>
            </a:avLst>
          </a:prstGeom>
          <a:solidFill>
            <a:srgbClr val="352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4C250D-B15C-9A36-130F-BD12C1B668CA}"/>
              </a:ext>
            </a:extLst>
          </p:cNvPr>
          <p:cNvSpPr txBox="1"/>
          <p:nvPr/>
        </p:nvSpPr>
        <p:spPr>
          <a:xfrm>
            <a:off x="3530000" y="3730473"/>
            <a:ext cx="2620000" cy="10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B300"/>
                </a:solidFill>
                <a:latin typeface="Calibri"/>
              </a:defRPr>
            </a:pPr>
            <a:r>
              <a:rPr dirty="0"/>
              <a:t>GenAI Risk Triage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rPr dirty="0"/>
              <a:t>Per-model review &amp;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rPr dirty="0"/>
              <a:t>approval gate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CFD29E3-571F-D3DE-A491-DBFFC9CE1768}"/>
              </a:ext>
            </a:extLst>
          </p:cNvPr>
          <p:cNvSpPr/>
          <p:nvPr/>
        </p:nvSpPr>
        <p:spPr>
          <a:xfrm>
            <a:off x="3480000" y="5140000"/>
            <a:ext cx="2730000" cy="950000"/>
          </a:xfrm>
          <a:prstGeom prst="roundRect">
            <a:avLst>
              <a:gd name="adj" fmla="val 6000"/>
            </a:avLst>
          </a:prstGeom>
          <a:solidFill>
            <a:srgbClr val="1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F4480D4-CBE7-D156-5B57-8FAEBCA211E4}"/>
              </a:ext>
            </a:extLst>
          </p:cNvPr>
          <p:cNvSpPr txBox="1"/>
          <p:nvPr/>
        </p:nvSpPr>
        <p:spPr>
          <a:xfrm>
            <a:off x="3530000" y="5197302"/>
            <a:ext cx="2620000" cy="7925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5CD69A"/>
                </a:solidFill>
                <a:latin typeface="Calibri"/>
              </a:defRPr>
            </a:pPr>
            <a:r>
              <a:rPr dirty="0"/>
              <a:t>ACP Model Registry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rPr dirty="0"/>
              <a:t>approved + model cards</a:t>
            </a:r>
            <a:br>
              <a:rPr lang="en-CA" dirty="0"/>
            </a:br>
            <a:r>
              <a:rPr lang="en-CA" dirty="0"/>
              <a:t>Approval Artifacts</a:t>
            </a:r>
            <a:br>
              <a:rPr lang="en-CA" dirty="0"/>
            </a:br>
            <a:r>
              <a:rPr lang="en-CA" dirty="0"/>
              <a:t>-&gt; Archer ID (interim)</a:t>
            </a:r>
            <a:endParaRPr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7EAE736-4AE9-62F7-A668-906FAA86FD9B}"/>
              </a:ext>
            </a:extLst>
          </p:cNvPr>
          <p:cNvSpPr/>
          <p:nvPr/>
        </p:nvSpPr>
        <p:spPr>
          <a:xfrm>
            <a:off x="6830000" y="1520000"/>
            <a:ext cx="305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C26484-A6B3-F3B6-2D8F-3425786EFBF0}"/>
              </a:ext>
            </a:extLst>
          </p:cNvPr>
          <p:cNvSpPr txBox="1"/>
          <p:nvPr/>
        </p:nvSpPr>
        <p:spPr>
          <a:xfrm>
            <a:off x="6830000" y="1610000"/>
            <a:ext cx="3050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rPr lang="en-CA" dirty="0"/>
              <a:t>Kubernetes</a:t>
            </a:r>
            <a:r>
              <a:rPr dirty="0"/>
              <a:t>  ·  slf-eks-t1k-ca-dev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67C31E01-557B-9B63-B25A-2569A847C018}"/>
              </a:ext>
            </a:extLst>
          </p:cNvPr>
          <p:cNvSpPr/>
          <p:nvPr/>
        </p:nvSpPr>
        <p:spPr>
          <a:xfrm>
            <a:off x="6990000" y="2080000"/>
            <a:ext cx="2730000" cy="108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FBAA14-5DC8-8D32-4274-51285C46E496}"/>
              </a:ext>
            </a:extLst>
          </p:cNvPr>
          <p:cNvSpPr txBox="1"/>
          <p:nvPr/>
        </p:nvSpPr>
        <p:spPr>
          <a:xfrm>
            <a:off x="7050000" y="2160000"/>
            <a:ext cx="2620000" cy="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36A8E0"/>
                </a:solidFill>
                <a:latin typeface="Calibri"/>
              </a:defRPr>
            </a:pPr>
            <a:r>
              <a:rPr dirty="0"/>
              <a:t>AI Gateway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8A90A8"/>
                </a:solidFill>
                <a:latin typeface="Calibri"/>
              </a:defRPr>
            </a:pPr>
            <a:r>
              <a:rPr dirty="0" err="1"/>
              <a:t>acp-agentgateway</a:t>
            </a:r>
            <a:endParaRPr dirty="0"/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rPr dirty="0"/>
              <a:t>policy · guardrails · routing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C6622737-1878-FDB7-C5C1-7A85B8C743B5}"/>
              </a:ext>
            </a:extLst>
          </p:cNvPr>
          <p:cNvSpPr/>
          <p:nvPr/>
        </p:nvSpPr>
        <p:spPr>
          <a:xfrm>
            <a:off x="6990000" y="3340000"/>
            <a:ext cx="2730000" cy="1380000"/>
          </a:xfrm>
          <a:prstGeom prst="roundRect">
            <a:avLst>
              <a:gd name="adj" fmla="val 6000"/>
            </a:avLst>
          </a:prstGeom>
          <a:solidFill>
            <a:srgbClr val="2A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D3DDD79-0872-1D22-1A97-02A0F82C750F}"/>
              </a:ext>
            </a:extLst>
          </p:cNvPr>
          <p:cNvSpPr txBox="1"/>
          <p:nvPr/>
        </p:nvSpPr>
        <p:spPr>
          <a:xfrm>
            <a:off x="7050000" y="3420000"/>
            <a:ext cx="262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400" b="1">
                <a:solidFill>
                  <a:srgbClr val="B38AE8"/>
                </a:solidFill>
                <a:latin typeface="Calibri"/>
              </a:defRPr>
            </a:pPr>
            <a:r>
              <a:t>Model Serving Pods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vLLM / TGI / Ollama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8A90A8"/>
                </a:solidFill>
                <a:latin typeface="Calibri"/>
              </a:defRPr>
            </a:pPr>
            <a:r>
              <a:t>acp-data namespace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pulls image + weights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from Artifactory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516A054-755C-B0E6-6227-9350476F7B4C}"/>
              </a:ext>
            </a:extLst>
          </p:cNvPr>
          <p:cNvSpPr/>
          <p:nvPr/>
        </p:nvSpPr>
        <p:spPr>
          <a:xfrm>
            <a:off x="6990000" y="4900000"/>
            <a:ext cx="2730000" cy="1190000"/>
          </a:xfrm>
          <a:prstGeom prst="roundRect">
            <a:avLst>
              <a:gd name="adj" fmla="val 6000"/>
            </a:avLst>
          </a:prstGeom>
          <a:solidFill>
            <a:srgbClr val="1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5CC7C6-B41A-31EA-EEA6-DCC9696AD6D9}"/>
              </a:ext>
            </a:extLst>
          </p:cNvPr>
          <p:cNvSpPr txBox="1"/>
          <p:nvPr/>
        </p:nvSpPr>
        <p:spPr>
          <a:xfrm>
            <a:off x="7050000" y="4980000"/>
            <a:ext cx="2620000" cy="1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5CD69A"/>
                </a:solidFill>
                <a:latin typeface="Calibri"/>
              </a:defRPr>
            </a:pPr>
            <a:r>
              <a:t>Observability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Langfuse · Prometheus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audit · traces · metrics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77EEEF1-7D16-DC65-03F5-739F619BE35C}"/>
              </a:ext>
            </a:extLst>
          </p:cNvPr>
          <p:cNvSpPr/>
          <p:nvPr/>
        </p:nvSpPr>
        <p:spPr>
          <a:xfrm>
            <a:off x="10340000" y="1520000"/>
            <a:ext cx="2300000" cy="47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 w="9525">
            <a:solidFill>
              <a:srgbClr val="8A90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932499-0CC1-9598-E034-6A736397C374}"/>
              </a:ext>
            </a:extLst>
          </p:cNvPr>
          <p:cNvSpPr txBox="1"/>
          <p:nvPr/>
        </p:nvSpPr>
        <p:spPr>
          <a:xfrm>
            <a:off x="10340000" y="1610000"/>
            <a:ext cx="23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8A90A8"/>
                </a:solidFill>
                <a:latin typeface="Calibri"/>
              </a:defRPr>
            </a:pPr>
            <a:r>
              <a:t>CONSUMERS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78B5D69-8D7D-65C5-F5F9-492313824CC5}"/>
              </a:ext>
            </a:extLst>
          </p:cNvPr>
          <p:cNvSpPr/>
          <p:nvPr/>
        </p:nvSpPr>
        <p:spPr>
          <a:xfrm>
            <a:off x="10480000" y="3120000"/>
            <a:ext cx="2020000" cy="155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3E4B80-E7D3-B104-0115-0FF18321F314}"/>
              </a:ext>
            </a:extLst>
          </p:cNvPr>
          <p:cNvSpPr txBox="1"/>
          <p:nvPr/>
        </p:nvSpPr>
        <p:spPr>
          <a:xfrm>
            <a:off x="10530000" y="3220000"/>
            <a:ext cx="1920000" cy="13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36A8E0"/>
                </a:solidFill>
                <a:latin typeface="Calibri"/>
              </a:defRPr>
            </a:pPr>
            <a:r>
              <a:t>ACP Agents</a:t>
            </a:r>
          </a:p>
          <a:p>
            <a:pPr algn="ctr">
              <a:spcAft>
                <a:spcPts val="300"/>
              </a:spcAft>
              <a:defRPr sz="1300" b="1">
                <a:solidFill>
                  <a:srgbClr val="36A8E0"/>
                </a:solidFill>
                <a:latin typeface="Calibri"/>
              </a:defRPr>
            </a:pPr>
            <a:r>
              <a:t>&amp; Applications</a:t>
            </a:r>
          </a:p>
          <a:p>
            <a:pPr algn="ctr">
              <a:spcAft>
                <a:spcPts val="300"/>
              </a:spcAft>
              <a:defRPr sz="60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OpenAI-compatible</a:t>
            </a:r>
          </a:p>
          <a:p>
            <a:pPr algn="ctr">
              <a:spcAft>
                <a:spcPts val="300"/>
              </a:spcAft>
              <a:defRPr sz="1000" b="0">
                <a:solidFill>
                  <a:srgbClr val="C4C8D8"/>
                </a:solidFill>
                <a:latin typeface="Calibri"/>
              </a:defRPr>
            </a:pPr>
            <a:r>
              <a:t>inference via Gateway</a:t>
            </a:r>
          </a:p>
        </p:txBody>
      </p:sp>
      <p:sp>
        <p:nvSpPr>
          <p:cNvPr id="31" name="Right Arrow 30">
            <a:extLst>
              <a:ext uri="{FF2B5EF4-FFF2-40B4-BE49-F238E27FC236}">
                <a16:creationId xmlns:a16="http://schemas.microsoft.com/office/drawing/2014/main" id="{B6655050-6431-2D0A-4386-C87FE92AC6FD}"/>
              </a:ext>
            </a:extLst>
          </p:cNvPr>
          <p:cNvSpPr/>
          <p:nvPr/>
        </p:nvSpPr>
        <p:spPr>
          <a:xfrm>
            <a:off x="2880000" y="2700000"/>
            <a:ext cx="420000" cy="300000"/>
          </a:xfrm>
          <a:prstGeom prst="rightArrow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ight Arrow 31">
            <a:extLst>
              <a:ext uri="{FF2B5EF4-FFF2-40B4-BE49-F238E27FC236}">
                <a16:creationId xmlns:a16="http://schemas.microsoft.com/office/drawing/2014/main" id="{65F1EDF5-E2B9-12AE-2D7A-935B084FC049}"/>
              </a:ext>
            </a:extLst>
          </p:cNvPr>
          <p:cNvSpPr/>
          <p:nvPr/>
        </p:nvSpPr>
        <p:spPr>
          <a:xfrm>
            <a:off x="6390000" y="2700000"/>
            <a:ext cx="420000" cy="300000"/>
          </a:xfrm>
          <a:prstGeom prst="rightArrow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781AB28F-B6FE-27E0-4690-BEF69910B1C6}"/>
              </a:ext>
            </a:extLst>
          </p:cNvPr>
          <p:cNvSpPr/>
          <p:nvPr/>
        </p:nvSpPr>
        <p:spPr>
          <a:xfrm>
            <a:off x="9900000" y="3670000"/>
            <a:ext cx="420000" cy="300000"/>
          </a:xfrm>
          <a:prstGeom prst="rightArrow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13B7A46-83CD-701B-4E1F-7C9BED867376}"/>
              </a:ext>
            </a:extLst>
          </p:cNvPr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2046AD2-0300-1536-84AC-996D44B07E93}"/>
              </a:ext>
            </a:extLst>
          </p:cNvPr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F2453A0-17B9-C356-EB6B-8BC45F885825}"/>
              </a:ext>
            </a:extLst>
          </p:cNvPr>
          <p:cNvSpPr txBox="1"/>
          <p:nvPr/>
        </p:nvSpPr>
        <p:spPr>
          <a:xfrm>
            <a:off x="3530000" y="4307959"/>
            <a:ext cx="2620000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B300"/>
                </a:solidFill>
                <a:latin typeface="Calibri"/>
              </a:defRPr>
            </a:pPr>
            <a:r>
              <a:rPr lang="en-CA" dirty="0"/>
              <a:t>Legal Review</a:t>
            </a:r>
            <a:endParaRPr dirty="0"/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rPr dirty="0"/>
              <a:t>Per-model review &amp;</a:t>
            </a:r>
          </a:p>
          <a:p>
            <a:pPr algn="ctr"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rPr dirty="0"/>
              <a:t>approval gate</a:t>
            </a:r>
          </a:p>
        </p:txBody>
      </p:sp>
    </p:spTree>
    <p:extLst>
      <p:ext uri="{BB962C8B-B14F-4D97-AF65-F5344CB8AC3E}">
        <p14:creationId xmlns:p14="http://schemas.microsoft.com/office/powerpoint/2010/main" val="1183081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ENABLEMENT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000"/>
            <a:ext cx="120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What We Need Enabled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0000" y="1560000"/>
            <a:ext cx="2820000" cy="32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000" y="1560000"/>
            <a:ext cx="2820000" cy="9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0000" y="1790000"/>
            <a:ext cx="2460000" cy="560000"/>
          </a:xfrm>
          <a:prstGeom prst="roundRect">
            <a:avLst>
              <a:gd name="adj" fmla="val 6000"/>
            </a:avLst>
          </a:prstGeom>
          <a:solidFill>
            <a:srgbClr val="35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250" b="1">
                <a:solidFill>
                  <a:srgbClr val="F16B6B"/>
                </a:solidFill>
                <a:latin typeface="Calibri"/>
              </a:defRPr>
            </a:pPr>
            <a:r>
              <a:t>1 · Netskope Unblock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000" y="2510000"/>
            <a:ext cx="242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Allow huggingface.co egress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scoped to Artifactory servers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only — not the broad estate.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This is the primary item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requiring ISRA support.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0000" y="1560000"/>
            <a:ext cx="2820000" cy="32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560000" y="1560000"/>
            <a:ext cx="2820000" cy="90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3740000" y="1790000"/>
            <a:ext cx="2460000" cy="56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250" b="1">
                <a:solidFill>
                  <a:srgbClr val="36A8E0"/>
                </a:solidFill>
                <a:latin typeface="Calibri"/>
              </a:defRPr>
            </a:pPr>
            <a:r>
              <a:t>2 · Artifactory Repo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0000" y="2510000"/>
            <a:ext cx="242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Configure HF / ML remote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(pull-through) repository.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v7.104.15 supports the new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ML repo layout — confirm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licensing covers ML repos.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0000" y="1560000"/>
            <a:ext cx="2820000" cy="32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60000" y="1560000"/>
            <a:ext cx="2820000" cy="9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740000" y="1790000"/>
            <a:ext cx="2460000" cy="560000"/>
          </a:xfrm>
          <a:prstGeom prst="roundRect">
            <a:avLst>
              <a:gd name="adj" fmla="val 6000"/>
            </a:avLst>
          </a:prstGeom>
          <a:solidFill>
            <a:srgbClr val="352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250" b="1">
                <a:solidFill>
                  <a:srgbClr val="FFB300"/>
                </a:solidFill>
                <a:latin typeface="Calibri"/>
              </a:defRPr>
            </a:pPr>
            <a:r>
              <a:t>3 · GenAI Risk 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80000" y="2510000"/>
            <a:ext cx="242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Per-model triage workflow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before publish. Tie into the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existing ACP security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assessment if possible, else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 lightweight per-model gate.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60000" y="1560000"/>
            <a:ext cx="2820000" cy="32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560000" y="1560000"/>
            <a:ext cx="2820000" cy="90000"/>
          </a:xfrm>
          <a:prstGeom prst="rect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740000" y="1790000"/>
            <a:ext cx="2460000" cy="560000"/>
          </a:xfrm>
          <a:prstGeom prst="roundRect">
            <a:avLst>
              <a:gd name="adj" fmla="val 6000"/>
            </a:avLst>
          </a:prstGeom>
          <a:solidFill>
            <a:srgbClr val="1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20000" bIns="20000" rtlCol="0" anchor="ctr"/>
          <a:lstStyle/>
          <a:p>
            <a:pPr algn="ctr">
              <a:defRPr sz="1250" b="1">
                <a:solidFill>
                  <a:srgbClr val="5CD69A"/>
                </a:solidFill>
                <a:latin typeface="Calibri"/>
              </a:defRPr>
            </a:pPr>
            <a:r>
              <a:t>4 · EKS Self-Hosting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0000" y="2510000"/>
            <a:ext cx="2420000" cy="2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Model-serving workloads in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acp-data namespace pulling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weights from Artifactory.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Gateway + registry already</a:t>
            </a:r>
          </a:p>
          <a:p>
            <a:pPr algn="l">
              <a:lnSpc>
                <a:spcPct val="11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deployed in the cluster.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0000" y="5100000"/>
            <a:ext cx="12200000" cy="1450000"/>
          </a:xfrm>
          <a:prstGeom prst="roundRect">
            <a:avLst>
              <a:gd name="adj" fmla="val 6000"/>
            </a:avLst>
          </a:prstGeom>
          <a:solidFill>
            <a:srgbClr val="20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60000" y="5230000"/>
            <a:ext cx="1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B300"/>
                </a:solidFill>
                <a:latin typeface="Calibri"/>
              </a:defRPr>
            </a:pPr>
            <a:r>
              <a:t>Key dependencies &amp; sequencing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0000" y="5650000"/>
            <a:ext cx="11800000" cy="8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  <a:defRPr sz="1250" b="1">
                <a:solidFill>
                  <a:srgbClr val="FFFFFF"/>
                </a:solidFill>
                <a:latin typeface="Calibri"/>
              </a:defRPr>
            </a:pPr>
            <a:r>
              <a:t>ISRA approval  →  Netskope unblock (Artifactory-scoped)  →  Artifactory HF/ML repo config  →  per-model triage  →  EKS serving go-live</a:t>
            </a:r>
          </a:p>
          <a:p>
            <a:pPr algn="l">
              <a:lnSpc>
                <a:spcPct val="110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Artifactory acts as the single controlled chokepoint: nothing reaches EKS that has not been mirrored and approved.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000"/>
            <a:ext cx="120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Security Controls &amp; Per-Model Approval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60000" y="1560000"/>
            <a:ext cx="2180000" cy="1700000"/>
          </a:xfrm>
          <a:prstGeom prst="roundRect">
            <a:avLst>
              <a:gd name="adj" fmla="val 6000"/>
            </a:avLst>
          </a:prstGeom>
          <a:solidFill>
            <a:srgbClr val="2A1E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60000" y="1560000"/>
            <a:ext cx="2180000" cy="80000"/>
          </a:xfrm>
          <a:prstGeom prst="rect">
            <a:avLst/>
          </a:prstGeom>
          <a:solidFill>
            <a:srgbClr val="B38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0000" y="1780000"/>
            <a:ext cx="19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B38AE8"/>
                </a:solidFill>
                <a:latin typeface="Calibri"/>
              </a:defRPr>
            </a:pPr>
            <a:r>
              <a:t>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0000" y="2320000"/>
            <a:ext cx="194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Team requests a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specific HF model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60000" y="2260000"/>
            <a:ext cx="240000" cy="300000"/>
          </a:xfrm>
          <a:prstGeom prst="rightArrow">
            <a:avLst/>
          </a:prstGeom>
          <a:solidFill>
            <a:srgbClr val="8A9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3020000" y="1560000"/>
            <a:ext cx="2180000" cy="1700000"/>
          </a:xfrm>
          <a:prstGeom prst="roundRect">
            <a:avLst>
              <a:gd name="adj" fmla="val 6000"/>
            </a:avLst>
          </a:prstGeom>
          <a:solidFill>
            <a:srgbClr val="352C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020000" y="1560000"/>
            <a:ext cx="2180000" cy="8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140000" y="1780000"/>
            <a:ext cx="19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FFB300"/>
                </a:solidFill>
                <a:latin typeface="Calibri"/>
              </a:defRPr>
            </a:pPr>
            <a:r>
              <a:t>GenAI Risk Triage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40000" y="2320000"/>
            <a:ext cx="194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License, provenance,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safety, data-flow review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220000" y="2260000"/>
            <a:ext cx="240000" cy="300000"/>
          </a:xfrm>
          <a:prstGeom prst="rightArrow">
            <a:avLst/>
          </a:prstGeom>
          <a:solidFill>
            <a:srgbClr val="8A9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0000" y="1560000"/>
            <a:ext cx="2180000" cy="170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480000" y="1560000"/>
            <a:ext cx="2180000" cy="80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00000" y="1780000"/>
            <a:ext cx="19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36A8E0"/>
                </a:solidFill>
                <a:latin typeface="Calibri"/>
              </a:defRPr>
            </a:pPr>
            <a:r>
              <a:t>Mirror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00000" y="2320000"/>
            <a:ext cx="194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Artifactory pulls &amp;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caches the artifact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680000" y="2260000"/>
            <a:ext cx="240000" cy="300000"/>
          </a:xfrm>
          <a:prstGeom prst="rightArrow">
            <a:avLst/>
          </a:prstGeom>
          <a:solidFill>
            <a:srgbClr val="8A9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940000" y="1560000"/>
            <a:ext cx="2180000" cy="1700000"/>
          </a:xfrm>
          <a:prstGeom prst="roundRect">
            <a:avLst>
              <a:gd name="adj" fmla="val 6000"/>
            </a:avLst>
          </a:prstGeom>
          <a:solidFill>
            <a:srgbClr val="1832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7940000" y="1560000"/>
            <a:ext cx="2180000" cy="80000"/>
          </a:xfrm>
          <a:prstGeom prst="rect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060000" y="1780000"/>
            <a:ext cx="19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5CD69A"/>
                </a:solidFill>
                <a:latin typeface="Calibri"/>
              </a:defRPr>
            </a:pPr>
            <a:r>
              <a:t>Registry Approval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0000" y="2320000"/>
            <a:ext cx="194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Publish to ACP registry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with model card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140000" y="2260000"/>
            <a:ext cx="240000" cy="300000"/>
          </a:xfrm>
          <a:prstGeom prst="rightArrow">
            <a:avLst/>
          </a:prstGeom>
          <a:solidFill>
            <a:srgbClr val="8A90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10400000" y="1560000"/>
            <a:ext cx="2180000" cy="1700000"/>
          </a:xfrm>
          <a:prstGeom prst="roundRect">
            <a:avLst>
              <a:gd name="adj" fmla="val 6000"/>
            </a:avLst>
          </a:prstGeom>
          <a:solidFill>
            <a:srgbClr val="1E2C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0400000" y="1560000"/>
            <a:ext cx="2180000" cy="80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20000" y="1780000"/>
            <a:ext cx="194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300"/>
              </a:spcAft>
              <a:defRPr sz="1300" b="1">
                <a:solidFill>
                  <a:srgbClr val="36A8E0"/>
                </a:solidFill>
                <a:latin typeface="Calibri"/>
              </a:defRPr>
            </a:pPr>
            <a:r>
              <a:t>Serve via Gateway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20000" y="2320000"/>
            <a:ext cx="1940000" cy="8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Policy, guardrails,</a:t>
            </a:r>
          </a:p>
          <a:p>
            <a:pPr algn="ctr">
              <a:lnSpc>
                <a:spcPct val="105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audit on every call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0000" y="3600000"/>
            <a:ext cx="2950000" cy="23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560000" y="3660000"/>
            <a:ext cx="55000" cy="223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30000" y="3690000"/>
            <a:ext cx="267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0000" y="4070000"/>
            <a:ext cx="26500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Egress scoped to Artifactory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hosts; EKS has no direct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internet path to HF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60000" y="3600000"/>
            <a:ext cx="2950000" cy="23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3660000" y="3660000"/>
            <a:ext cx="55000" cy="2230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830000" y="3690000"/>
            <a:ext cx="267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Supply Chain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30000" y="4070000"/>
            <a:ext cx="26500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Single vetted source; checksum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&amp; provenance retained; JFrog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Xray vulnerability scanning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60000" y="3600000"/>
            <a:ext cx="2950000" cy="23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6760000" y="3660000"/>
            <a:ext cx="55000" cy="2230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930000" y="3690000"/>
            <a:ext cx="267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Approval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30000" y="4070000"/>
            <a:ext cx="26500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No model is servable without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triage sign-off + registry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approval state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860000" y="3600000"/>
            <a:ext cx="2950000" cy="23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9860000" y="3660000"/>
            <a:ext cx="55000" cy="2230000"/>
          </a:xfrm>
          <a:prstGeom prst="rect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30000" y="3690000"/>
            <a:ext cx="267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Runtime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000" y="4070000"/>
            <a:ext cx="26500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Gateway policy, guardrails,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rate limits, full audit trail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00" b="0">
                <a:solidFill>
                  <a:srgbClr val="C4C8D8"/>
                </a:solidFill>
                <a:latin typeface="Calibri"/>
              </a:defRPr>
            </a:pPr>
            <a:r>
              <a:t>and observability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2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5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0000" y="360000"/>
            <a:ext cx="11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200" b="1">
                <a:solidFill>
                  <a:srgbClr val="FFB300"/>
                </a:solidFill>
                <a:latin typeface="Calibri"/>
              </a:defRPr>
            </a:pPr>
            <a:r>
              <a:t>RISKS &amp;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0000" y="640000"/>
            <a:ext cx="12000000" cy="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Risks, Open Questions &amp; Decision Needed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0000" y="1320000"/>
            <a:ext cx="1500000" cy="46000"/>
          </a:xfrm>
          <a:prstGeom prst="rect">
            <a:avLst/>
          </a:prstGeom>
          <a:solidFill>
            <a:srgbClr val="FFB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0000" y="1480000"/>
            <a:ext cx="61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500" b="1">
                <a:solidFill>
                  <a:srgbClr val="FFB300"/>
                </a:solidFill>
                <a:latin typeface="Calibri"/>
              </a:defRPr>
            </a:pPr>
            <a:r>
              <a:t>Key risks &amp; mitigations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0000" y="1900000"/>
            <a:ext cx="6100000" cy="82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60000" y="1970000"/>
            <a:ext cx="60000" cy="68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0000" y="1990000"/>
            <a:ext cx="5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Broad internet exposure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Scope Netskope unblock to Artifactory servers only; EKS never talks to HF directly.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0000" y="2800000"/>
            <a:ext cx="6100000" cy="82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60000" y="2870000"/>
            <a:ext cx="60000" cy="68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50000" y="2890000"/>
            <a:ext cx="5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Malicious / unvetted model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Mandatory per-model GenAI Risk Triage + Xray scan before registry publish.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0000" y="3700000"/>
            <a:ext cx="6100000" cy="82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60000" y="3770000"/>
            <a:ext cx="60000" cy="68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0000" y="3790000"/>
            <a:ext cx="5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Unsafe model weights / code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Prefer safetensors; no arbitrary pickle execution; isolated serving pods.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0000" y="4600000"/>
            <a:ext cx="6100000" cy="82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60000" y="4670000"/>
            <a:ext cx="60000" cy="68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50000" y="4690000"/>
            <a:ext cx="5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Artifactory ML licensing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Confirm v7.104.15 ML repo layout is covered by current JFrog license.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0000" y="5500000"/>
            <a:ext cx="6100000" cy="82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60000" y="5570000"/>
            <a:ext cx="60000" cy="680000"/>
          </a:xfrm>
          <a:prstGeom prst="rect">
            <a:avLst/>
          </a:prstGeom>
          <a:solidFill>
            <a:srgbClr val="F1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0000" y="5590000"/>
            <a:ext cx="58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 leakage at inference</a:t>
            </a:r>
          </a:p>
          <a:p>
            <a:pPr algn="l">
              <a:lnSpc>
                <a:spcPct val="100000"/>
              </a:lnSpc>
              <a:spcAft>
                <a:spcPts val="300"/>
              </a:spcAft>
              <a:defRPr sz="1050" b="0">
                <a:solidFill>
                  <a:srgbClr val="C4C8D8"/>
                </a:solidFill>
                <a:latin typeface="Calibri"/>
              </a:defRPr>
            </a:pPr>
            <a:r>
              <a:t>Self-hosted in VPC; gateway guardrails, logging, and DLP policy.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20000" y="1480000"/>
            <a:ext cx="5840000" cy="25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920000" y="1540000"/>
            <a:ext cx="55000" cy="2430000"/>
          </a:xfrm>
          <a:prstGeom prst="rect">
            <a:avLst/>
          </a:prstGeom>
          <a:solidFill>
            <a:srgbClr val="36A8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090000" y="1570000"/>
            <a:ext cx="5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Open Questions for InfoSec / DevOps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90000" y="1950000"/>
            <a:ext cx="5540000" cy="19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Can this ISRA tie into the existing ACP security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assessment, or is a separate one required?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Does the JFrog license cover the new ML repo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layout (HF layout deprecation)?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l">
              <a:lnSpc>
                <a:spcPct val="105000"/>
              </a:lnSpc>
              <a:spcAft>
                <a:spcPts val="300"/>
              </a:spcAft>
              <a:defRPr sz="1150" b="0">
                <a:solidFill>
                  <a:srgbClr val="C4C8D8"/>
                </a:solidFill>
                <a:latin typeface="Calibri"/>
              </a:defRPr>
            </a:pPr>
            <a:r>
              <a:t>Is per-model triage acceptable as the publish gate?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20000" y="4180000"/>
            <a:ext cx="5840000" cy="2350000"/>
          </a:xfrm>
          <a:prstGeom prst="roundRect">
            <a:avLst>
              <a:gd name="adj" fmla="val 6000"/>
            </a:avLst>
          </a:prstGeom>
          <a:solidFill>
            <a:srgbClr val="1A1D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920000" y="4240000"/>
            <a:ext cx="55000" cy="2230000"/>
          </a:xfrm>
          <a:prstGeom prst="rect">
            <a:avLst/>
          </a:prstGeom>
          <a:solidFill>
            <a:srgbClr val="5CD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090000" y="4270000"/>
            <a:ext cx="55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The 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90000" y="4650000"/>
            <a:ext cx="5540000" cy="179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Approve ISRA to allow huggingface.co egress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scoped to Artifactory servers only.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Confirm GenAI Risk Triage as the per-model gate.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Confirm Artifactory ML repo licensing.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endParaRPr/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Result: a governed, auditable pipeline for</a:t>
            </a:r>
          </a:p>
          <a:p>
            <a:pPr algn="l">
              <a:lnSpc>
                <a:spcPct val="105000"/>
              </a:lnSpc>
              <a:spcAft>
                <a:spcPts val="300"/>
              </a:spcAft>
              <a:defRPr sz="1200" b="0">
                <a:solidFill>
                  <a:srgbClr val="C4C8D8"/>
                </a:solidFill>
                <a:latin typeface="Calibri"/>
              </a:defRPr>
            </a:pPr>
            <a:r>
              <a:t>self-hosted approved models in ACP.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0000" y="7050000"/>
            <a:ext cx="80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Agentic Control Plane  ·  Hugging Face Mirror ISRA  · 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00000" y="7050000"/>
            <a:ext cx="900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300"/>
              </a:spcAft>
              <a:defRPr sz="900" b="0">
                <a:solidFill>
                  <a:srgbClr val="8A90A8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6646</TotalTime>
  <Words>969</Words>
  <Application>Microsoft Macintosh PowerPoint</Application>
  <PresentationFormat>Widescreen</PresentationFormat>
  <Paragraphs>192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Seth Chalmers</cp:lastModifiedBy>
  <cp:revision>4</cp:revision>
  <dcterms:created xsi:type="dcterms:W3CDTF">2013-01-27T09:14:16Z</dcterms:created>
  <dcterms:modified xsi:type="dcterms:W3CDTF">2026-06-11T17:56:14Z</dcterms:modified>
  <cp:category/>
</cp:coreProperties>
</file>